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5ba177f-d7fc-1d83-5ce2-ce5368495fcf}">
          <p14:sldIdLst>
            <p14:sldId id="256"/>
            <p14:sldId id="257"/>
            <p14:sldId id="258"/>
          </p14:sldIdLst>
        </p14:section>
        <p14:section name="Phase 1 · Laptop" id="{b2420b9d-dd8d-9908-56f7-1d20e94c392c}">
          <p14:sldIdLst>
            <p14:sldId id="259"/>
            <p14:sldId id="260"/>
          </p14:sldIdLst>
        </p14:section>
        <p14:section name="Phase 2 · AWS account" id="{f92c1c42-ae49-6d6a-0b09-88fcb2b5cb1e}">
          <p14:sldIdLst>
            <p14:sldId id="261"/>
            <p14:sldId id="262"/>
            <p14:sldId id="263"/>
            <p14:sldId id="264"/>
          </p14:sldIdLst>
        </p14:section>
        <p14:section name="Phase 3 · Deploy" id="{8a742411-1e4a-052e-4a18-8c4549ee4042}">
          <p14:sldIdLst>
            <p14:sldId id="265"/>
            <p14:sldId id="266"/>
            <p14:sldId id="267"/>
            <p14:sldId id="268"/>
          </p14:sldIdLst>
        </p14:section>
        <p14:section name="Phase 4 · Go live" id="{17d49e67-e3f3-be53-aecc-dfd88dce50fe}">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walk an engineer through a first deployment of the AWS Context Ontology Accelerator (COA) into a single AWS account, region us-east-1, dev environment, with the default Cognito identity provider, deployed from an engineer's Linux laptop. Everything here is taken from the repo docs (README, AWS-SERVICES.md, external-docs/content/deploying.md, authentication-setup.md, sources.md).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 -&gt; Model -&gt; Serve is the product's own framing (README). Access is namespace-isolated with roles owner / maintainer / data-steward / data-analyst plus platform-admin / platform-viewer. Full service inventory: AWS-SERVICES.md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agenda. Phase 2 (AWS account prep) is where most first-deploy failures come from: missing Bedrock model access, Fargate vCPU quota, and the SMUS admin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Versions from deploying.md Prerequisites. Maven is not listed in the docs' prerequisite table, but make deploy-dev runs the Databricks connector deploy, whose CDK package step calls `mvn package` - so it's needed on the laptop. make deploy-dev re-checks Node/Java/pnpm/Docker versions in preflight.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deploying.md &gt; 'ARM64 container builds on x86_64 hosts'. Docker Desktop usually ships multi-platform emulation; plain Docker Engine on Linux usually does not. If a remote/custom buildx builder is selected, registration on the local engine does not carry over - check with `docker buildx 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selection per deploying.md: export AWS_DEFAULT_REGION (CLI + preflight) and CDK_DEFAULT_REGION (bin/app.ts AZ resolution). us-east-1 is also always involved for the CloudFront WAF and UI certificate. Use one SCL_PREFIX per region - S3 buckets and IAM roles are global and would collide.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AWS-SERVICES.md section 6 and deploying.md Appendix A.3. Only the VPC and Lambda quotas are checked by scripts/preflight-deploy.sh. Lambda increases open a Support case and are not instant - on a reduced-quota account use SCL_LAMBDA_RESERVED_CONCURRENCY=0. Raise the Fargate vCPU quota early: it's the one most likely to bite after deploy, when namespaces start running VKG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list from AWS-SERVICES.md section 3 and deploying.md 'Bedrock model availability'. Default IDs: bedrockLlmModelId and bedrockInductionLlmModelId = us.anthropic.claude-sonnet-5; bedrockChatModelId = us.anthropic.claude-haiku-4-5-20251001-v1:0; bedrockEmbedModelId = us.cohere.embed-v4:0 with bedrockEmbedDimensions 1024 (baked into the OpenSearch index at creation). Also check no SCP blocks Bedrock or AgentCore in the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deploying.md Configuration Options and Troubleshooting. Comma-separate multiple ARNs. If someone ran cdk deploy by hand and hit 'Invalid principal in policy', the rollback can leave an orphaned DataZone domain that causes a 409 'Domain name already exists' on retry - fix: aws datazone delete-domain --identifier &lt;id&gt; --skip-deletion-check, delete the ROLLBACK_COMPLETE stack, redeploy.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setup runs scripts/smithy-generate.sh (make generate) and scripts/setup-dev.sh. make deploy-dev re-runs codegen automatically if smithy-generated/ is missing or stale, so you only rerun make generate when you edit .smithy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bin/app.ts reads /&lt;prefix&gt;/config with GetParameter WithDecryption, so String or SecureString both work. The same JSON can carry bedrock*ModelId overrides and, for OIDC mode, idpType + oidcSettings. Bootstrap: deploying.md 'Bootstrap CDK'; in us-east-1 a single bootstrap is enough (other regions need us-east-1 too, for the edge WAF stack). Preflight checks bootstrap and fails fast if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deploy-dev = ./scripts/deploy.sh dev followed by make deploy-databricks-connector (Makefile). Neptune, OpenSearch Serverless, AgentCore Runtime and cross-stack SSM waits dominate the 1.5 h. CDK resolves stack order itself. Re-running make deploy-dev after git pull does incremental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list from deploying.md 'Stacks Deployed'. Names follow {prefix}-{env}-{name}. coa-dev-storage holds the main idle cost (Neptune + OpenSearch Serverless). coa-dev-auth and coa-dev-web outputs are needed for sign-in; coa-dev-mcp outputs give the AgentCore MCP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authentication-setup.md Option A. The auth stack creates the user pool, hosted UI domain, a web client (PKCE), an MCP/CLI client (localhost:9876 redirect), the Admin group and the initial admin user. Only Admin is pre-wired to a role; any other Cognito group needs an explicit grant (role-permission-management.md). User pool ID is also in SSM at /&lt;prefix&gt;/userpool-id.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namespaces.md, sources.md, ontologies.md. A Glue source must already be queryable in Athena at onboard time. JDBC credentials live in Secrets Manager (username/password) and the secret is tagged with the allowed namespace(s). Supported JDBC engines include PostgreSQL, Redshift, MySQL and Snowflake. Ontologies can also be uploaded (TTL, RDF/XML, OWL/XML, JSON-LD) instead of induced.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Databricks: deploying.md 'The Databricks SQL Warehouse connector' - platform first, then connector; the role ARN is also stored at /&lt;prefix&gt;/&lt;env&gt;/connectors/databricks/deployment/role-arn. MCP: agent-access.md - Streamable HTTP on AgentCore, user token via OIDC 3LO + PKCE. Monitoring: alarm-action strategy in infra/bin/app.ts is undefined, so alarms change state without notifying anyone. For a prod-grade env (env=prod) a UI custom domain + ACM certs become mandatory.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76656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886200"/>
            <a:ext cx="6583680" cy="82296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640080" y="5760720"/>
            <a:ext cx="6583680" cy="457200"/>
          </a:xfrm>
          <a:prstGeom prst="rect">
            <a:avLst/>
          </a:prstGeom>
          <a:noFill/>
          <a:ln/>
        </p:spPr>
        <p:txBody>
          <a:bodyPr wrap="square" rtlCol="0"/>
          <a:lstStyle>
            <a:lvl1pPr indent="0" marL="0">
              <a:buNone/>
              <a:defRPr lang="en-US" sz="1200" dirty="0">
                <a:solidFill>
                  <a:schemeClr val="accent3"/>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Context Ontology Accelerator  ·  AWS setup guide</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ep">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417320" y="347472"/>
            <a:ext cx="822960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1417320" y="640080"/>
            <a:ext cx="10222992"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Context Ontology Accelerator  ·  AWS setup guide</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Context Ontology Accelerator  ·  AWS setup guide</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766560" cy="1828800"/>
          </a:xfrm>
          <a:prstGeom prst="rect">
            <a:avLst/>
          </a:prstGeom>
          <a:noFill/>
          <a:ln/>
        </p:spPr>
        <p:txBody>
          <a:bodyPr wrap="square" lIns="0" tIns="0" rIns="0" bIns="0" rtlCol="0" anchor="b"/>
          <a:lstStyle/>
          <a:p>
            <a:pPr algn="l" indent="0" marL="0">
              <a:buNone/>
            </a:pPr>
            <a:r>
              <a:rPr lang="en-US" sz="4000" b="1" dirty="0">
                <a:solidFill>
                  <a:schemeClr val="bg1"/>
                </a:solidFill>
              </a:rPr>
              <a:t>Deploying the Context Ontology Accelerator on AWS</a:t>
            </a:r>
            <a:endParaRPr lang="en-US" sz="4000" dirty="0"/>
          </a:p>
        </p:txBody>
      </p:sp>
      <p:sp>
        <p:nvSpPr>
          <p:cNvPr id="3" name="Text 0"/>
          <p:cNvSpPr/>
          <p:nvPr>
            <p:ph idx="101" type="body" hasCustomPrompt="1"/>
          </p:nvPr>
        </p:nvSpPr>
        <p:spPr>
          <a:xfrm>
            <a:off x="640080" y="3886200"/>
            <a:ext cx="6583680" cy="822960"/>
          </a:xfrm>
          <a:prstGeom prst="rect">
            <a:avLst/>
          </a:prstGeom>
          <a:noFill/>
          <a:ln/>
        </p:spPr>
        <p:txBody>
          <a:bodyPr wrap="square" lIns="0" tIns="0" rIns="0" bIns="0" rtlCol="0" anchor="t"/>
          <a:lstStyle/>
          <a:p>
            <a:pPr indent="0" marL="0">
              <a:buNone/>
            </a:pPr>
            <a:r>
              <a:rPr lang="en-US" sz="1800" dirty="0">
                <a:solidFill>
                  <a:schemeClr val="accent1"/>
                </a:solidFill>
              </a:rPr>
              <a:t>Step-by-step setup guide  ·  us-east-1  ·  dev  ·  Cognito sign-in</a:t>
            </a:r>
            <a:endParaRPr lang="en-US" sz="1800" dirty="0"/>
          </a:p>
        </p:txBody>
      </p:sp>
      <p:sp>
        <p:nvSpPr>
          <p:cNvPr id="4" name="Text 0"/>
          <p:cNvSpPr/>
          <p:nvPr>
            <p:ph idx="102" type="body" hasCustomPrompt="1"/>
          </p:nvPr>
        </p:nvSpPr>
        <p:spPr>
          <a:xfrm>
            <a:off x="640080" y="5760720"/>
            <a:ext cx="6583680" cy="457200"/>
          </a:xfrm>
          <a:prstGeom prst="rect">
            <a:avLst/>
          </a:prstGeom>
          <a:noFill/>
          <a:ln/>
        </p:spPr>
        <p:txBody>
          <a:bodyPr wrap="square" lIns="0" tIns="0" rIns="0" bIns="0" rtlCol="0" anchor="t"/>
          <a:lstStyle/>
          <a:p>
            <a:pPr indent="0" marL="0">
              <a:buNone/>
            </a:pPr>
            <a:r>
              <a:rPr lang="en-US" sz="1200" dirty="0">
                <a:solidFill>
                  <a:schemeClr val="accent3"/>
                </a:solidFill>
              </a:rPr>
              <a:t>Repo version 0.3.4  ·  Mactores  ·  October 2026</a:t>
            </a:r>
            <a:endParaRPr lang="en-US" sz="1200" dirty="0"/>
          </a:p>
        </p:txBody>
      </p:sp>
      <p:sp>
        <p:nvSpPr>
          <p:cNvPr id="5" name="edge-1"/>
          <p:cNvSpPr/>
          <p:nvPr/>
        </p:nvSpPr>
        <p:spPr>
          <a:xfrm flipH="1">
            <a:off x="9646920" y="1508760"/>
            <a:ext cx="91440" cy="2103120"/>
          </a:xfrm>
          <a:prstGeom prst="line">
            <a:avLst/>
          </a:prstGeom>
          <a:noFill/>
          <a:ln w="15875">
            <a:solidFill>
              <a:schemeClr val="accent3"/>
            </a:solidFill>
            <a:prstDash val="solid"/>
          </a:ln>
        </p:spPr>
      </p:sp>
      <p:sp>
        <p:nvSpPr>
          <p:cNvPr id="6" name="edge-2"/>
          <p:cNvSpPr/>
          <p:nvPr/>
        </p:nvSpPr>
        <p:spPr>
          <a:xfrm>
            <a:off x="8311896" y="2551176"/>
            <a:ext cx="1335024" cy="1060704"/>
          </a:xfrm>
          <a:prstGeom prst="line">
            <a:avLst/>
          </a:prstGeom>
          <a:noFill/>
          <a:ln w="15875">
            <a:solidFill>
              <a:schemeClr val="accent3"/>
            </a:solidFill>
            <a:prstDash val="solid"/>
          </a:ln>
        </p:spPr>
      </p:sp>
      <p:sp>
        <p:nvSpPr>
          <p:cNvPr id="7" name="edge-3"/>
          <p:cNvSpPr/>
          <p:nvPr/>
        </p:nvSpPr>
        <p:spPr>
          <a:xfrm flipH="1">
            <a:off x="9646920" y="2660904"/>
            <a:ext cx="1426464" cy="950976"/>
          </a:xfrm>
          <a:prstGeom prst="line">
            <a:avLst/>
          </a:prstGeom>
          <a:noFill/>
          <a:ln w="15875">
            <a:solidFill>
              <a:schemeClr val="accent3"/>
            </a:solidFill>
            <a:prstDash val="solid"/>
          </a:ln>
        </p:spPr>
      </p:sp>
      <p:sp>
        <p:nvSpPr>
          <p:cNvPr id="8" name="edge-4"/>
          <p:cNvSpPr/>
          <p:nvPr/>
        </p:nvSpPr>
        <p:spPr>
          <a:xfrm flipH="1">
            <a:off x="8238744" y="3611880"/>
            <a:ext cx="1408176" cy="1060704"/>
          </a:xfrm>
          <a:prstGeom prst="line">
            <a:avLst/>
          </a:prstGeom>
          <a:noFill/>
          <a:ln w="15875">
            <a:solidFill>
              <a:schemeClr val="accent3"/>
            </a:solidFill>
            <a:prstDash val="solid"/>
          </a:ln>
        </p:spPr>
      </p:sp>
      <p:sp>
        <p:nvSpPr>
          <p:cNvPr id="9" name="edge-5"/>
          <p:cNvSpPr/>
          <p:nvPr/>
        </p:nvSpPr>
        <p:spPr>
          <a:xfrm>
            <a:off x="9646920" y="3611880"/>
            <a:ext cx="1188720" cy="1005840"/>
          </a:xfrm>
          <a:prstGeom prst="line">
            <a:avLst/>
          </a:prstGeom>
          <a:noFill/>
          <a:ln w="15875">
            <a:solidFill>
              <a:schemeClr val="accent3"/>
            </a:solidFill>
            <a:prstDash val="solid"/>
          </a:ln>
        </p:spPr>
      </p:sp>
      <p:sp>
        <p:nvSpPr>
          <p:cNvPr id="10" name="edge-6"/>
          <p:cNvSpPr/>
          <p:nvPr/>
        </p:nvSpPr>
        <p:spPr>
          <a:xfrm flipH="1">
            <a:off x="9582912" y="4617720"/>
            <a:ext cx="1252728" cy="941832"/>
          </a:xfrm>
          <a:prstGeom prst="line">
            <a:avLst/>
          </a:prstGeom>
          <a:noFill/>
          <a:ln w="15875">
            <a:solidFill>
              <a:schemeClr val="accent3"/>
            </a:solidFill>
            <a:prstDash val="solid"/>
          </a:ln>
        </p:spPr>
      </p:sp>
      <p:sp>
        <p:nvSpPr>
          <p:cNvPr id="11" name="edge-7"/>
          <p:cNvSpPr/>
          <p:nvPr/>
        </p:nvSpPr>
        <p:spPr>
          <a:xfrm>
            <a:off x="8238744" y="4672584"/>
            <a:ext cx="1344168" cy="886968"/>
          </a:xfrm>
          <a:prstGeom prst="line">
            <a:avLst/>
          </a:prstGeom>
          <a:noFill/>
          <a:ln w="15875">
            <a:solidFill>
              <a:schemeClr val="accent3"/>
            </a:solidFill>
            <a:prstDash val="solid"/>
          </a:ln>
        </p:spPr>
      </p:sp>
      <p:sp>
        <p:nvSpPr>
          <p:cNvPr id="12" name="edge-8"/>
          <p:cNvSpPr/>
          <p:nvPr/>
        </p:nvSpPr>
        <p:spPr>
          <a:xfrm>
            <a:off x="9738360" y="1508760"/>
            <a:ext cx="1335024" cy="1152144"/>
          </a:xfrm>
          <a:prstGeom prst="line">
            <a:avLst/>
          </a:prstGeom>
          <a:noFill/>
          <a:ln w="15875">
            <a:solidFill>
              <a:schemeClr val="accent3"/>
            </a:solidFill>
            <a:prstDash val="solid"/>
          </a:ln>
        </p:spPr>
      </p:sp>
      <p:sp>
        <p:nvSpPr>
          <p:cNvPr id="13" name="edge-9"/>
          <p:cNvSpPr/>
          <p:nvPr/>
        </p:nvSpPr>
        <p:spPr>
          <a:xfrm>
            <a:off x="11073384" y="2660904"/>
            <a:ext cx="402336" cy="1042416"/>
          </a:xfrm>
          <a:prstGeom prst="line">
            <a:avLst/>
          </a:prstGeom>
          <a:noFill/>
          <a:ln w="15875">
            <a:solidFill>
              <a:schemeClr val="accent3"/>
            </a:solidFill>
            <a:prstDash val="solid"/>
          </a:ln>
        </p:spPr>
      </p:sp>
      <p:sp>
        <p:nvSpPr>
          <p:cNvPr id="14" name="edge-10"/>
          <p:cNvSpPr/>
          <p:nvPr/>
        </p:nvSpPr>
        <p:spPr>
          <a:xfrm flipH="1">
            <a:off x="10835640" y="3703320"/>
            <a:ext cx="640080" cy="914400"/>
          </a:xfrm>
          <a:prstGeom prst="line">
            <a:avLst/>
          </a:prstGeom>
          <a:noFill/>
          <a:ln w="15875">
            <a:solidFill>
              <a:schemeClr val="accent3"/>
            </a:solidFill>
            <a:prstDash val="solid"/>
          </a:ln>
        </p:spPr>
      </p:sp>
      <p:sp>
        <p:nvSpPr>
          <p:cNvPr id="15" name="edge-11"/>
          <p:cNvSpPr/>
          <p:nvPr/>
        </p:nvSpPr>
        <p:spPr>
          <a:xfrm flipH="1">
            <a:off x="8311896" y="1508760"/>
            <a:ext cx="1426464" cy="1042416"/>
          </a:xfrm>
          <a:prstGeom prst="line">
            <a:avLst/>
          </a:prstGeom>
          <a:noFill/>
          <a:ln w="15875">
            <a:solidFill>
              <a:schemeClr val="accent3"/>
            </a:solidFill>
            <a:prstDash val="solid"/>
          </a:ln>
        </p:spPr>
      </p:sp>
      <p:sp>
        <p:nvSpPr>
          <p:cNvPr id="16" name="node-12"/>
          <p:cNvSpPr/>
          <p:nvPr/>
        </p:nvSpPr>
        <p:spPr>
          <a:xfrm>
            <a:off x="9509760" y="1280160"/>
            <a:ext cx="457200" cy="457200"/>
          </a:xfrm>
          <a:prstGeom prst="ellipse">
            <a:avLst/>
          </a:prstGeom>
          <a:solidFill>
            <a:schemeClr val="accent1"/>
          </a:solidFill>
          <a:ln w="38100">
            <a:solidFill>
              <a:schemeClr val="tx1"/>
            </a:solidFill>
            <a:prstDash val="solid"/>
          </a:ln>
        </p:spPr>
      </p:sp>
      <p:sp>
        <p:nvSpPr>
          <p:cNvPr id="17" name="node-13"/>
          <p:cNvSpPr/>
          <p:nvPr/>
        </p:nvSpPr>
        <p:spPr>
          <a:xfrm>
            <a:off x="8138160" y="2377440"/>
            <a:ext cx="347472" cy="347472"/>
          </a:xfrm>
          <a:prstGeom prst="ellipse">
            <a:avLst/>
          </a:prstGeom>
          <a:solidFill>
            <a:schemeClr val="accent2"/>
          </a:solidFill>
          <a:ln w="38100">
            <a:solidFill>
              <a:schemeClr val="tx1"/>
            </a:solidFill>
            <a:prstDash val="solid"/>
          </a:ln>
        </p:spPr>
      </p:sp>
      <p:sp>
        <p:nvSpPr>
          <p:cNvPr id="18" name="node-14"/>
          <p:cNvSpPr/>
          <p:nvPr/>
        </p:nvSpPr>
        <p:spPr>
          <a:xfrm>
            <a:off x="10881360" y="2468880"/>
            <a:ext cx="384048" cy="384048"/>
          </a:xfrm>
          <a:prstGeom prst="ellipse">
            <a:avLst/>
          </a:prstGeom>
          <a:solidFill>
            <a:schemeClr val="accent2"/>
          </a:solidFill>
          <a:ln w="38100">
            <a:solidFill>
              <a:schemeClr val="tx1"/>
            </a:solidFill>
            <a:prstDash val="solid"/>
          </a:ln>
        </p:spPr>
      </p:sp>
      <p:sp>
        <p:nvSpPr>
          <p:cNvPr id="19" name="node-15"/>
          <p:cNvSpPr/>
          <p:nvPr/>
        </p:nvSpPr>
        <p:spPr>
          <a:xfrm>
            <a:off x="9326880" y="3291840"/>
            <a:ext cx="640080" cy="640080"/>
          </a:xfrm>
          <a:prstGeom prst="ellipse">
            <a:avLst/>
          </a:prstGeom>
          <a:solidFill>
            <a:schemeClr val="accent1"/>
          </a:solidFill>
          <a:ln w="38100">
            <a:solidFill>
              <a:schemeClr val="tx1"/>
            </a:solidFill>
            <a:prstDash val="solid"/>
          </a:ln>
        </p:spPr>
      </p:sp>
      <p:sp>
        <p:nvSpPr>
          <p:cNvPr id="20" name="node-16"/>
          <p:cNvSpPr/>
          <p:nvPr/>
        </p:nvSpPr>
        <p:spPr>
          <a:xfrm>
            <a:off x="8046720" y="4480560"/>
            <a:ext cx="384048" cy="384048"/>
          </a:xfrm>
          <a:prstGeom prst="ellipse">
            <a:avLst/>
          </a:prstGeom>
          <a:solidFill>
            <a:schemeClr val="accent3"/>
          </a:solidFill>
          <a:ln w="38100">
            <a:solidFill>
              <a:schemeClr val="tx1"/>
            </a:solidFill>
            <a:prstDash val="solid"/>
          </a:ln>
        </p:spPr>
      </p:sp>
      <p:sp>
        <p:nvSpPr>
          <p:cNvPr id="21" name="node-17"/>
          <p:cNvSpPr/>
          <p:nvPr/>
        </p:nvSpPr>
        <p:spPr>
          <a:xfrm>
            <a:off x="10607040" y="4389120"/>
            <a:ext cx="457200" cy="457200"/>
          </a:xfrm>
          <a:prstGeom prst="ellipse">
            <a:avLst/>
          </a:prstGeom>
          <a:solidFill>
            <a:schemeClr val="accent2"/>
          </a:solidFill>
          <a:ln w="38100">
            <a:solidFill>
              <a:schemeClr val="tx1"/>
            </a:solidFill>
            <a:prstDash val="solid"/>
          </a:ln>
        </p:spPr>
      </p:sp>
      <p:sp>
        <p:nvSpPr>
          <p:cNvPr id="22" name="node-18"/>
          <p:cNvSpPr/>
          <p:nvPr/>
        </p:nvSpPr>
        <p:spPr>
          <a:xfrm>
            <a:off x="9418320" y="5394960"/>
            <a:ext cx="329184" cy="329184"/>
          </a:xfrm>
          <a:prstGeom prst="ellipse">
            <a:avLst/>
          </a:prstGeom>
          <a:solidFill>
            <a:schemeClr val="accent3"/>
          </a:solidFill>
          <a:ln w="38100">
            <a:solidFill>
              <a:schemeClr val="tx1"/>
            </a:solidFill>
            <a:prstDash val="solid"/>
          </a:ln>
        </p:spPr>
      </p:sp>
      <p:sp>
        <p:nvSpPr>
          <p:cNvPr id="23" name="node-19"/>
          <p:cNvSpPr/>
          <p:nvPr/>
        </p:nvSpPr>
        <p:spPr>
          <a:xfrm>
            <a:off x="11338560" y="3566160"/>
            <a:ext cx="274320" cy="274320"/>
          </a:xfrm>
          <a:prstGeom prst="ellipse">
            <a:avLst/>
          </a:prstGeom>
          <a:solidFill>
            <a:schemeClr val="accent3"/>
          </a:solidFill>
          <a:ln w="38100">
            <a:solidFill>
              <a:schemeClr val="tx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OVERVIEW</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What you are deploying</a:t>
            </a:r>
            <a:endParaRPr lang="en-US" sz="3400" dirty="0"/>
          </a:p>
        </p:txBody>
      </p:sp>
      <p:sp>
        <p:nvSpPr>
          <p:cNvPr id="4" name="lede-20"/>
          <p:cNvSpPr txBox="1"/>
          <p:nvPr/>
        </p:nvSpPr>
        <p:spPr>
          <a:xfrm>
            <a:off x="548640" y="1417320"/>
            <a:ext cx="11064240" cy="411480"/>
          </a:xfrm>
          <a:prstGeom prst="rect">
            <a:avLst/>
          </a:prstGeom>
          <a:noFill/>
          <a:ln/>
        </p:spPr>
        <p:txBody>
          <a:bodyPr wrap="square" lIns="0" tIns="0" rIns="0" bIns="0" rtlCol="0" anchor="ctr"/>
          <a:lstStyle/>
          <a:p>
            <a:pPr indent="0" marL="0">
              <a:buNone/>
            </a:pPr>
            <a:r>
              <a:rPr lang="en-US" sz="1600" dirty="0">
                <a:solidFill>
                  <a:schemeClr val="tx2"/>
                </a:solidFill>
              </a:rPr>
              <a:t>An open-source semantic context layer: knowledge graphs + formal ontologies + rules, served to AI agents.</a:t>
            </a:r>
            <a:endParaRPr lang="en-US" sz="1600" dirty="0"/>
          </a:p>
        </p:txBody>
      </p:sp>
      <p:sp>
        <p:nvSpPr>
          <p:cNvPr id="5" name="card-21"/>
          <p:cNvSpPr/>
          <p:nvPr/>
        </p:nvSpPr>
        <p:spPr>
          <a:xfrm>
            <a:off x="548640" y="2011680"/>
            <a:ext cx="3520440" cy="2331720"/>
          </a:xfrm>
          <a:prstGeom prst="roundRect">
            <a:avLst>
              <a:gd name="adj" fmla="val 3922"/>
            </a:avLst>
          </a:prstGeom>
          <a:solidFill>
            <a:schemeClr val="bg2"/>
          </a:solidFill>
          <a:ln/>
        </p:spPr>
      </p:sp>
      <p:sp>
        <p:nvSpPr>
          <p:cNvPr id="6" name="icon-circle-22"/>
          <p:cNvSpPr/>
          <p:nvPr/>
        </p:nvSpPr>
        <p:spPr>
          <a:xfrm>
            <a:off x="822960" y="2286000"/>
            <a:ext cx="548640" cy="548640"/>
          </a:xfrm>
          <a:prstGeom prst="ellipse">
            <a:avLst/>
          </a:prstGeom>
          <a:solidFill>
            <a:schemeClr val="accent2"/>
          </a:solidFill>
          <a:ln/>
        </p:spPr>
      </p:sp>
      <p:sp>
        <p:nvSpPr>
          <p:cNvPr id="7" name="icon-search-23"/>
          <p:cNvSpPr/>
          <p:nvPr/>
        </p:nvSpPr>
        <p:spPr>
          <a:xfrm>
            <a:off x="954634" y="2417674"/>
            <a:ext cx="285293" cy="285293"/>
          </a:xfrm>
          <a:custGeom>
            <a:avLst/>
            <a:gdLst/>
            <a:ahLst/>
            <a:cxnLst/>
            <a:rect l="l" t="t" r="r" b="b"/>
            <a:pathLst>
              <a:path w="285293" h="285293">
                <a:moveTo>
                  <a:pt x="35662" y="130759"/>
                </a:moveTo>
                <a:cubicBezTo>
                  <a:pt x="35662" y="183246"/>
                  <a:pt x="78273" y="225857"/>
                  <a:pt x="130759" y="225857"/>
                </a:cubicBezTo>
                <a:cubicBezTo>
                  <a:pt x="183246" y="225857"/>
                  <a:pt x="225857" y="183246"/>
                  <a:pt x="225857" y="130759"/>
                </a:cubicBezTo>
                <a:cubicBezTo>
                  <a:pt x="225857" y="78273"/>
                  <a:pt x="183246" y="35662"/>
                  <a:pt x="130759" y="35662"/>
                </a:cubicBezTo>
                <a:cubicBezTo>
                  <a:pt x="78273" y="35662"/>
                  <a:pt x="35662" y="78273"/>
                  <a:pt x="35662" y="130759"/>
                </a:cubicBezTo>
                <a:close/>
                <a:moveTo>
                  <a:pt x="249631" y="249631"/>
                </a:moveTo>
                <a:lnTo>
                  <a:pt x="198516" y="198516"/>
                </a:lnTo>
              </a:path>
            </a:pathLst>
          </a:custGeom>
          <a:noFill/>
          <a:ln w="23749" cap="rnd">
            <a:solidFill>
              <a:schemeClr val="bg1"/>
            </a:solidFill>
            <a:prstDash val="solid"/>
            <a:round/>
          </a:ln>
        </p:spPr>
      </p:sp>
      <p:sp>
        <p:nvSpPr>
          <p:cNvPr id="8" name="card-title-24"/>
          <p:cNvSpPr txBox="1"/>
          <p:nvPr/>
        </p:nvSpPr>
        <p:spPr>
          <a:xfrm>
            <a:off x="1554480" y="2286000"/>
            <a:ext cx="228600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Scan</a:t>
            </a:r>
            <a:endParaRPr lang="en-US" sz="1700" dirty="0"/>
          </a:p>
        </p:txBody>
      </p:sp>
      <p:sp>
        <p:nvSpPr>
          <p:cNvPr id="9" name="card-body-25"/>
          <p:cNvSpPr txBox="1"/>
          <p:nvPr/>
        </p:nvSpPr>
        <p:spPr>
          <a:xfrm>
            <a:off x="822960" y="2971800"/>
            <a:ext cx="3017520" cy="11887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Connect Glue, JDBC, Databricks and document sources</a:t>
            </a:r>
            <a:endParaRPr lang="en-US" sz="1400" dirty="0"/>
          </a:p>
          <a:p>
            <a:pPr marL="177800" indent="-177800">
              <a:spcAft>
                <a:spcPts val="600"/>
              </a:spcAft>
              <a:buSzPct val="100000"/>
              <a:buChar char="•"/>
            </a:pPr>
            <a:r>
              <a:rPr lang="en-US" sz="1400" dirty="0">
                <a:solidFill>
                  <a:schemeClr val="tx2"/>
                </a:solidFill>
              </a:rPr>
              <a:t>Discover schemas, AI-enrich metadata</a:t>
            </a:r>
            <a:endParaRPr lang="en-US" sz="1400" dirty="0"/>
          </a:p>
        </p:txBody>
      </p:sp>
      <p:sp>
        <p:nvSpPr>
          <p:cNvPr id="10" name="card-26"/>
          <p:cNvSpPr/>
          <p:nvPr/>
        </p:nvSpPr>
        <p:spPr>
          <a:xfrm>
            <a:off x="4343400" y="2011680"/>
            <a:ext cx="3520440" cy="2331720"/>
          </a:xfrm>
          <a:prstGeom prst="roundRect">
            <a:avLst>
              <a:gd name="adj" fmla="val 3922"/>
            </a:avLst>
          </a:prstGeom>
          <a:solidFill>
            <a:schemeClr val="bg2"/>
          </a:solidFill>
          <a:ln/>
        </p:spPr>
      </p:sp>
      <p:sp>
        <p:nvSpPr>
          <p:cNvPr id="11" name="icon-circle-27"/>
          <p:cNvSpPr/>
          <p:nvPr/>
        </p:nvSpPr>
        <p:spPr>
          <a:xfrm>
            <a:off x="4617720" y="2286000"/>
            <a:ext cx="548640" cy="548640"/>
          </a:xfrm>
          <a:prstGeom prst="ellipse">
            <a:avLst/>
          </a:prstGeom>
          <a:solidFill>
            <a:schemeClr val="accent1"/>
          </a:solidFill>
          <a:ln/>
        </p:spPr>
      </p:sp>
      <p:sp>
        <p:nvSpPr>
          <p:cNvPr id="12" name="icon-network-28"/>
          <p:cNvSpPr/>
          <p:nvPr/>
        </p:nvSpPr>
        <p:spPr>
          <a:xfrm>
            <a:off x="4749394" y="2417674"/>
            <a:ext cx="285293" cy="285293"/>
          </a:xfrm>
          <a:custGeom>
            <a:avLst/>
            <a:gdLst/>
            <a:ahLst/>
            <a:cxnLst/>
            <a:rect l="l" t="t" r="r" b="b"/>
            <a:pathLst>
              <a:path w="285293" h="285293">
                <a:moveTo>
                  <a:pt x="202082" y="190195"/>
                </a:moveTo>
                <a:lnTo>
                  <a:pt x="249631" y="190195"/>
                </a:lnTo>
                <a:cubicBezTo>
                  <a:pt x="256215" y="190195"/>
                  <a:pt x="261518" y="195499"/>
                  <a:pt x="261518" y="202082"/>
                </a:cubicBezTo>
                <a:lnTo>
                  <a:pt x="261518" y="249631"/>
                </a:lnTo>
                <a:cubicBezTo>
                  <a:pt x="261518" y="256215"/>
                  <a:pt x="256215" y="261518"/>
                  <a:pt x="249631" y="261518"/>
                </a:cubicBezTo>
                <a:lnTo>
                  <a:pt x="202082" y="261518"/>
                </a:lnTo>
                <a:cubicBezTo>
                  <a:pt x="195499" y="261518"/>
                  <a:pt x="190195" y="256215"/>
                  <a:pt x="190195" y="249631"/>
                </a:cubicBezTo>
                <a:lnTo>
                  <a:pt x="190195" y="202082"/>
                </a:lnTo>
                <a:cubicBezTo>
                  <a:pt x="190195" y="195499"/>
                  <a:pt x="195499" y="190195"/>
                  <a:pt x="202082" y="190195"/>
                </a:cubicBezTo>
                <a:close/>
                <a:moveTo>
                  <a:pt x="35662" y="190195"/>
                </a:moveTo>
                <a:lnTo>
                  <a:pt x="83210" y="190195"/>
                </a:lnTo>
                <a:cubicBezTo>
                  <a:pt x="89794" y="190195"/>
                  <a:pt x="95098" y="195499"/>
                  <a:pt x="95098" y="202082"/>
                </a:cubicBezTo>
                <a:lnTo>
                  <a:pt x="95098" y="249631"/>
                </a:lnTo>
                <a:cubicBezTo>
                  <a:pt x="95098" y="256215"/>
                  <a:pt x="89794" y="261518"/>
                  <a:pt x="83210" y="261518"/>
                </a:cubicBezTo>
                <a:lnTo>
                  <a:pt x="35662" y="261518"/>
                </a:lnTo>
                <a:cubicBezTo>
                  <a:pt x="29078" y="261518"/>
                  <a:pt x="23774" y="256215"/>
                  <a:pt x="23774" y="249631"/>
                </a:cubicBezTo>
                <a:lnTo>
                  <a:pt x="23774" y="202082"/>
                </a:lnTo>
                <a:cubicBezTo>
                  <a:pt x="23774" y="195499"/>
                  <a:pt x="29078" y="190195"/>
                  <a:pt x="35662" y="190195"/>
                </a:cubicBezTo>
                <a:close/>
                <a:moveTo>
                  <a:pt x="118872" y="23774"/>
                </a:moveTo>
                <a:lnTo>
                  <a:pt x="166421" y="23774"/>
                </a:lnTo>
                <a:cubicBezTo>
                  <a:pt x="173004" y="23774"/>
                  <a:pt x="178308" y="29078"/>
                  <a:pt x="178308" y="35662"/>
                </a:cubicBezTo>
                <a:lnTo>
                  <a:pt x="178308" y="83210"/>
                </a:lnTo>
                <a:cubicBezTo>
                  <a:pt x="178308" y="89794"/>
                  <a:pt x="173004" y="95098"/>
                  <a:pt x="166421" y="95098"/>
                </a:cubicBezTo>
                <a:lnTo>
                  <a:pt x="118872" y="95098"/>
                </a:lnTo>
                <a:cubicBezTo>
                  <a:pt x="112288" y="95098"/>
                  <a:pt x="106985" y="89794"/>
                  <a:pt x="106985" y="83210"/>
                </a:cubicBezTo>
                <a:lnTo>
                  <a:pt x="106985" y="35662"/>
                </a:lnTo>
                <a:cubicBezTo>
                  <a:pt x="106985" y="29078"/>
                  <a:pt x="112288" y="23774"/>
                  <a:pt x="118872" y="23774"/>
                </a:cubicBezTo>
                <a:close/>
                <a:moveTo>
                  <a:pt x="59436" y="190195"/>
                </a:moveTo>
                <a:lnTo>
                  <a:pt x="59436" y="154534"/>
                </a:lnTo>
                <a:cubicBezTo>
                  <a:pt x="59436" y="147950"/>
                  <a:pt x="64740" y="142646"/>
                  <a:pt x="71323" y="142646"/>
                </a:cubicBezTo>
                <a:lnTo>
                  <a:pt x="213970" y="142646"/>
                </a:lnTo>
                <a:cubicBezTo>
                  <a:pt x="220553" y="142646"/>
                  <a:pt x="225857" y="147950"/>
                  <a:pt x="225857" y="154534"/>
                </a:cubicBezTo>
                <a:lnTo>
                  <a:pt x="225857" y="190195"/>
                </a:lnTo>
                <a:moveTo>
                  <a:pt x="142646" y="142646"/>
                </a:moveTo>
                <a:lnTo>
                  <a:pt x="142646" y="95098"/>
                </a:lnTo>
              </a:path>
            </a:pathLst>
          </a:custGeom>
          <a:noFill/>
          <a:ln w="23749" cap="rnd">
            <a:solidFill>
              <a:schemeClr val="bg1"/>
            </a:solidFill>
            <a:prstDash val="solid"/>
            <a:round/>
          </a:ln>
        </p:spPr>
      </p:sp>
      <p:sp>
        <p:nvSpPr>
          <p:cNvPr id="13" name="card-title-29"/>
          <p:cNvSpPr txBox="1"/>
          <p:nvPr/>
        </p:nvSpPr>
        <p:spPr>
          <a:xfrm>
            <a:off x="5349240" y="2286000"/>
            <a:ext cx="228600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Model</a:t>
            </a:r>
            <a:endParaRPr lang="en-US" sz="1700" dirty="0"/>
          </a:p>
        </p:txBody>
      </p:sp>
      <p:sp>
        <p:nvSpPr>
          <p:cNvPr id="14" name="card-body-30"/>
          <p:cNvSpPr txBox="1"/>
          <p:nvPr/>
        </p:nvSpPr>
        <p:spPr>
          <a:xfrm>
            <a:off x="4617720" y="2971800"/>
            <a:ext cx="3017520" cy="11887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Induce and curate ontologies (OWL)</a:t>
            </a:r>
            <a:endParaRPr lang="en-US" sz="1400" dirty="0"/>
          </a:p>
          <a:p>
            <a:pPr marL="177800" indent="-177800">
              <a:spcAft>
                <a:spcPts val="600"/>
              </a:spcAft>
              <a:buSzPct val="100000"/>
              <a:buChar char="•"/>
            </a:pPr>
            <a:r>
              <a:rPr lang="en-US" sz="1400" dirty="0">
                <a:solidFill>
                  <a:schemeClr val="tx2"/>
                </a:solidFill>
              </a:rPr>
              <a:t>Define metrics; build one semantic graph</a:t>
            </a:r>
            <a:endParaRPr lang="en-US" sz="1400" dirty="0"/>
          </a:p>
        </p:txBody>
      </p:sp>
      <p:sp>
        <p:nvSpPr>
          <p:cNvPr id="15" name="card-31"/>
          <p:cNvSpPr/>
          <p:nvPr/>
        </p:nvSpPr>
        <p:spPr>
          <a:xfrm>
            <a:off x="8138160" y="2011680"/>
            <a:ext cx="3520440" cy="2331720"/>
          </a:xfrm>
          <a:prstGeom prst="roundRect">
            <a:avLst>
              <a:gd name="adj" fmla="val 3922"/>
            </a:avLst>
          </a:prstGeom>
          <a:solidFill>
            <a:schemeClr val="bg2"/>
          </a:solidFill>
          <a:ln/>
        </p:spPr>
      </p:sp>
      <p:sp>
        <p:nvSpPr>
          <p:cNvPr id="16" name="icon-circle-32"/>
          <p:cNvSpPr/>
          <p:nvPr/>
        </p:nvSpPr>
        <p:spPr>
          <a:xfrm>
            <a:off x="8412480" y="2286000"/>
            <a:ext cx="548640" cy="548640"/>
          </a:xfrm>
          <a:prstGeom prst="ellipse">
            <a:avLst/>
          </a:prstGeom>
          <a:solidFill>
            <a:schemeClr val="accent2"/>
          </a:solidFill>
          <a:ln/>
        </p:spPr>
      </p:sp>
      <p:sp>
        <p:nvSpPr>
          <p:cNvPr id="17" name="icon-bot-33"/>
          <p:cNvSpPr/>
          <p:nvPr/>
        </p:nvSpPr>
        <p:spPr>
          <a:xfrm>
            <a:off x="8544154" y="2417674"/>
            <a:ext cx="285293" cy="285293"/>
          </a:xfrm>
          <a:custGeom>
            <a:avLst/>
            <a:gdLst/>
            <a:ahLst/>
            <a:cxnLst/>
            <a:rect l="l" t="t" r="r" b="b"/>
            <a:pathLst>
              <a:path w="285293" h="285293">
                <a:moveTo>
                  <a:pt x="142646" y="95098"/>
                </a:moveTo>
                <a:lnTo>
                  <a:pt x="142646" y="47549"/>
                </a:lnTo>
                <a:lnTo>
                  <a:pt x="95098" y="47549"/>
                </a:lnTo>
                <a:moveTo>
                  <a:pt x="71323" y="95098"/>
                </a:moveTo>
                <a:lnTo>
                  <a:pt x="213970" y="95098"/>
                </a:lnTo>
                <a:cubicBezTo>
                  <a:pt x="227137" y="95098"/>
                  <a:pt x="237744" y="105705"/>
                  <a:pt x="237744" y="118872"/>
                </a:cubicBezTo>
                <a:lnTo>
                  <a:pt x="237744" y="213970"/>
                </a:lnTo>
                <a:cubicBezTo>
                  <a:pt x="237744" y="227137"/>
                  <a:pt x="227137" y="237744"/>
                  <a:pt x="213970" y="237744"/>
                </a:cubicBezTo>
                <a:lnTo>
                  <a:pt x="71323" y="237744"/>
                </a:lnTo>
                <a:cubicBezTo>
                  <a:pt x="58156" y="237744"/>
                  <a:pt x="47549" y="227137"/>
                  <a:pt x="47549" y="213970"/>
                </a:cubicBezTo>
                <a:lnTo>
                  <a:pt x="47549" y="118872"/>
                </a:lnTo>
                <a:cubicBezTo>
                  <a:pt x="47549" y="105705"/>
                  <a:pt x="58156" y="95098"/>
                  <a:pt x="71323" y="95098"/>
                </a:cubicBezTo>
                <a:close/>
                <a:moveTo>
                  <a:pt x="23774" y="166421"/>
                </a:moveTo>
                <a:lnTo>
                  <a:pt x="47549" y="166421"/>
                </a:lnTo>
                <a:moveTo>
                  <a:pt x="237744" y="166421"/>
                </a:moveTo>
                <a:lnTo>
                  <a:pt x="261518" y="166421"/>
                </a:lnTo>
                <a:moveTo>
                  <a:pt x="178308" y="154534"/>
                </a:moveTo>
                <a:lnTo>
                  <a:pt x="178308" y="178308"/>
                </a:lnTo>
                <a:moveTo>
                  <a:pt x="106985" y="154534"/>
                </a:moveTo>
                <a:lnTo>
                  <a:pt x="106985" y="178308"/>
                </a:lnTo>
              </a:path>
            </a:pathLst>
          </a:custGeom>
          <a:noFill/>
          <a:ln w="23749" cap="rnd">
            <a:solidFill>
              <a:schemeClr val="bg1"/>
            </a:solidFill>
            <a:prstDash val="solid"/>
            <a:round/>
          </a:ln>
        </p:spPr>
      </p:sp>
      <p:sp>
        <p:nvSpPr>
          <p:cNvPr id="18" name="card-title-34"/>
          <p:cNvSpPr txBox="1"/>
          <p:nvPr/>
        </p:nvSpPr>
        <p:spPr>
          <a:xfrm>
            <a:off x="9144000" y="2286000"/>
            <a:ext cx="228600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Serve</a:t>
            </a:r>
            <a:endParaRPr lang="en-US" sz="1700" dirty="0"/>
          </a:p>
        </p:txBody>
      </p:sp>
      <p:sp>
        <p:nvSpPr>
          <p:cNvPr id="19" name="card-body-35"/>
          <p:cNvSpPr txBox="1"/>
          <p:nvPr/>
        </p:nvSpPr>
        <p:spPr>
          <a:xfrm>
            <a:off x="8412480" y="2971800"/>
            <a:ext cx="3017520" cy="11887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SPARQL federation via Ontop VKG</a:t>
            </a:r>
            <a:endParaRPr lang="en-US" sz="1400" dirty="0"/>
          </a:p>
          <a:p>
            <a:pPr marL="177800" indent="-177800">
              <a:spcAft>
                <a:spcPts val="600"/>
              </a:spcAft>
              <a:buSzPct val="100000"/>
              <a:buChar char="•"/>
            </a:pPr>
            <a:r>
              <a:rPr lang="en-US" sz="1400" dirty="0">
                <a:solidFill>
                  <a:schemeClr val="tx2"/>
                </a:solidFill>
              </a:rPr>
              <a:t>Context to agents over MCP on AgentCore</a:t>
            </a:r>
            <a:endParaRPr lang="en-US" sz="1400" dirty="0"/>
          </a:p>
        </p:txBody>
      </p:sp>
      <p:sp>
        <p:nvSpPr>
          <p:cNvPr id="20" name="chips-label-36"/>
          <p:cNvSpPr txBox="1"/>
          <p:nvPr/>
        </p:nvSpPr>
        <p:spPr>
          <a:xfrm>
            <a:off x="548640" y="4572000"/>
            <a:ext cx="7315200" cy="320040"/>
          </a:xfrm>
          <a:prstGeom prst="rect">
            <a:avLst/>
          </a:prstGeom>
          <a:noFill/>
          <a:ln/>
        </p:spPr>
        <p:txBody>
          <a:bodyPr wrap="square" lIns="0" tIns="0" rIns="0" bIns="0" rtlCol="0" anchor="ctr"/>
          <a:lstStyle/>
          <a:p>
            <a:pPr indent="0" marL="0">
              <a:buNone/>
            </a:pPr>
            <a:r>
              <a:rPr lang="en-US" sz="1400" b="1" dirty="0">
                <a:solidFill>
                  <a:schemeClr val="tx1"/>
                </a:solidFill>
              </a:rPr>
              <a:t>Key AWS services the deploy creates</a:t>
            </a:r>
            <a:endParaRPr lang="en-US" sz="1400" dirty="0"/>
          </a:p>
        </p:txBody>
      </p:sp>
      <p:sp>
        <p:nvSpPr>
          <p:cNvPr id="21" name="chip-37"/>
          <p:cNvSpPr/>
          <p:nvPr/>
        </p:nvSpPr>
        <p:spPr>
          <a:xfrm>
            <a:off x="548640" y="4983480"/>
            <a:ext cx="873252" cy="384048"/>
          </a:xfrm>
          <a:prstGeom prst="roundRect">
            <a:avLst>
              <a:gd name="adj" fmla="val 50000"/>
            </a:avLst>
          </a:prstGeom>
          <a:solidFill>
            <a:schemeClr val="bg2"/>
          </a:solidFill>
          <a:ln w="12700">
            <a:solidFill>
              <a:schemeClr val="accent2"/>
            </a:solidFill>
            <a:prstDash val="solid"/>
          </a:ln>
        </p:spPr>
      </p:sp>
      <p:sp>
        <p:nvSpPr>
          <p:cNvPr id="22" name="chip-text-38"/>
          <p:cNvSpPr txBox="1"/>
          <p:nvPr/>
        </p:nvSpPr>
        <p:spPr>
          <a:xfrm>
            <a:off x="548640" y="4983480"/>
            <a:ext cx="873252" cy="384048"/>
          </a:xfrm>
          <a:prstGeom prst="rect">
            <a:avLst/>
          </a:prstGeom>
          <a:noFill/>
          <a:ln/>
        </p:spPr>
        <p:txBody>
          <a:bodyPr wrap="square" lIns="0" tIns="0" rIns="0" bIns="0" rtlCol="0" anchor="ctr"/>
          <a:lstStyle/>
          <a:p>
            <a:pPr algn="ctr" indent="0" marL="0">
              <a:buNone/>
            </a:pPr>
            <a:r>
              <a:rPr lang="en-US" sz="1300" b="1" dirty="0">
                <a:solidFill>
                  <a:schemeClr val="accent2"/>
                </a:solidFill>
              </a:rPr>
              <a:t>Neptune</a:t>
            </a:r>
            <a:endParaRPr lang="en-US" sz="1300" dirty="0"/>
          </a:p>
        </p:txBody>
      </p:sp>
      <p:sp>
        <p:nvSpPr>
          <p:cNvPr id="23" name="chip-39"/>
          <p:cNvSpPr/>
          <p:nvPr/>
        </p:nvSpPr>
        <p:spPr>
          <a:xfrm>
            <a:off x="1559052" y="4983480"/>
            <a:ext cx="2217420" cy="384048"/>
          </a:xfrm>
          <a:prstGeom prst="roundRect">
            <a:avLst>
              <a:gd name="adj" fmla="val 50000"/>
            </a:avLst>
          </a:prstGeom>
          <a:solidFill>
            <a:schemeClr val="bg2"/>
          </a:solidFill>
          <a:ln w="12700">
            <a:solidFill>
              <a:schemeClr val="accent2"/>
            </a:solidFill>
            <a:prstDash val="solid"/>
          </a:ln>
        </p:spPr>
      </p:sp>
      <p:sp>
        <p:nvSpPr>
          <p:cNvPr id="24" name="chip-text-40"/>
          <p:cNvSpPr txBox="1"/>
          <p:nvPr/>
        </p:nvSpPr>
        <p:spPr>
          <a:xfrm>
            <a:off x="1559052" y="4983480"/>
            <a:ext cx="2217420" cy="384048"/>
          </a:xfrm>
          <a:prstGeom prst="rect">
            <a:avLst/>
          </a:prstGeom>
          <a:noFill/>
          <a:ln/>
        </p:spPr>
        <p:txBody>
          <a:bodyPr wrap="square" lIns="0" tIns="0" rIns="0" bIns="0" rtlCol="0" anchor="ctr"/>
          <a:lstStyle/>
          <a:p>
            <a:pPr algn="ctr" indent="0" marL="0">
              <a:buNone/>
            </a:pPr>
            <a:r>
              <a:rPr lang="en-US" sz="1300" b="1" dirty="0">
                <a:solidFill>
                  <a:schemeClr val="accent2"/>
                </a:solidFill>
              </a:rPr>
              <a:t>OpenSearch Serverless</a:t>
            </a:r>
            <a:endParaRPr lang="en-US" sz="1300" dirty="0"/>
          </a:p>
        </p:txBody>
      </p:sp>
      <p:sp>
        <p:nvSpPr>
          <p:cNvPr id="25" name="chip-41"/>
          <p:cNvSpPr/>
          <p:nvPr/>
        </p:nvSpPr>
        <p:spPr>
          <a:xfrm>
            <a:off x="3913632" y="4983480"/>
            <a:ext cx="2121408" cy="384048"/>
          </a:xfrm>
          <a:prstGeom prst="roundRect">
            <a:avLst>
              <a:gd name="adj" fmla="val 50000"/>
            </a:avLst>
          </a:prstGeom>
          <a:solidFill>
            <a:schemeClr val="bg2"/>
          </a:solidFill>
          <a:ln w="12700">
            <a:solidFill>
              <a:schemeClr val="accent2"/>
            </a:solidFill>
            <a:prstDash val="solid"/>
          </a:ln>
        </p:spPr>
      </p:sp>
      <p:sp>
        <p:nvSpPr>
          <p:cNvPr id="26" name="chip-text-42"/>
          <p:cNvSpPr txBox="1"/>
          <p:nvPr/>
        </p:nvSpPr>
        <p:spPr>
          <a:xfrm>
            <a:off x="3913632" y="4983480"/>
            <a:ext cx="2121408" cy="384048"/>
          </a:xfrm>
          <a:prstGeom prst="rect">
            <a:avLst/>
          </a:prstGeom>
          <a:noFill/>
          <a:ln/>
        </p:spPr>
        <p:txBody>
          <a:bodyPr wrap="square" lIns="0" tIns="0" rIns="0" bIns="0" rtlCol="0" anchor="ctr"/>
          <a:lstStyle/>
          <a:p>
            <a:pPr algn="ctr" indent="0" marL="0">
              <a:buNone/>
            </a:pPr>
            <a:r>
              <a:rPr lang="en-US" sz="1300" b="1" dirty="0">
                <a:solidFill>
                  <a:schemeClr val="accent2"/>
                </a:solidFill>
              </a:rPr>
              <a:t>Bedrock + Guardrails</a:t>
            </a:r>
            <a:endParaRPr lang="en-US" sz="1300" dirty="0"/>
          </a:p>
        </p:txBody>
      </p:sp>
      <p:sp>
        <p:nvSpPr>
          <p:cNvPr id="27" name="chip-43"/>
          <p:cNvSpPr/>
          <p:nvPr/>
        </p:nvSpPr>
        <p:spPr>
          <a:xfrm>
            <a:off x="6172200" y="4983480"/>
            <a:ext cx="1833372" cy="384048"/>
          </a:xfrm>
          <a:prstGeom prst="roundRect">
            <a:avLst>
              <a:gd name="adj" fmla="val 50000"/>
            </a:avLst>
          </a:prstGeom>
          <a:solidFill>
            <a:schemeClr val="bg2"/>
          </a:solidFill>
          <a:ln w="12700">
            <a:solidFill>
              <a:schemeClr val="accent2"/>
            </a:solidFill>
            <a:prstDash val="solid"/>
          </a:ln>
        </p:spPr>
      </p:sp>
      <p:sp>
        <p:nvSpPr>
          <p:cNvPr id="28" name="chip-text-44"/>
          <p:cNvSpPr txBox="1"/>
          <p:nvPr/>
        </p:nvSpPr>
        <p:spPr>
          <a:xfrm>
            <a:off x="6172200" y="4983480"/>
            <a:ext cx="1833372" cy="384048"/>
          </a:xfrm>
          <a:prstGeom prst="rect">
            <a:avLst/>
          </a:prstGeom>
          <a:noFill/>
          <a:ln/>
        </p:spPr>
        <p:txBody>
          <a:bodyPr wrap="square" lIns="0" tIns="0" rIns="0" bIns="0" rtlCol="0" anchor="ctr"/>
          <a:lstStyle/>
          <a:p>
            <a:pPr algn="ctr" indent="0" marL="0">
              <a:buNone/>
            </a:pPr>
            <a:r>
              <a:rPr lang="en-US" sz="1300" b="1" dirty="0">
                <a:solidFill>
                  <a:schemeClr val="accent2"/>
                </a:solidFill>
              </a:rPr>
              <a:t>AgentCore Runtime</a:t>
            </a:r>
            <a:endParaRPr lang="en-US" sz="1300" dirty="0"/>
          </a:p>
        </p:txBody>
      </p:sp>
      <p:sp>
        <p:nvSpPr>
          <p:cNvPr id="29" name="chip-45"/>
          <p:cNvSpPr/>
          <p:nvPr/>
        </p:nvSpPr>
        <p:spPr>
          <a:xfrm>
            <a:off x="8142732" y="4983480"/>
            <a:ext cx="1641348" cy="384048"/>
          </a:xfrm>
          <a:prstGeom prst="roundRect">
            <a:avLst>
              <a:gd name="adj" fmla="val 50000"/>
            </a:avLst>
          </a:prstGeom>
          <a:solidFill>
            <a:schemeClr val="bg2"/>
          </a:solidFill>
          <a:ln w="12700">
            <a:solidFill>
              <a:schemeClr val="accent2"/>
            </a:solidFill>
            <a:prstDash val="solid"/>
          </a:ln>
        </p:spPr>
      </p:sp>
      <p:sp>
        <p:nvSpPr>
          <p:cNvPr id="30" name="chip-text-46"/>
          <p:cNvSpPr txBox="1"/>
          <p:nvPr/>
        </p:nvSpPr>
        <p:spPr>
          <a:xfrm>
            <a:off x="8142732" y="4983480"/>
            <a:ext cx="1641348" cy="384048"/>
          </a:xfrm>
          <a:prstGeom prst="rect">
            <a:avLst/>
          </a:prstGeom>
          <a:noFill/>
          <a:ln/>
        </p:spPr>
        <p:txBody>
          <a:bodyPr wrap="square" lIns="0" tIns="0" rIns="0" bIns="0" rtlCol="0" anchor="ctr"/>
          <a:lstStyle/>
          <a:p>
            <a:pPr algn="ctr" indent="0" marL="0">
              <a:buNone/>
            </a:pPr>
            <a:r>
              <a:rPr lang="en-US" sz="1300" b="1" dirty="0">
                <a:solidFill>
                  <a:schemeClr val="accent2"/>
                </a:solidFill>
              </a:rPr>
              <a:t>DataZone / SMUS</a:t>
            </a:r>
            <a:endParaRPr lang="en-US" sz="1300" dirty="0"/>
          </a:p>
        </p:txBody>
      </p:sp>
      <p:sp>
        <p:nvSpPr>
          <p:cNvPr id="31" name="chip-47"/>
          <p:cNvSpPr/>
          <p:nvPr/>
        </p:nvSpPr>
        <p:spPr>
          <a:xfrm>
            <a:off x="9921240" y="4983480"/>
            <a:ext cx="1449324" cy="384048"/>
          </a:xfrm>
          <a:prstGeom prst="roundRect">
            <a:avLst>
              <a:gd name="adj" fmla="val 50000"/>
            </a:avLst>
          </a:prstGeom>
          <a:solidFill>
            <a:schemeClr val="bg2"/>
          </a:solidFill>
          <a:ln w="12700">
            <a:solidFill>
              <a:schemeClr val="accent2"/>
            </a:solidFill>
            <a:prstDash val="solid"/>
          </a:ln>
        </p:spPr>
      </p:sp>
      <p:sp>
        <p:nvSpPr>
          <p:cNvPr id="32" name="chip-text-48"/>
          <p:cNvSpPr txBox="1"/>
          <p:nvPr/>
        </p:nvSpPr>
        <p:spPr>
          <a:xfrm>
            <a:off x="9921240" y="4983480"/>
            <a:ext cx="1449324" cy="384048"/>
          </a:xfrm>
          <a:prstGeom prst="rect">
            <a:avLst/>
          </a:prstGeom>
          <a:noFill/>
          <a:ln/>
        </p:spPr>
        <p:txBody>
          <a:bodyPr wrap="square" lIns="0" tIns="0" rIns="0" bIns="0" rtlCol="0" anchor="ctr"/>
          <a:lstStyle/>
          <a:p>
            <a:pPr algn="ctr" indent="0" marL="0">
              <a:buNone/>
            </a:pPr>
            <a:r>
              <a:rPr lang="en-US" sz="1300" b="1" dirty="0">
                <a:solidFill>
                  <a:schemeClr val="accent2"/>
                </a:solidFill>
              </a:rPr>
              <a:t>Athena + Glue</a:t>
            </a:r>
            <a:endParaRPr lang="en-US" sz="1300" dirty="0"/>
          </a:p>
        </p:txBody>
      </p:sp>
      <p:sp>
        <p:nvSpPr>
          <p:cNvPr id="33" name="chip-49"/>
          <p:cNvSpPr/>
          <p:nvPr/>
        </p:nvSpPr>
        <p:spPr>
          <a:xfrm>
            <a:off x="548640" y="5486400"/>
            <a:ext cx="1257300" cy="384048"/>
          </a:xfrm>
          <a:prstGeom prst="roundRect">
            <a:avLst>
              <a:gd name="adj" fmla="val 50000"/>
            </a:avLst>
          </a:prstGeom>
          <a:solidFill>
            <a:schemeClr val="bg2"/>
          </a:solidFill>
          <a:ln w="12700">
            <a:solidFill>
              <a:schemeClr val="accent2"/>
            </a:solidFill>
            <a:prstDash val="solid"/>
          </a:ln>
        </p:spPr>
      </p:sp>
      <p:sp>
        <p:nvSpPr>
          <p:cNvPr id="34" name="chip-text-50"/>
          <p:cNvSpPr txBox="1"/>
          <p:nvPr/>
        </p:nvSpPr>
        <p:spPr>
          <a:xfrm>
            <a:off x="548640" y="5486400"/>
            <a:ext cx="1257300" cy="384048"/>
          </a:xfrm>
          <a:prstGeom prst="rect">
            <a:avLst/>
          </a:prstGeom>
          <a:noFill/>
          <a:ln/>
        </p:spPr>
        <p:txBody>
          <a:bodyPr wrap="square" lIns="0" tIns="0" rIns="0" bIns="0" rtlCol="0" anchor="ctr"/>
          <a:lstStyle/>
          <a:p>
            <a:pPr algn="ctr" indent="0" marL="0">
              <a:buNone/>
            </a:pPr>
            <a:r>
              <a:rPr lang="en-US" sz="1300" b="1" dirty="0">
                <a:solidFill>
                  <a:schemeClr val="accent2"/>
                </a:solidFill>
              </a:rPr>
              <a:t>ECS Fargate</a:t>
            </a:r>
            <a:endParaRPr lang="en-US" sz="1300" dirty="0"/>
          </a:p>
        </p:txBody>
      </p:sp>
      <p:sp>
        <p:nvSpPr>
          <p:cNvPr id="35" name="chip-51"/>
          <p:cNvSpPr/>
          <p:nvPr/>
        </p:nvSpPr>
        <p:spPr>
          <a:xfrm>
            <a:off x="1943100" y="5486400"/>
            <a:ext cx="1257300" cy="384048"/>
          </a:xfrm>
          <a:prstGeom prst="roundRect">
            <a:avLst>
              <a:gd name="adj" fmla="val 50000"/>
            </a:avLst>
          </a:prstGeom>
          <a:solidFill>
            <a:schemeClr val="bg2"/>
          </a:solidFill>
          <a:ln w="12700">
            <a:solidFill>
              <a:schemeClr val="accent2"/>
            </a:solidFill>
            <a:prstDash val="solid"/>
          </a:ln>
        </p:spPr>
      </p:sp>
      <p:sp>
        <p:nvSpPr>
          <p:cNvPr id="36" name="chip-text-52"/>
          <p:cNvSpPr txBox="1"/>
          <p:nvPr/>
        </p:nvSpPr>
        <p:spPr>
          <a:xfrm>
            <a:off x="1943100" y="5486400"/>
            <a:ext cx="1257300" cy="384048"/>
          </a:xfrm>
          <a:prstGeom prst="rect">
            <a:avLst/>
          </a:prstGeom>
          <a:noFill/>
          <a:ln/>
        </p:spPr>
        <p:txBody>
          <a:bodyPr wrap="square" lIns="0" tIns="0" rIns="0" bIns="0" rtlCol="0" anchor="ctr"/>
          <a:lstStyle/>
          <a:p>
            <a:pPr algn="ctr" indent="0" marL="0">
              <a:buNone/>
            </a:pPr>
            <a:r>
              <a:rPr lang="en-US" sz="1300" b="1" dirty="0">
                <a:solidFill>
                  <a:schemeClr val="accent2"/>
                </a:solidFill>
              </a:rPr>
              <a:t>API Gateway</a:t>
            </a:r>
            <a:endParaRPr lang="en-US" sz="1300" dirty="0"/>
          </a:p>
        </p:txBody>
      </p:sp>
      <p:sp>
        <p:nvSpPr>
          <p:cNvPr id="37" name="chip-53"/>
          <p:cNvSpPr/>
          <p:nvPr/>
        </p:nvSpPr>
        <p:spPr>
          <a:xfrm>
            <a:off x="3337560" y="5486400"/>
            <a:ext cx="1737360" cy="384048"/>
          </a:xfrm>
          <a:prstGeom prst="roundRect">
            <a:avLst>
              <a:gd name="adj" fmla="val 50000"/>
            </a:avLst>
          </a:prstGeom>
          <a:solidFill>
            <a:schemeClr val="bg2"/>
          </a:solidFill>
          <a:ln w="12700">
            <a:solidFill>
              <a:schemeClr val="accent2"/>
            </a:solidFill>
            <a:prstDash val="solid"/>
          </a:ln>
        </p:spPr>
      </p:sp>
      <p:sp>
        <p:nvSpPr>
          <p:cNvPr id="38" name="chip-text-54"/>
          <p:cNvSpPr txBox="1"/>
          <p:nvPr/>
        </p:nvSpPr>
        <p:spPr>
          <a:xfrm>
            <a:off x="3337560" y="5486400"/>
            <a:ext cx="1737360" cy="384048"/>
          </a:xfrm>
          <a:prstGeom prst="rect">
            <a:avLst/>
          </a:prstGeom>
          <a:noFill/>
          <a:ln/>
        </p:spPr>
        <p:txBody>
          <a:bodyPr wrap="square" lIns="0" tIns="0" rIns="0" bIns="0" rtlCol="0" anchor="ctr"/>
          <a:lstStyle/>
          <a:p>
            <a:pPr algn="ctr" indent="0" marL="0">
              <a:buNone/>
            </a:pPr>
            <a:r>
              <a:rPr lang="en-US" sz="1300" b="1" dirty="0">
                <a:solidFill>
                  <a:schemeClr val="accent2"/>
                </a:solidFill>
              </a:rPr>
              <a:t>CloudFront + WAF</a:t>
            </a:r>
            <a:endParaRPr lang="en-US" sz="1300" dirty="0"/>
          </a:p>
        </p:txBody>
      </p:sp>
      <p:sp>
        <p:nvSpPr>
          <p:cNvPr id="39" name="chip-55"/>
          <p:cNvSpPr/>
          <p:nvPr/>
        </p:nvSpPr>
        <p:spPr>
          <a:xfrm>
            <a:off x="5212080" y="5486400"/>
            <a:ext cx="873252" cy="384048"/>
          </a:xfrm>
          <a:prstGeom prst="roundRect">
            <a:avLst>
              <a:gd name="adj" fmla="val 50000"/>
            </a:avLst>
          </a:prstGeom>
          <a:solidFill>
            <a:schemeClr val="bg2"/>
          </a:solidFill>
          <a:ln w="12700">
            <a:solidFill>
              <a:schemeClr val="accent2"/>
            </a:solidFill>
            <a:prstDash val="solid"/>
          </a:ln>
        </p:spPr>
      </p:sp>
      <p:sp>
        <p:nvSpPr>
          <p:cNvPr id="40" name="chip-text-56"/>
          <p:cNvSpPr txBox="1"/>
          <p:nvPr/>
        </p:nvSpPr>
        <p:spPr>
          <a:xfrm>
            <a:off x="5212080" y="5486400"/>
            <a:ext cx="873252" cy="384048"/>
          </a:xfrm>
          <a:prstGeom prst="rect">
            <a:avLst/>
          </a:prstGeom>
          <a:noFill/>
          <a:ln/>
        </p:spPr>
        <p:txBody>
          <a:bodyPr wrap="square" lIns="0" tIns="0" rIns="0" bIns="0" rtlCol="0" anchor="ctr"/>
          <a:lstStyle/>
          <a:p>
            <a:pPr algn="ctr" indent="0" marL="0">
              <a:buNone/>
            </a:pPr>
            <a:r>
              <a:rPr lang="en-US" sz="1300" b="1" dirty="0">
                <a:solidFill>
                  <a:schemeClr val="accent2"/>
                </a:solidFill>
              </a:rPr>
              <a:t>Cognito</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OVERVIEW</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Setup at a glance: 11 steps in 4 phases</a:t>
            </a:r>
            <a:endParaRPr lang="en-US" sz="3400" dirty="0"/>
          </a:p>
        </p:txBody>
      </p:sp>
      <p:sp>
        <p:nvSpPr>
          <p:cNvPr id="4" name="phase-card-57"/>
          <p:cNvSpPr/>
          <p:nvPr/>
        </p:nvSpPr>
        <p:spPr>
          <a:xfrm>
            <a:off x="548640" y="1600200"/>
            <a:ext cx="2651760" cy="4160520"/>
          </a:xfrm>
          <a:prstGeom prst="roundRect">
            <a:avLst>
              <a:gd name="adj" fmla="val 3448"/>
            </a:avLst>
          </a:prstGeom>
          <a:solidFill>
            <a:schemeClr val="bg2"/>
          </a:solidFill>
          <a:ln/>
        </p:spPr>
      </p:sp>
      <p:sp>
        <p:nvSpPr>
          <p:cNvPr id="5" name="icon-circle-58"/>
          <p:cNvSpPr/>
          <p:nvPr/>
        </p:nvSpPr>
        <p:spPr>
          <a:xfrm>
            <a:off x="822960" y="1874520"/>
            <a:ext cx="548640" cy="548640"/>
          </a:xfrm>
          <a:prstGeom prst="ellipse">
            <a:avLst/>
          </a:prstGeom>
          <a:solidFill>
            <a:schemeClr val="accent2"/>
          </a:solidFill>
          <a:ln/>
        </p:spPr>
      </p:sp>
      <p:sp>
        <p:nvSpPr>
          <p:cNvPr id="6" name="icon-terminal-59"/>
          <p:cNvSpPr/>
          <p:nvPr/>
        </p:nvSpPr>
        <p:spPr>
          <a:xfrm>
            <a:off x="954634" y="2006194"/>
            <a:ext cx="285293" cy="285293"/>
          </a:xfrm>
          <a:custGeom>
            <a:avLst/>
            <a:gdLst/>
            <a:ahLst/>
            <a:cxnLst/>
            <a:rect l="l" t="t" r="r" b="b"/>
            <a:pathLst>
              <a:path w="285293" h="285293">
                <a:moveTo>
                  <a:pt x="47549" y="202082"/>
                </a:moveTo>
                <a:lnTo>
                  <a:pt x="118872" y="130759"/>
                </a:lnTo>
                <a:lnTo>
                  <a:pt x="47549" y="59436"/>
                </a:lnTo>
                <a:moveTo>
                  <a:pt x="142646" y="225857"/>
                </a:moveTo>
                <a:lnTo>
                  <a:pt x="237744" y="225857"/>
                </a:lnTo>
              </a:path>
            </a:pathLst>
          </a:custGeom>
          <a:noFill/>
          <a:ln w="23749" cap="rnd">
            <a:solidFill>
              <a:schemeClr val="bg1"/>
            </a:solidFill>
            <a:prstDash val="solid"/>
            <a:round/>
          </a:ln>
        </p:spPr>
      </p:sp>
      <p:sp>
        <p:nvSpPr>
          <p:cNvPr id="7" name="phase-title-60"/>
          <p:cNvSpPr txBox="1"/>
          <p:nvPr/>
        </p:nvSpPr>
        <p:spPr>
          <a:xfrm>
            <a:off x="1508760" y="1801368"/>
            <a:ext cx="1554480" cy="731520"/>
          </a:xfrm>
          <a:prstGeom prst="rect">
            <a:avLst/>
          </a:prstGeom>
          <a:noFill/>
          <a:ln/>
        </p:spPr>
        <p:txBody>
          <a:bodyPr wrap="square" lIns="0" tIns="0" rIns="0" bIns="0" rtlCol="0" anchor="ctr"/>
          <a:lstStyle/>
          <a:p>
            <a:pPr indent="0" marL="0">
              <a:buNone/>
            </a:pPr>
            <a:r>
              <a:rPr lang="en-US" sz="1100" b="1" dirty="0">
                <a:solidFill>
                  <a:schemeClr val="accent3"/>
                </a:solidFill>
                <a:latin typeface="Arial" pitchFamily="34" charset="0"/>
                <a:ea typeface="Arial" pitchFamily="34" charset="-122"/>
                <a:cs typeface="Arial" pitchFamily="34" charset="-120"/>
              </a:rPr>
              <a:t>PHASE 1</a:t>
            </a:r>
            <a:endParaRPr lang="en-US" sz="1100" dirty="0"/>
          </a:p>
          <a:p>
            <a:pPr indent="0" marL="0">
              <a:buNone/>
            </a:pPr>
            <a:r>
              <a:rPr lang="en-US" sz="1600" b="1" dirty="0">
                <a:solidFill>
                  <a:schemeClr val="tx1"/>
                </a:solidFill>
                <a:latin typeface="Arial" pitchFamily="34" charset="0"/>
                <a:ea typeface="Arial" pitchFamily="34" charset="-122"/>
                <a:cs typeface="Arial" pitchFamily="34" charset="-120"/>
              </a:rPr>
              <a:t>Prepare the laptop</a:t>
            </a:r>
            <a:endParaRPr lang="en-US" sz="1100" dirty="0"/>
          </a:p>
        </p:txBody>
      </p:sp>
      <p:sp>
        <p:nvSpPr>
          <p:cNvPr id="8" name="mini-badge-61"/>
          <p:cNvSpPr/>
          <p:nvPr/>
        </p:nvSpPr>
        <p:spPr>
          <a:xfrm>
            <a:off x="822960" y="2834640"/>
            <a:ext cx="438912" cy="438912"/>
          </a:xfrm>
          <a:prstGeom prst="ellipse">
            <a:avLst/>
          </a:prstGeom>
          <a:solidFill>
            <a:schemeClr val="bg1"/>
          </a:solidFill>
          <a:ln w="19050">
            <a:solidFill>
              <a:schemeClr val="accent1"/>
            </a:solidFill>
            <a:prstDash val="solid"/>
          </a:ln>
        </p:spPr>
      </p:sp>
      <p:sp>
        <p:nvSpPr>
          <p:cNvPr id="9" name="mini-num-62"/>
          <p:cNvSpPr txBox="1"/>
          <p:nvPr/>
        </p:nvSpPr>
        <p:spPr>
          <a:xfrm>
            <a:off x="822960" y="2834640"/>
            <a:ext cx="438912" cy="438912"/>
          </a:xfrm>
          <a:prstGeom prst="rect">
            <a:avLst/>
          </a:prstGeom>
          <a:noFill/>
          <a:ln/>
        </p:spPr>
        <p:txBody>
          <a:bodyPr wrap="square" lIns="0" tIns="0" rIns="0" bIns="0" rtlCol="0" anchor="ctr"/>
          <a:lstStyle/>
          <a:p>
            <a:pPr algn="ctr" indent="0" marL="0">
              <a:buNone/>
            </a:pPr>
            <a:r>
              <a:rPr lang="en-US" sz="1400" b="1" dirty="0">
                <a:solidFill>
                  <a:schemeClr val="accent1"/>
                </a:solidFill>
                <a:latin typeface="Arial" pitchFamily="34" charset="0"/>
                <a:ea typeface="Arial" pitchFamily="34" charset="-122"/>
                <a:cs typeface="Arial" pitchFamily="34" charset="-120"/>
              </a:rPr>
              <a:t>1</a:t>
            </a:r>
            <a:endParaRPr lang="en-US" sz="1400" dirty="0"/>
          </a:p>
        </p:txBody>
      </p:sp>
      <p:sp>
        <p:nvSpPr>
          <p:cNvPr id="10" name="step-label-63"/>
          <p:cNvSpPr txBox="1"/>
          <p:nvPr/>
        </p:nvSpPr>
        <p:spPr>
          <a:xfrm>
            <a:off x="1389888" y="2788920"/>
            <a:ext cx="1691640" cy="530352"/>
          </a:xfrm>
          <a:prstGeom prst="rect">
            <a:avLst/>
          </a:prstGeom>
          <a:noFill/>
          <a:ln/>
        </p:spPr>
        <p:txBody>
          <a:bodyPr wrap="square" lIns="0" tIns="0" rIns="0" bIns="0" rtlCol="0" anchor="ctr"/>
          <a:lstStyle/>
          <a:p>
            <a:pPr indent="0" marL="0">
              <a:buNone/>
            </a:pPr>
            <a:r>
              <a:rPr lang="en-US" sz="1400" dirty="0">
                <a:solidFill>
                  <a:schemeClr val="tx1"/>
                </a:solidFill>
              </a:rPr>
              <a:t>Install toolchain</a:t>
            </a:r>
            <a:endParaRPr lang="en-US" sz="1400" dirty="0"/>
          </a:p>
        </p:txBody>
      </p:sp>
      <p:sp>
        <p:nvSpPr>
          <p:cNvPr id="11" name="mini-badge-64"/>
          <p:cNvSpPr/>
          <p:nvPr/>
        </p:nvSpPr>
        <p:spPr>
          <a:xfrm>
            <a:off x="822960" y="3520440"/>
            <a:ext cx="438912" cy="438912"/>
          </a:xfrm>
          <a:prstGeom prst="ellipse">
            <a:avLst/>
          </a:prstGeom>
          <a:solidFill>
            <a:schemeClr val="bg1"/>
          </a:solidFill>
          <a:ln w="19050">
            <a:solidFill>
              <a:schemeClr val="accent1"/>
            </a:solidFill>
            <a:prstDash val="solid"/>
          </a:ln>
        </p:spPr>
      </p:sp>
      <p:sp>
        <p:nvSpPr>
          <p:cNvPr id="12" name="mini-num-65"/>
          <p:cNvSpPr txBox="1"/>
          <p:nvPr/>
        </p:nvSpPr>
        <p:spPr>
          <a:xfrm>
            <a:off x="822960" y="3520440"/>
            <a:ext cx="438912" cy="438912"/>
          </a:xfrm>
          <a:prstGeom prst="rect">
            <a:avLst/>
          </a:prstGeom>
          <a:noFill/>
          <a:ln/>
        </p:spPr>
        <p:txBody>
          <a:bodyPr wrap="square" lIns="0" tIns="0" rIns="0" bIns="0" rtlCol="0" anchor="ctr"/>
          <a:lstStyle/>
          <a:p>
            <a:pPr algn="ctr" indent="0" marL="0">
              <a:buNone/>
            </a:pPr>
            <a:r>
              <a:rPr lang="en-US" sz="1400" b="1" dirty="0">
                <a:solidFill>
                  <a:schemeClr val="accent1"/>
                </a:solidFill>
                <a:latin typeface="Arial" pitchFamily="34" charset="0"/>
                <a:ea typeface="Arial" pitchFamily="34" charset="-122"/>
                <a:cs typeface="Arial" pitchFamily="34" charset="-120"/>
              </a:rPr>
              <a:t>2</a:t>
            </a:r>
            <a:endParaRPr lang="en-US" sz="1400" dirty="0"/>
          </a:p>
        </p:txBody>
      </p:sp>
      <p:sp>
        <p:nvSpPr>
          <p:cNvPr id="13" name="step-label-66"/>
          <p:cNvSpPr txBox="1"/>
          <p:nvPr/>
        </p:nvSpPr>
        <p:spPr>
          <a:xfrm>
            <a:off x="1389888" y="3474720"/>
            <a:ext cx="1691640" cy="530352"/>
          </a:xfrm>
          <a:prstGeom prst="rect">
            <a:avLst/>
          </a:prstGeom>
          <a:noFill/>
          <a:ln/>
        </p:spPr>
        <p:txBody>
          <a:bodyPr wrap="square" lIns="0" tIns="0" rIns="0" bIns="0" rtlCol="0" anchor="ctr"/>
          <a:lstStyle/>
          <a:p>
            <a:pPr indent="0" marL="0">
              <a:buNone/>
            </a:pPr>
            <a:r>
              <a:rPr lang="en-US" sz="1400" dirty="0">
                <a:solidFill>
                  <a:schemeClr val="tx1"/>
                </a:solidFill>
              </a:rPr>
              <a:t>Enable ARM64 builds</a:t>
            </a:r>
            <a:endParaRPr lang="en-US" sz="1400" dirty="0"/>
          </a:p>
        </p:txBody>
      </p:sp>
      <p:sp>
        <p:nvSpPr>
          <p:cNvPr id="14" name="phase-card-67"/>
          <p:cNvSpPr/>
          <p:nvPr/>
        </p:nvSpPr>
        <p:spPr>
          <a:xfrm>
            <a:off x="3355848" y="1600200"/>
            <a:ext cx="2651760" cy="4160520"/>
          </a:xfrm>
          <a:prstGeom prst="roundRect">
            <a:avLst>
              <a:gd name="adj" fmla="val 3448"/>
            </a:avLst>
          </a:prstGeom>
          <a:solidFill>
            <a:schemeClr val="bg2"/>
          </a:solidFill>
          <a:ln/>
        </p:spPr>
      </p:sp>
      <p:sp>
        <p:nvSpPr>
          <p:cNvPr id="15" name="icon-circle-68"/>
          <p:cNvSpPr/>
          <p:nvPr/>
        </p:nvSpPr>
        <p:spPr>
          <a:xfrm>
            <a:off x="3630168" y="1874520"/>
            <a:ext cx="548640" cy="548640"/>
          </a:xfrm>
          <a:prstGeom prst="ellipse">
            <a:avLst/>
          </a:prstGeom>
          <a:solidFill>
            <a:schemeClr val="accent2"/>
          </a:solidFill>
          <a:ln/>
        </p:spPr>
      </p:sp>
      <p:sp>
        <p:nvSpPr>
          <p:cNvPr id="16" name="icon-cloud-69"/>
          <p:cNvSpPr/>
          <p:nvPr/>
        </p:nvSpPr>
        <p:spPr>
          <a:xfrm>
            <a:off x="3761842" y="2006194"/>
            <a:ext cx="285293" cy="285293"/>
          </a:xfrm>
          <a:custGeom>
            <a:avLst/>
            <a:gdLst/>
            <a:ahLst/>
            <a:cxnLst/>
            <a:rect l="l" t="t" r="r" b="b"/>
            <a:pathLst>
              <a:path w="285293" h="285293">
                <a:moveTo>
                  <a:pt x="208026" y="225857"/>
                </a:moveTo>
                <a:lnTo>
                  <a:pt x="106985" y="225857"/>
                </a:lnTo>
                <a:cubicBezTo>
                  <a:pt x="64099" y="225857"/>
                  <a:pt x="28346" y="193304"/>
                  <a:pt x="24140" y="150693"/>
                </a:cubicBezTo>
                <a:cubicBezTo>
                  <a:pt x="20025" y="107991"/>
                  <a:pt x="49012" y="69220"/>
                  <a:pt x="91074" y="60990"/>
                </a:cubicBezTo>
                <a:cubicBezTo>
                  <a:pt x="133045" y="52761"/>
                  <a:pt x="174468" y="77815"/>
                  <a:pt x="186720" y="118872"/>
                </a:cubicBezTo>
                <a:lnTo>
                  <a:pt x="208026" y="118872"/>
                </a:lnTo>
                <a:cubicBezTo>
                  <a:pt x="237561" y="118872"/>
                  <a:pt x="261518" y="142829"/>
                  <a:pt x="261518" y="172364"/>
                </a:cubicBezTo>
                <a:cubicBezTo>
                  <a:pt x="261518" y="201900"/>
                  <a:pt x="237561" y="225857"/>
                  <a:pt x="208026" y="225857"/>
                </a:cubicBezTo>
                <a:close/>
              </a:path>
            </a:pathLst>
          </a:custGeom>
          <a:noFill/>
          <a:ln w="23749" cap="rnd">
            <a:solidFill>
              <a:schemeClr val="bg1"/>
            </a:solidFill>
            <a:prstDash val="solid"/>
            <a:round/>
          </a:ln>
        </p:spPr>
      </p:sp>
      <p:sp>
        <p:nvSpPr>
          <p:cNvPr id="17" name="phase-title-70"/>
          <p:cNvSpPr txBox="1"/>
          <p:nvPr/>
        </p:nvSpPr>
        <p:spPr>
          <a:xfrm>
            <a:off x="4315968" y="1801368"/>
            <a:ext cx="1554480" cy="731520"/>
          </a:xfrm>
          <a:prstGeom prst="rect">
            <a:avLst/>
          </a:prstGeom>
          <a:noFill/>
          <a:ln/>
        </p:spPr>
        <p:txBody>
          <a:bodyPr wrap="square" lIns="0" tIns="0" rIns="0" bIns="0" rtlCol="0" anchor="ctr"/>
          <a:lstStyle/>
          <a:p>
            <a:pPr indent="0" marL="0">
              <a:buNone/>
            </a:pPr>
            <a:r>
              <a:rPr lang="en-US" sz="1100" b="1" dirty="0">
                <a:solidFill>
                  <a:schemeClr val="accent3"/>
                </a:solidFill>
                <a:latin typeface="Arial" pitchFamily="34" charset="0"/>
                <a:ea typeface="Arial" pitchFamily="34" charset="-122"/>
                <a:cs typeface="Arial" pitchFamily="34" charset="-120"/>
              </a:rPr>
              <a:t>PHASE 2</a:t>
            </a:r>
            <a:endParaRPr lang="en-US" sz="1100" dirty="0"/>
          </a:p>
          <a:p>
            <a:pPr indent="0" marL="0">
              <a:buNone/>
            </a:pPr>
            <a:r>
              <a:rPr lang="en-US" sz="1600" b="1" dirty="0">
                <a:solidFill>
                  <a:schemeClr val="tx1"/>
                </a:solidFill>
                <a:latin typeface="Arial" pitchFamily="34" charset="0"/>
                <a:ea typeface="Arial" pitchFamily="34" charset="-122"/>
                <a:cs typeface="Arial" pitchFamily="34" charset="-120"/>
              </a:rPr>
              <a:t>Prepare the AWS account</a:t>
            </a:r>
            <a:endParaRPr lang="en-US" sz="1100" dirty="0"/>
          </a:p>
        </p:txBody>
      </p:sp>
      <p:sp>
        <p:nvSpPr>
          <p:cNvPr id="18" name="mini-badge-71"/>
          <p:cNvSpPr/>
          <p:nvPr/>
        </p:nvSpPr>
        <p:spPr>
          <a:xfrm>
            <a:off x="3630168" y="2834640"/>
            <a:ext cx="438912" cy="438912"/>
          </a:xfrm>
          <a:prstGeom prst="ellipse">
            <a:avLst/>
          </a:prstGeom>
          <a:solidFill>
            <a:schemeClr val="bg1"/>
          </a:solidFill>
          <a:ln w="19050">
            <a:solidFill>
              <a:schemeClr val="accent1"/>
            </a:solidFill>
            <a:prstDash val="solid"/>
          </a:ln>
        </p:spPr>
      </p:sp>
      <p:sp>
        <p:nvSpPr>
          <p:cNvPr id="19" name="mini-num-72"/>
          <p:cNvSpPr txBox="1"/>
          <p:nvPr/>
        </p:nvSpPr>
        <p:spPr>
          <a:xfrm>
            <a:off x="3630168" y="2834640"/>
            <a:ext cx="438912" cy="438912"/>
          </a:xfrm>
          <a:prstGeom prst="rect">
            <a:avLst/>
          </a:prstGeom>
          <a:noFill/>
          <a:ln/>
        </p:spPr>
        <p:txBody>
          <a:bodyPr wrap="square" lIns="0" tIns="0" rIns="0" bIns="0" rtlCol="0" anchor="ctr"/>
          <a:lstStyle/>
          <a:p>
            <a:pPr algn="ctr" indent="0" marL="0">
              <a:buNone/>
            </a:pPr>
            <a:r>
              <a:rPr lang="en-US" sz="1400" b="1" dirty="0">
                <a:solidFill>
                  <a:schemeClr val="accent1"/>
                </a:solidFill>
                <a:latin typeface="Arial" pitchFamily="34" charset="0"/>
                <a:ea typeface="Arial" pitchFamily="34" charset="-122"/>
                <a:cs typeface="Arial" pitchFamily="34" charset="-120"/>
              </a:rPr>
              <a:t>3</a:t>
            </a:r>
            <a:endParaRPr lang="en-US" sz="1400" dirty="0"/>
          </a:p>
        </p:txBody>
      </p:sp>
      <p:sp>
        <p:nvSpPr>
          <p:cNvPr id="20" name="step-label-73"/>
          <p:cNvSpPr txBox="1"/>
          <p:nvPr/>
        </p:nvSpPr>
        <p:spPr>
          <a:xfrm>
            <a:off x="4197096" y="2788920"/>
            <a:ext cx="1691640" cy="530352"/>
          </a:xfrm>
          <a:prstGeom prst="rect">
            <a:avLst/>
          </a:prstGeom>
          <a:noFill/>
          <a:ln/>
        </p:spPr>
        <p:txBody>
          <a:bodyPr wrap="square" lIns="0" tIns="0" rIns="0" bIns="0" rtlCol="0" anchor="ctr"/>
          <a:lstStyle/>
          <a:p>
            <a:pPr indent="0" marL="0">
              <a:buNone/>
            </a:pPr>
            <a:r>
              <a:rPr lang="en-US" sz="1400" dirty="0">
                <a:solidFill>
                  <a:schemeClr val="tx1"/>
                </a:solidFill>
              </a:rPr>
              <a:t>Credentials &amp; region</a:t>
            </a:r>
            <a:endParaRPr lang="en-US" sz="1400" dirty="0"/>
          </a:p>
        </p:txBody>
      </p:sp>
      <p:sp>
        <p:nvSpPr>
          <p:cNvPr id="21" name="mini-badge-74"/>
          <p:cNvSpPr/>
          <p:nvPr/>
        </p:nvSpPr>
        <p:spPr>
          <a:xfrm>
            <a:off x="3630168" y="3520440"/>
            <a:ext cx="438912" cy="438912"/>
          </a:xfrm>
          <a:prstGeom prst="ellipse">
            <a:avLst/>
          </a:prstGeom>
          <a:solidFill>
            <a:schemeClr val="bg1"/>
          </a:solidFill>
          <a:ln w="19050">
            <a:solidFill>
              <a:schemeClr val="accent1"/>
            </a:solidFill>
            <a:prstDash val="solid"/>
          </a:ln>
        </p:spPr>
      </p:sp>
      <p:sp>
        <p:nvSpPr>
          <p:cNvPr id="22" name="mini-num-75"/>
          <p:cNvSpPr txBox="1"/>
          <p:nvPr/>
        </p:nvSpPr>
        <p:spPr>
          <a:xfrm>
            <a:off x="3630168" y="3520440"/>
            <a:ext cx="438912" cy="438912"/>
          </a:xfrm>
          <a:prstGeom prst="rect">
            <a:avLst/>
          </a:prstGeom>
          <a:noFill/>
          <a:ln/>
        </p:spPr>
        <p:txBody>
          <a:bodyPr wrap="square" lIns="0" tIns="0" rIns="0" bIns="0" rtlCol="0" anchor="ctr"/>
          <a:lstStyle/>
          <a:p>
            <a:pPr algn="ctr" indent="0" marL="0">
              <a:buNone/>
            </a:pPr>
            <a:r>
              <a:rPr lang="en-US" sz="1400" b="1" dirty="0">
                <a:solidFill>
                  <a:schemeClr val="accent1"/>
                </a:solidFill>
                <a:latin typeface="Arial" pitchFamily="34" charset="0"/>
                <a:ea typeface="Arial" pitchFamily="34" charset="-122"/>
                <a:cs typeface="Arial" pitchFamily="34" charset="-120"/>
              </a:rPr>
              <a:t>4</a:t>
            </a:r>
            <a:endParaRPr lang="en-US" sz="1400" dirty="0"/>
          </a:p>
        </p:txBody>
      </p:sp>
      <p:sp>
        <p:nvSpPr>
          <p:cNvPr id="23" name="step-label-76"/>
          <p:cNvSpPr txBox="1"/>
          <p:nvPr/>
        </p:nvSpPr>
        <p:spPr>
          <a:xfrm>
            <a:off x="4197096" y="3474720"/>
            <a:ext cx="1691640" cy="530352"/>
          </a:xfrm>
          <a:prstGeom prst="rect">
            <a:avLst/>
          </a:prstGeom>
          <a:noFill/>
          <a:ln/>
        </p:spPr>
        <p:txBody>
          <a:bodyPr wrap="square" lIns="0" tIns="0" rIns="0" bIns="0" rtlCol="0" anchor="ctr"/>
          <a:lstStyle/>
          <a:p>
            <a:pPr indent="0" marL="0">
              <a:buNone/>
            </a:pPr>
            <a:r>
              <a:rPr lang="en-US" sz="1400" dirty="0">
                <a:solidFill>
                  <a:schemeClr val="tx1"/>
                </a:solidFill>
              </a:rPr>
              <a:t>Check service quotas</a:t>
            </a:r>
            <a:endParaRPr lang="en-US" sz="1400" dirty="0"/>
          </a:p>
        </p:txBody>
      </p:sp>
      <p:sp>
        <p:nvSpPr>
          <p:cNvPr id="24" name="mini-badge-77"/>
          <p:cNvSpPr/>
          <p:nvPr/>
        </p:nvSpPr>
        <p:spPr>
          <a:xfrm>
            <a:off x="3630168" y="4206240"/>
            <a:ext cx="438912" cy="438912"/>
          </a:xfrm>
          <a:prstGeom prst="ellipse">
            <a:avLst/>
          </a:prstGeom>
          <a:solidFill>
            <a:schemeClr val="bg1"/>
          </a:solidFill>
          <a:ln w="19050">
            <a:solidFill>
              <a:schemeClr val="accent1"/>
            </a:solidFill>
            <a:prstDash val="solid"/>
          </a:ln>
        </p:spPr>
      </p:sp>
      <p:sp>
        <p:nvSpPr>
          <p:cNvPr id="25" name="mini-num-78"/>
          <p:cNvSpPr txBox="1"/>
          <p:nvPr/>
        </p:nvSpPr>
        <p:spPr>
          <a:xfrm>
            <a:off x="3630168" y="4206240"/>
            <a:ext cx="438912" cy="438912"/>
          </a:xfrm>
          <a:prstGeom prst="rect">
            <a:avLst/>
          </a:prstGeom>
          <a:noFill/>
          <a:ln/>
        </p:spPr>
        <p:txBody>
          <a:bodyPr wrap="square" lIns="0" tIns="0" rIns="0" bIns="0" rtlCol="0" anchor="ctr"/>
          <a:lstStyle/>
          <a:p>
            <a:pPr algn="ctr" indent="0" marL="0">
              <a:buNone/>
            </a:pPr>
            <a:r>
              <a:rPr lang="en-US" sz="1400" b="1" dirty="0">
                <a:solidFill>
                  <a:schemeClr val="accent1"/>
                </a:solidFill>
                <a:latin typeface="Arial" pitchFamily="34" charset="0"/>
                <a:ea typeface="Arial" pitchFamily="34" charset="-122"/>
                <a:cs typeface="Arial" pitchFamily="34" charset="-120"/>
              </a:rPr>
              <a:t>5</a:t>
            </a:r>
            <a:endParaRPr lang="en-US" sz="1400" dirty="0"/>
          </a:p>
        </p:txBody>
      </p:sp>
      <p:sp>
        <p:nvSpPr>
          <p:cNvPr id="26" name="step-label-79"/>
          <p:cNvSpPr txBox="1"/>
          <p:nvPr/>
        </p:nvSpPr>
        <p:spPr>
          <a:xfrm>
            <a:off x="4197096" y="4160520"/>
            <a:ext cx="1691640" cy="530352"/>
          </a:xfrm>
          <a:prstGeom prst="rect">
            <a:avLst/>
          </a:prstGeom>
          <a:noFill/>
          <a:ln/>
        </p:spPr>
        <p:txBody>
          <a:bodyPr wrap="square" lIns="0" tIns="0" rIns="0" bIns="0" rtlCol="0" anchor="ctr"/>
          <a:lstStyle/>
          <a:p>
            <a:pPr indent="0" marL="0">
              <a:buNone/>
            </a:pPr>
            <a:r>
              <a:rPr lang="en-US" sz="1400" dirty="0">
                <a:solidFill>
                  <a:schemeClr val="tx1"/>
                </a:solidFill>
              </a:rPr>
              <a:t>Enable Bedrock models</a:t>
            </a:r>
            <a:endParaRPr lang="en-US" sz="1400" dirty="0"/>
          </a:p>
        </p:txBody>
      </p:sp>
      <p:sp>
        <p:nvSpPr>
          <p:cNvPr id="27" name="mini-badge-80"/>
          <p:cNvSpPr/>
          <p:nvPr/>
        </p:nvSpPr>
        <p:spPr>
          <a:xfrm>
            <a:off x="3630168" y="4892040"/>
            <a:ext cx="438912" cy="438912"/>
          </a:xfrm>
          <a:prstGeom prst="ellipse">
            <a:avLst/>
          </a:prstGeom>
          <a:solidFill>
            <a:schemeClr val="bg1"/>
          </a:solidFill>
          <a:ln w="19050">
            <a:solidFill>
              <a:schemeClr val="accent1"/>
            </a:solidFill>
            <a:prstDash val="solid"/>
          </a:ln>
        </p:spPr>
      </p:sp>
      <p:sp>
        <p:nvSpPr>
          <p:cNvPr id="28" name="mini-num-81"/>
          <p:cNvSpPr txBox="1"/>
          <p:nvPr/>
        </p:nvSpPr>
        <p:spPr>
          <a:xfrm>
            <a:off x="3630168" y="4892040"/>
            <a:ext cx="438912" cy="438912"/>
          </a:xfrm>
          <a:prstGeom prst="rect">
            <a:avLst/>
          </a:prstGeom>
          <a:noFill/>
          <a:ln/>
        </p:spPr>
        <p:txBody>
          <a:bodyPr wrap="square" lIns="0" tIns="0" rIns="0" bIns="0" rtlCol="0" anchor="ctr"/>
          <a:lstStyle/>
          <a:p>
            <a:pPr algn="ctr" indent="0" marL="0">
              <a:buNone/>
            </a:pPr>
            <a:r>
              <a:rPr lang="en-US" sz="1400" b="1" dirty="0">
                <a:solidFill>
                  <a:schemeClr val="accent1"/>
                </a:solidFill>
                <a:latin typeface="Arial" pitchFamily="34" charset="0"/>
                <a:ea typeface="Arial" pitchFamily="34" charset="-122"/>
                <a:cs typeface="Arial" pitchFamily="34" charset="-120"/>
              </a:rPr>
              <a:t>6</a:t>
            </a:r>
            <a:endParaRPr lang="en-US" sz="1400" dirty="0"/>
          </a:p>
        </p:txBody>
      </p:sp>
      <p:sp>
        <p:nvSpPr>
          <p:cNvPr id="29" name="step-label-82"/>
          <p:cNvSpPr txBox="1"/>
          <p:nvPr/>
        </p:nvSpPr>
        <p:spPr>
          <a:xfrm>
            <a:off x="4197096" y="4846320"/>
            <a:ext cx="1691640" cy="530352"/>
          </a:xfrm>
          <a:prstGeom prst="rect">
            <a:avLst/>
          </a:prstGeom>
          <a:noFill/>
          <a:ln/>
        </p:spPr>
        <p:txBody>
          <a:bodyPr wrap="square" lIns="0" tIns="0" rIns="0" bIns="0" rtlCol="0" anchor="ctr"/>
          <a:lstStyle/>
          <a:p>
            <a:pPr indent="0" marL="0">
              <a:buNone/>
            </a:pPr>
            <a:r>
              <a:rPr lang="en-US" sz="1400" dirty="0">
                <a:solidFill>
                  <a:schemeClr val="tx1"/>
                </a:solidFill>
              </a:rPr>
              <a:t>SMUS admin principal</a:t>
            </a:r>
            <a:endParaRPr lang="en-US" sz="1400" dirty="0"/>
          </a:p>
        </p:txBody>
      </p:sp>
      <p:sp>
        <p:nvSpPr>
          <p:cNvPr id="30" name="phase-card-83"/>
          <p:cNvSpPr/>
          <p:nvPr/>
        </p:nvSpPr>
        <p:spPr>
          <a:xfrm>
            <a:off x="6163056" y="1600200"/>
            <a:ext cx="2651760" cy="4160520"/>
          </a:xfrm>
          <a:prstGeom prst="roundRect">
            <a:avLst>
              <a:gd name="adj" fmla="val 3448"/>
            </a:avLst>
          </a:prstGeom>
          <a:solidFill>
            <a:schemeClr val="bg2"/>
          </a:solidFill>
          <a:ln/>
        </p:spPr>
      </p:sp>
      <p:sp>
        <p:nvSpPr>
          <p:cNvPr id="31" name="icon-circle-84"/>
          <p:cNvSpPr/>
          <p:nvPr/>
        </p:nvSpPr>
        <p:spPr>
          <a:xfrm>
            <a:off x="6437376" y="1874520"/>
            <a:ext cx="548640" cy="548640"/>
          </a:xfrm>
          <a:prstGeom prst="ellipse">
            <a:avLst/>
          </a:prstGeom>
          <a:solidFill>
            <a:schemeClr val="accent1"/>
          </a:solidFill>
          <a:ln/>
        </p:spPr>
      </p:sp>
      <p:sp>
        <p:nvSpPr>
          <p:cNvPr id="32" name="icon-rocket-85"/>
          <p:cNvSpPr/>
          <p:nvPr/>
        </p:nvSpPr>
        <p:spPr>
          <a:xfrm>
            <a:off x="6569050" y="2006194"/>
            <a:ext cx="285293" cy="285293"/>
          </a:xfrm>
          <a:custGeom>
            <a:avLst/>
            <a:gdLst/>
            <a:ahLst/>
            <a:cxnLst/>
            <a:rect l="l" t="t" r="r" b="b"/>
            <a:pathLst>
              <a:path w="285293" h="285293">
                <a:moveTo>
                  <a:pt x="53492" y="196139"/>
                </a:moveTo>
                <a:cubicBezTo>
                  <a:pt x="35662" y="211135"/>
                  <a:pt x="29718" y="255575"/>
                  <a:pt x="29718" y="255575"/>
                </a:cubicBezTo>
                <a:cubicBezTo>
                  <a:pt x="29718" y="255575"/>
                  <a:pt x="74158" y="249631"/>
                  <a:pt x="89154" y="231800"/>
                </a:cubicBezTo>
                <a:cubicBezTo>
                  <a:pt x="97566" y="221833"/>
                  <a:pt x="97475" y="206472"/>
                  <a:pt x="88057" y="197236"/>
                </a:cubicBezTo>
                <a:cubicBezTo>
                  <a:pt x="78547" y="188092"/>
                  <a:pt x="63642" y="187635"/>
                  <a:pt x="53492" y="196139"/>
                </a:cubicBezTo>
                <a:close/>
                <a:moveTo>
                  <a:pt x="142646" y="178308"/>
                </a:moveTo>
                <a:lnTo>
                  <a:pt x="106985" y="142646"/>
                </a:lnTo>
                <a:cubicBezTo>
                  <a:pt x="113294" y="126279"/>
                  <a:pt x="121249" y="110460"/>
                  <a:pt x="130759" y="95646"/>
                </a:cubicBezTo>
                <a:cubicBezTo>
                  <a:pt x="158923" y="50658"/>
                  <a:pt x="208392" y="23409"/>
                  <a:pt x="261518" y="23774"/>
                </a:cubicBezTo>
                <a:cubicBezTo>
                  <a:pt x="261518" y="56144"/>
                  <a:pt x="252283" y="112928"/>
                  <a:pt x="190195" y="154534"/>
                </a:cubicBezTo>
                <a:cubicBezTo>
                  <a:pt x="175199" y="164043"/>
                  <a:pt x="159288" y="171999"/>
                  <a:pt x="142646" y="178308"/>
                </a:cubicBezTo>
                <a:close/>
                <a:moveTo>
                  <a:pt x="106985" y="142646"/>
                </a:moveTo>
                <a:lnTo>
                  <a:pt x="47549" y="142646"/>
                </a:lnTo>
                <a:cubicBezTo>
                  <a:pt x="47549" y="142646"/>
                  <a:pt x="54041" y="106619"/>
                  <a:pt x="71323" y="95098"/>
                </a:cubicBezTo>
                <a:cubicBezTo>
                  <a:pt x="90617" y="82296"/>
                  <a:pt x="130759" y="95098"/>
                  <a:pt x="130759" y="95098"/>
                </a:cubicBezTo>
                <a:moveTo>
                  <a:pt x="142646" y="178308"/>
                </a:moveTo>
                <a:lnTo>
                  <a:pt x="142646" y="237744"/>
                </a:lnTo>
                <a:cubicBezTo>
                  <a:pt x="142646" y="237744"/>
                  <a:pt x="178674" y="231160"/>
                  <a:pt x="190195" y="213970"/>
                </a:cubicBezTo>
                <a:cubicBezTo>
                  <a:pt x="202997" y="194676"/>
                  <a:pt x="190195" y="154534"/>
                  <a:pt x="190195" y="154534"/>
                </a:cubicBezTo>
              </a:path>
            </a:pathLst>
          </a:custGeom>
          <a:noFill/>
          <a:ln w="23749" cap="rnd">
            <a:solidFill>
              <a:schemeClr val="bg1"/>
            </a:solidFill>
            <a:prstDash val="solid"/>
            <a:round/>
          </a:ln>
        </p:spPr>
      </p:sp>
      <p:sp>
        <p:nvSpPr>
          <p:cNvPr id="33" name="phase-title-86"/>
          <p:cNvSpPr txBox="1"/>
          <p:nvPr/>
        </p:nvSpPr>
        <p:spPr>
          <a:xfrm>
            <a:off x="7123176" y="1801368"/>
            <a:ext cx="1554480" cy="731520"/>
          </a:xfrm>
          <a:prstGeom prst="rect">
            <a:avLst/>
          </a:prstGeom>
          <a:noFill/>
          <a:ln/>
        </p:spPr>
        <p:txBody>
          <a:bodyPr wrap="square" lIns="0" tIns="0" rIns="0" bIns="0" rtlCol="0" anchor="ctr"/>
          <a:lstStyle/>
          <a:p>
            <a:pPr indent="0" marL="0">
              <a:buNone/>
            </a:pPr>
            <a:r>
              <a:rPr lang="en-US" sz="1100" b="1" dirty="0">
                <a:solidFill>
                  <a:schemeClr val="accent3"/>
                </a:solidFill>
                <a:latin typeface="Arial" pitchFamily="34" charset="0"/>
                <a:ea typeface="Arial" pitchFamily="34" charset="-122"/>
                <a:cs typeface="Arial" pitchFamily="34" charset="-120"/>
              </a:rPr>
              <a:t>PHASE 3</a:t>
            </a:r>
            <a:endParaRPr lang="en-US" sz="1100" dirty="0"/>
          </a:p>
          <a:p>
            <a:pPr indent="0" marL="0">
              <a:buNone/>
            </a:pPr>
            <a:r>
              <a:rPr lang="en-US" sz="1600" b="1" dirty="0">
                <a:solidFill>
                  <a:schemeClr val="tx1"/>
                </a:solidFill>
                <a:latin typeface="Arial" pitchFamily="34" charset="0"/>
                <a:ea typeface="Arial" pitchFamily="34" charset="-122"/>
                <a:cs typeface="Arial" pitchFamily="34" charset="-120"/>
              </a:rPr>
              <a:t>Deploy</a:t>
            </a:r>
            <a:endParaRPr lang="en-US" sz="1100" dirty="0"/>
          </a:p>
        </p:txBody>
      </p:sp>
      <p:sp>
        <p:nvSpPr>
          <p:cNvPr id="34" name="mini-badge-87"/>
          <p:cNvSpPr/>
          <p:nvPr/>
        </p:nvSpPr>
        <p:spPr>
          <a:xfrm>
            <a:off x="6437376" y="2834640"/>
            <a:ext cx="438912" cy="438912"/>
          </a:xfrm>
          <a:prstGeom prst="ellipse">
            <a:avLst/>
          </a:prstGeom>
          <a:solidFill>
            <a:schemeClr val="bg1"/>
          </a:solidFill>
          <a:ln w="19050">
            <a:solidFill>
              <a:schemeClr val="accent1"/>
            </a:solidFill>
            <a:prstDash val="solid"/>
          </a:ln>
        </p:spPr>
      </p:sp>
      <p:sp>
        <p:nvSpPr>
          <p:cNvPr id="35" name="mini-num-88"/>
          <p:cNvSpPr txBox="1"/>
          <p:nvPr/>
        </p:nvSpPr>
        <p:spPr>
          <a:xfrm>
            <a:off x="6437376" y="2834640"/>
            <a:ext cx="438912" cy="438912"/>
          </a:xfrm>
          <a:prstGeom prst="rect">
            <a:avLst/>
          </a:prstGeom>
          <a:noFill/>
          <a:ln/>
        </p:spPr>
        <p:txBody>
          <a:bodyPr wrap="square" lIns="0" tIns="0" rIns="0" bIns="0" rtlCol="0" anchor="ctr"/>
          <a:lstStyle/>
          <a:p>
            <a:pPr algn="ctr" indent="0" marL="0">
              <a:buNone/>
            </a:pPr>
            <a:r>
              <a:rPr lang="en-US" sz="1400" b="1" dirty="0">
                <a:solidFill>
                  <a:schemeClr val="accent1"/>
                </a:solidFill>
                <a:latin typeface="Arial" pitchFamily="34" charset="0"/>
                <a:ea typeface="Arial" pitchFamily="34" charset="-122"/>
                <a:cs typeface="Arial" pitchFamily="34" charset="-120"/>
              </a:rPr>
              <a:t>7</a:t>
            </a:r>
            <a:endParaRPr lang="en-US" sz="1400" dirty="0"/>
          </a:p>
        </p:txBody>
      </p:sp>
      <p:sp>
        <p:nvSpPr>
          <p:cNvPr id="36" name="step-label-89"/>
          <p:cNvSpPr txBox="1"/>
          <p:nvPr/>
        </p:nvSpPr>
        <p:spPr>
          <a:xfrm>
            <a:off x="7004304" y="2788920"/>
            <a:ext cx="1691640" cy="530352"/>
          </a:xfrm>
          <a:prstGeom prst="rect">
            <a:avLst/>
          </a:prstGeom>
          <a:noFill/>
          <a:ln/>
        </p:spPr>
        <p:txBody>
          <a:bodyPr wrap="square" lIns="0" tIns="0" rIns="0" bIns="0" rtlCol="0" anchor="ctr"/>
          <a:lstStyle/>
          <a:p>
            <a:pPr indent="0" marL="0">
              <a:buNone/>
            </a:pPr>
            <a:r>
              <a:rPr lang="en-US" sz="1400" dirty="0">
                <a:solidFill>
                  <a:schemeClr val="tx1"/>
                </a:solidFill>
              </a:rPr>
              <a:t>Clone &amp; make setup</a:t>
            </a:r>
            <a:endParaRPr lang="en-US" sz="1400" dirty="0"/>
          </a:p>
        </p:txBody>
      </p:sp>
      <p:sp>
        <p:nvSpPr>
          <p:cNvPr id="37" name="mini-badge-90"/>
          <p:cNvSpPr/>
          <p:nvPr/>
        </p:nvSpPr>
        <p:spPr>
          <a:xfrm>
            <a:off x="6437376" y="3520440"/>
            <a:ext cx="438912" cy="438912"/>
          </a:xfrm>
          <a:prstGeom prst="ellipse">
            <a:avLst/>
          </a:prstGeom>
          <a:solidFill>
            <a:schemeClr val="bg1"/>
          </a:solidFill>
          <a:ln w="19050">
            <a:solidFill>
              <a:schemeClr val="accent1"/>
            </a:solidFill>
            <a:prstDash val="solid"/>
          </a:ln>
        </p:spPr>
      </p:sp>
      <p:sp>
        <p:nvSpPr>
          <p:cNvPr id="38" name="mini-num-91"/>
          <p:cNvSpPr txBox="1"/>
          <p:nvPr/>
        </p:nvSpPr>
        <p:spPr>
          <a:xfrm>
            <a:off x="6437376" y="3520440"/>
            <a:ext cx="438912" cy="438912"/>
          </a:xfrm>
          <a:prstGeom prst="rect">
            <a:avLst/>
          </a:prstGeom>
          <a:noFill/>
          <a:ln/>
        </p:spPr>
        <p:txBody>
          <a:bodyPr wrap="square" lIns="0" tIns="0" rIns="0" bIns="0" rtlCol="0" anchor="ctr"/>
          <a:lstStyle/>
          <a:p>
            <a:pPr algn="ctr" indent="0" marL="0">
              <a:buNone/>
            </a:pPr>
            <a:r>
              <a:rPr lang="en-US" sz="1400" b="1" dirty="0">
                <a:solidFill>
                  <a:schemeClr val="accent1"/>
                </a:solidFill>
                <a:latin typeface="Arial" pitchFamily="34" charset="0"/>
                <a:ea typeface="Arial" pitchFamily="34" charset="-122"/>
                <a:cs typeface="Arial" pitchFamily="34" charset="-120"/>
              </a:rPr>
              <a:t>8</a:t>
            </a:r>
            <a:endParaRPr lang="en-US" sz="1400" dirty="0"/>
          </a:p>
        </p:txBody>
      </p:sp>
      <p:sp>
        <p:nvSpPr>
          <p:cNvPr id="39" name="step-label-92"/>
          <p:cNvSpPr txBox="1"/>
          <p:nvPr/>
        </p:nvSpPr>
        <p:spPr>
          <a:xfrm>
            <a:off x="7004304" y="3474720"/>
            <a:ext cx="1691640" cy="530352"/>
          </a:xfrm>
          <a:prstGeom prst="rect">
            <a:avLst/>
          </a:prstGeom>
          <a:noFill/>
          <a:ln/>
        </p:spPr>
        <p:txBody>
          <a:bodyPr wrap="square" lIns="0" tIns="0" rIns="0" bIns="0" rtlCol="0" anchor="ctr"/>
          <a:lstStyle/>
          <a:p>
            <a:pPr indent="0" marL="0">
              <a:buNone/>
            </a:pPr>
            <a:r>
              <a:rPr lang="en-US" sz="1400" dirty="0">
                <a:solidFill>
                  <a:schemeClr val="tx1"/>
                </a:solidFill>
              </a:rPr>
              <a:t>SSM config &amp; bootstrap</a:t>
            </a:r>
            <a:endParaRPr lang="en-US" sz="1400" dirty="0"/>
          </a:p>
        </p:txBody>
      </p:sp>
      <p:sp>
        <p:nvSpPr>
          <p:cNvPr id="40" name="mini-badge-93"/>
          <p:cNvSpPr/>
          <p:nvPr/>
        </p:nvSpPr>
        <p:spPr>
          <a:xfrm>
            <a:off x="6437376" y="4206240"/>
            <a:ext cx="438912" cy="438912"/>
          </a:xfrm>
          <a:prstGeom prst="ellipse">
            <a:avLst/>
          </a:prstGeom>
          <a:solidFill>
            <a:schemeClr val="bg1"/>
          </a:solidFill>
          <a:ln w="19050">
            <a:solidFill>
              <a:schemeClr val="accent1"/>
            </a:solidFill>
            <a:prstDash val="solid"/>
          </a:ln>
        </p:spPr>
      </p:sp>
      <p:sp>
        <p:nvSpPr>
          <p:cNvPr id="41" name="mini-num-94"/>
          <p:cNvSpPr txBox="1"/>
          <p:nvPr/>
        </p:nvSpPr>
        <p:spPr>
          <a:xfrm>
            <a:off x="6437376" y="4206240"/>
            <a:ext cx="438912" cy="438912"/>
          </a:xfrm>
          <a:prstGeom prst="rect">
            <a:avLst/>
          </a:prstGeom>
          <a:noFill/>
          <a:ln/>
        </p:spPr>
        <p:txBody>
          <a:bodyPr wrap="square" lIns="0" tIns="0" rIns="0" bIns="0" rtlCol="0" anchor="ctr"/>
          <a:lstStyle/>
          <a:p>
            <a:pPr algn="ctr" indent="0" marL="0">
              <a:buNone/>
            </a:pPr>
            <a:r>
              <a:rPr lang="en-US" sz="1400" b="1" dirty="0">
                <a:solidFill>
                  <a:schemeClr val="accent1"/>
                </a:solidFill>
                <a:latin typeface="Arial" pitchFamily="34" charset="0"/>
                <a:ea typeface="Arial" pitchFamily="34" charset="-122"/>
                <a:cs typeface="Arial" pitchFamily="34" charset="-120"/>
              </a:rPr>
              <a:t>9</a:t>
            </a:r>
            <a:endParaRPr lang="en-US" sz="1400" dirty="0"/>
          </a:p>
        </p:txBody>
      </p:sp>
      <p:sp>
        <p:nvSpPr>
          <p:cNvPr id="42" name="step-label-95"/>
          <p:cNvSpPr txBox="1"/>
          <p:nvPr/>
        </p:nvSpPr>
        <p:spPr>
          <a:xfrm>
            <a:off x="7004304" y="4160520"/>
            <a:ext cx="1691640" cy="530352"/>
          </a:xfrm>
          <a:prstGeom prst="rect">
            <a:avLst/>
          </a:prstGeom>
          <a:noFill/>
          <a:ln/>
        </p:spPr>
        <p:txBody>
          <a:bodyPr wrap="square" lIns="0" tIns="0" rIns="0" bIns="0" rtlCol="0" anchor="ctr"/>
          <a:lstStyle/>
          <a:p>
            <a:pPr indent="0" marL="0">
              <a:buNone/>
            </a:pPr>
            <a:r>
              <a:rPr lang="en-US" sz="1400" dirty="0">
                <a:solidFill>
                  <a:schemeClr val="tx1"/>
                </a:solidFill>
              </a:rPr>
              <a:t>Run make deploy-dev</a:t>
            </a:r>
            <a:endParaRPr lang="en-US" sz="1400" dirty="0"/>
          </a:p>
        </p:txBody>
      </p:sp>
      <p:sp>
        <p:nvSpPr>
          <p:cNvPr id="43" name="phase-card-96"/>
          <p:cNvSpPr/>
          <p:nvPr/>
        </p:nvSpPr>
        <p:spPr>
          <a:xfrm>
            <a:off x="8970264" y="1600200"/>
            <a:ext cx="2651760" cy="4160520"/>
          </a:xfrm>
          <a:prstGeom prst="roundRect">
            <a:avLst>
              <a:gd name="adj" fmla="val 3448"/>
            </a:avLst>
          </a:prstGeom>
          <a:solidFill>
            <a:schemeClr val="bg2"/>
          </a:solidFill>
          <a:ln/>
        </p:spPr>
      </p:sp>
      <p:sp>
        <p:nvSpPr>
          <p:cNvPr id="44" name="icon-circle-97"/>
          <p:cNvSpPr/>
          <p:nvPr/>
        </p:nvSpPr>
        <p:spPr>
          <a:xfrm>
            <a:off x="9244584" y="1874520"/>
            <a:ext cx="548640" cy="548640"/>
          </a:xfrm>
          <a:prstGeom prst="ellipse">
            <a:avLst/>
          </a:prstGeom>
          <a:solidFill>
            <a:schemeClr val="accent2"/>
          </a:solidFill>
          <a:ln/>
        </p:spPr>
      </p:sp>
      <p:sp>
        <p:nvSpPr>
          <p:cNvPr id="45" name="icon-login-98"/>
          <p:cNvSpPr/>
          <p:nvPr/>
        </p:nvSpPr>
        <p:spPr>
          <a:xfrm>
            <a:off x="9376258" y="2006194"/>
            <a:ext cx="285293" cy="285293"/>
          </a:xfrm>
          <a:custGeom>
            <a:avLst/>
            <a:gdLst/>
            <a:ahLst/>
            <a:cxnLst/>
            <a:rect l="l" t="t" r="r" b="b"/>
            <a:pathLst>
              <a:path w="285293" h="285293">
                <a:moveTo>
                  <a:pt x="178308" y="35662"/>
                </a:moveTo>
                <a:lnTo>
                  <a:pt x="225857" y="35662"/>
                </a:lnTo>
                <a:cubicBezTo>
                  <a:pt x="239024" y="35662"/>
                  <a:pt x="249631" y="46269"/>
                  <a:pt x="249631" y="59436"/>
                </a:cubicBezTo>
                <a:lnTo>
                  <a:pt x="249631" y="225857"/>
                </a:lnTo>
                <a:cubicBezTo>
                  <a:pt x="249631" y="239024"/>
                  <a:pt x="239024" y="249631"/>
                  <a:pt x="225857" y="249631"/>
                </a:cubicBezTo>
                <a:lnTo>
                  <a:pt x="178308" y="249631"/>
                </a:lnTo>
                <a:moveTo>
                  <a:pt x="118872" y="202082"/>
                </a:moveTo>
                <a:lnTo>
                  <a:pt x="178308" y="142646"/>
                </a:lnTo>
                <a:lnTo>
                  <a:pt x="118872" y="83210"/>
                </a:lnTo>
                <a:moveTo>
                  <a:pt x="178308" y="142646"/>
                </a:moveTo>
                <a:lnTo>
                  <a:pt x="35662" y="142646"/>
                </a:lnTo>
              </a:path>
            </a:pathLst>
          </a:custGeom>
          <a:noFill/>
          <a:ln w="23749" cap="rnd">
            <a:solidFill>
              <a:schemeClr val="bg1"/>
            </a:solidFill>
            <a:prstDash val="solid"/>
            <a:round/>
          </a:ln>
        </p:spPr>
      </p:sp>
      <p:sp>
        <p:nvSpPr>
          <p:cNvPr id="46" name="phase-title-99"/>
          <p:cNvSpPr txBox="1"/>
          <p:nvPr/>
        </p:nvSpPr>
        <p:spPr>
          <a:xfrm>
            <a:off x="9930384" y="1801368"/>
            <a:ext cx="1554480" cy="731520"/>
          </a:xfrm>
          <a:prstGeom prst="rect">
            <a:avLst/>
          </a:prstGeom>
          <a:noFill/>
          <a:ln/>
        </p:spPr>
        <p:txBody>
          <a:bodyPr wrap="square" lIns="0" tIns="0" rIns="0" bIns="0" rtlCol="0" anchor="ctr"/>
          <a:lstStyle/>
          <a:p>
            <a:pPr indent="0" marL="0">
              <a:buNone/>
            </a:pPr>
            <a:r>
              <a:rPr lang="en-US" sz="1100" b="1" dirty="0">
                <a:solidFill>
                  <a:schemeClr val="accent3"/>
                </a:solidFill>
                <a:latin typeface="Arial" pitchFamily="34" charset="0"/>
                <a:ea typeface="Arial" pitchFamily="34" charset="-122"/>
                <a:cs typeface="Arial" pitchFamily="34" charset="-120"/>
              </a:rPr>
              <a:t>PHASE 4</a:t>
            </a:r>
            <a:endParaRPr lang="en-US" sz="1100" dirty="0"/>
          </a:p>
          <a:p>
            <a:pPr indent="0" marL="0">
              <a:buNone/>
            </a:pPr>
            <a:r>
              <a:rPr lang="en-US" sz="1600" b="1" dirty="0">
                <a:solidFill>
                  <a:schemeClr val="tx1"/>
                </a:solidFill>
                <a:latin typeface="Arial" pitchFamily="34" charset="0"/>
                <a:ea typeface="Arial" pitchFamily="34" charset="-122"/>
                <a:cs typeface="Arial" pitchFamily="34" charset="-120"/>
              </a:rPr>
              <a:t>Go live</a:t>
            </a:r>
            <a:endParaRPr lang="en-US" sz="1100" dirty="0"/>
          </a:p>
        </p:txBody>
      </p:sp>
      <p:sp>
        <p:nvSpPr>
          <p:cNvPr id="47" name="mini-badge-100"/>
          <p:cNvSpPr/>
          <p:nvPr/>
        </p:nvSpPr>
        <p:spPr>
          <a:xfrm>
            <a:off x="9244584" y="2834640"/>
            <a:ext cx="438912" cy="438912"/>
          </a:xfrm>
          <a:prstGeom prst="ellipse">
            <a:avLst/>
          </a:prstGeom>
          <a:solidFill>
            <a:schemeClr val="bg1"/>
          </a:solidFill>
          <a:ln w="19050">
            <a:solidFill>
              <a:schemeClr val="accent1"/>
            </a:solidFill>
            <a:prstDash val="solid"/>
          </a:ln>
        </p:spPr>
      </p:sp>
      <p:sp>
        <p:nvSpPr>
          <p:cNvPr id="48" name="mini-num-101"/>
          <p:cNvSpPr txBox="1"/>
          <p:nvPr/>
        </p:nvSpPr>
        <p:spPr>
          <a:xfrm>
            <a:off x="9244584" y="2834640"/>
            <a:ext cx="438912" cy="438912"/>
          </a:xfrm>
          <a:prstGeom prst="rect">
            <a:avLst/>
          </a:prstGeom>
          <a:noFill/>
          <a:ln/>
        </p:spPr>
        <p:txBody>
          <a:bodyPr wrap="square" lIns="0" tIns="0" rIns="0" bIns="0" rtlCol="0" anchor="ctr"/>
          <a:lstStyle/>
          <a:p>
            <a:pPr algn="ctr" indent="0" marL="0">
              <a:buNone/>
            </a:pPr>
            <a:r>
              <a:rPr lang="en-US" sz="1400" b="1" dirty="0">
                <a:solidFill>
                  <a:schemeClr val="accent1"/>
                </a:solidFill>
                <a:latin typeface="Arial" pitchFamily="34" charset="0"/>
                <a:ea typeface="Arial" pitchFamily="34" charset="-122"/>
                <a:cs typeface="Arial" pitchFamily="34" charset="-120"/>
              </a:rPr>
              <a:t>10</a:t>
            </a:r>
            <a:endParaRPr lang="en-US" sz="1400" dirty="0"/>
          </a:p>
        </p:txBody>
      </p:sp>
      <p:sp>
        <p:nvSpPr>
          <p:cNvPr id="49" name="step-label-102"/>
          <p:cNvSpPr txBox="1"/>
          <p:nvPr/>
        </p:nvSpPr>
        <p:spPr>
          <a:xfrm>
            <a:off x="9811512" y="2788920"/>
            <a:ext cx="1691640" cy="530352"/>
          </a:xfrm>
          <a:prstGeom prst="rect">
            <a:avLst/>
          </a:prstGeom>
          <a:noFill/>
          <a:ln/>
        </p:spPr>
        <p:txBody>
          <a:bodyPr wrap="square" lIns="0" tIns="0" rIns="0" bIns="0" rtlCol="0" anchor="ctr"/>
          <a:lstStyle/>
          <a:p>
            <a:pPr indent="0" marL="0">
              <a:buNone/>
            </a:pPr>
            <a:r>
              <a:rPr lang="en-US" sz="1400" dirty="0">
                <a:solidFill>
                  <a:schemeClr val="tx1"/>
                </a:solidFill>
              </a:rPr>
              <a:t>Sign in &amp; verify</a:t>
            </a:r>
            <a:endParaRPr lang="en-US" sz="1400" dirty="0"/>
          </a:p>
        </p:txBody>
      </p:sp>
      <p:sp>
        <p:nvSpPr>
          <p:cNvPr id="50" name="mini-badge-103"/>
          <p:cNvSpPr/>
          <p:nvPr/>
        </p:nvSpPr>
        <p:spPr>
          <a:xfrm>
            <a:off x="9244584" y="3520440"/>
            <a:ext cx="438912" cy="438912"/>
          </a:xfrm>
          <a:prstGeom prst="ellipse">
            <a:avLst/>
          </a:prstGeom>
          <a:solidFill>
            <a:schemeClr val="bg1"/>
          </a:solidFill>
          <a:ln w="19050">
            <a:solidFill>
              <a:schemeClr val="accent1"/>
            </a:solidFill>
            <a:prstDash val="solid"/>
          </a:ln>
        </p:spPr>
      </p:sp>
      <p:sp>
        <p:nvSpPr>
          <p:cNvPr id="51" name="mini-num-104"/>
          <p:cNvSpPr txBox="1"/>
          <p:nvPr/>
        </p:nvSpPr>
        <p:spPr>
          <a:xfrm>
            <a:off x="9244584" y="3520440"/>
            <a:ext cx="438912" cy="438912"/>
          </a:xfrm>
          <a:prstGeom prst="rect">
            <a:avLst/>
          </a:prstGeom>
          <a:noFill/>
          <a:ln/>
        </p:spPr>
        <p:txBody>
          <a:bodyPr wrap="square" lIns="0" tIns="0" rIns="0" bIns="0" rtlCol="0" anchor="ctr"/>
          <a:lstStyle/>
          <a:p>
            <a:pPr algn="ctr" indent="0" marL="0">
              <a:buNone/>
            </a:pPr>
            <a:r>
              <a:rPr lang="en-US" sz="1400" b="1" dirty="0">
                <a:solidFill>
                  <a:schemeClr val="accent1"/>
                </a:solidFill>
                <a:latin typeface="Arial" pitchFamily="34" charset="0"/>
                <a:ea typeface="Arial" pitchFamily="34" charset="-122"/>
                <a:cs typeface="Arial" pitchFamily="34" charset="-120"/>
              </a:rPr>
              <a:t>11</a:t>
            </a:r>
            <a:endParaRPr lang="en-US" sz="1400" dirty="0"/>
          </a:p>
        </p:txBody>
      </p:sp>
      <p:sp>
        <p:nvSpPr>
          <p:cNvPr id="52" name="step-label-105"/>
          <p:cNvSpPr txBox="1"/>
          <p:nvPr/>
        </p:nvSpPr>
        <p:spPr>
          <a:xfrm>
            <a:off x="9811512" y="3474720"/>
            <a:ext cx="1691640" cy="530352"/>
          </a:xfrm>
          <a:prstGeom prst="rect">
            <a:avLst/>
          </a:prstGeom>
          <a:noFill/>
          <a:ln/>
        </p:spPr>
        <p:txBody>
          <a:bodyPr wrap="square" lIns="0" tIns="0" rIns="0" bIns="0" rtlCol="0" anchor="ctr"/>
          <a:lstStyle/>
          <a:p>
            <a:pPr indent="0" marL="0">
              <a:buNone/>
            </a:pPr>
            <a:r>
              <a:rPr lang="en-US" sz="1400" dirty="0">
                <a:solidFill>
                  <a:schemeClr val="tx1"/>
                </a:solidFill>
              </a:rPr>
              <a:t>First namespace &amp; source</a:t>
            </a:r>
            <a:endParaRPr lang="en-US" sz="1400" dirty="0"/>
          </a:p>
        </p:txBody>
      </p:sp>
      <p:sp>
        <p:nvSpPr>
          <p:cNvPr id="53" name="callout-106"/>
          <p:cNvSpPr/>
          <p:nvPr/>
        </p:nvSpPr>
        <p:spPr>
          <a:xfrm>
            <a:off x="548640" y="5897880"/>
            <a:ext cx="11091672" cy="411480"/>
          </a:xfrm>
          <a:prstGeom prst="roundRect">
            <a:avLst>
              <a:gd name="adj" fmla="val 17778"/>
            </a:avLst>
          </a:prstGeom>
          <a:solidFill>
            <a:schemeClr val="tx1"/>
          </a:solidFill>
          <a:ln/>
        </p:spPr>
      </p:sp>
      <p:sp>
        <p:nvSpPr>
          <p:cNvPr id="54" name="callout-text-107"/>
          <p:cNvSpPr txBox="1"/>
          <p:nvPr/>
        </p:nvSpPr>
        <p:spPr>
          <a:xfrm>
            <a:off x="777240" y="5897880"/>
            <a:ext cx="10634472" cy="411480"/>
          </a:xfrm>
          <a:prstGeom prst="rect">
            <a:avLst/>
          </a:prstGeom>
          <a:noFill/>
          <a:ln/>
        </p:spPr>
        <p:txBody>
          <a:bodyPr wrap="square" lIns="0" tIns="0" rIns="0" bIns="0" rtlCol="0" anchor="ctr"/>
          <a:lstStyle/>
          <a:p>
            <a:pPr indent="0" marL="0">
              <a:buNone/>
            </a:pPr>
            <a:r>
              <a:rPr lang="en-US" sz="1400" b="1" dirty="0">
                <a:solidFill>
                  <a:schemeClr val="bg1"/>
                </a:solidFill>
              </a:rPr>
              <a:t>Time budget:  </a:t>
            </a:r>
            <a:pPr indent="0" marL="0">
              <a:buNone/>
            </a:pPr>
            <a:r>
              <a:rPr lang="en-US" sz="1400" dirty="0">
                <a:solidFill>
                  <a:schemeClr val="bg1"/>
                </a:solidFill>
              </a:rPr>
              <a:t>plan a half day. CloudFormation alone takes ~1.5 h for the 16 stacks; first-time codegen and image builds add more.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141732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PHASE 1 · PREPARE THE LAPTOP</a:t>
            </a:r>
            <a:endParaRPr lang="en-US" sz="1200" dirty="0"/>
          </a:p>
        </p:txBody>
      </p:sp>
      <p:sp>
        <p:nvSpPr>
          <p:cNvPr id="3" name="Text 0"/>
          <p:cNvSpPr/>
          <p:nvPr>
            <p:ph idx="101" type="title" hasCustomPrompt="1"/>
          </p:nvPr>
        </p:nvSpPr>
        <p:spPr>
          <a:xfrm>
            <a:off x="1417320" y="640080"/>
            <a:ext cx="10222992" cy="685800"/>
          </a:xfrm>
          <a:prstGeom prst="rect">
            <a:avLst/>
          </a:prstGeom>
          <a:noFill/>
          <a:ln/>
        </p:spPr>
        <p:txBody>
          <a:bodyPr wrap="square" lIns="0" tIns="0" rIns="0" bIns="0" rtlCol="0" anchor="ctr"/>
          <a:lstStyle/>
          <a:p>
            <a:pPr algn="l" indent="0" marL="0">
              <a:buNone/>
            </a:pPr>
            <a:r>
              <a:rPr lang="en-US" sz="3400" b="1" dirty="0">
                <a:solidFill>
                  <a:schemeClr val="tx1"/>
                </a:solidFill>
              </a:rPr>
              <a:t>Install the toolchain</a:t>
            </a:r>
            <a:endParaRPr lang="en-US" sz="3400" dirty="0"/>
          </a:p>
        </p:txBody>
      </p:sp>
      <p:sp>
        <p:nvSpPr>
          <p:cNvPr id="4" name="step-badge-108"/>
          <p:cNvSpPr/>
          <p:nvPr/>
        </p:nvSpPr>
        <p:spPr>
          <a:xfrm>
            <a:off x="548640" y="566928"/>
            <a:ext cx="713232" cy="713232"/>
          </a:xfrm>
          <a:prstGeom prst="ellipse">
            <a:avLst/>
          </a:prstGeom>
          <a:solidFill>
            <a:schemeClr val="accent1"/>
          </a:solidFill>
          <a:ln/>
        </p:spPr>
      </p:sp>
      <p:sp>
        <p:nvSpPr>
          <p:cNvPr id="5" name="step-number-109"/>
          <p:cNvSpPr txBox="1"/>
          <p:nvPr/>
        </p:nvSpPr>
        <p:spPr>
          <a:xfrm>
            <a:off x="548640" y="566928"/>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latin typeface="Arial" pitchFamily="34" charset="0"/>
                <a:ea typeface="Arial" pitchFamily="34" charset="-122"/>
                <a:cs typeface="Arial" pitchFamily="34" charset="-120"/>
              </a:rPr>
              <a:t>1</a:t>
            </a:r>
            <a:endParaRPr lang="en-US" sz="2600" dirty="0"/>
          </a:p>
        </p:txBody>
      </p:sp>
      <p:graphicFrame>
        <p:nvGraphicFramePr>
          <p:cNvPr id="5" name="tools-table-110"/>
          <p:cNvGraphicFramePr>
            <a:graphicFrameLocks noGrp="1"/>
          </p:cNvGraphicFramePr>
          <p:nvPr>
            <p:extLst>
              <p:ext uri="{D42A27DB-BD31-4B8C-83A1-F6EECF244321}">
                <p14:modId xmlns:p14="http://schemas.microsoft.com/office/powerpoint/2010/main" val="1579011935"/>
              </p:ext>
            </p:extLst>
          </p:nvPr>
        </p:nvGraphicFramePr>
        <p:xfrm>
          <a:off x="548640" y="1600200"/>
          <a:ext cx="6583680" cy="914400"/>
        </p:xfrm>
        <a:graphic>
          <a:graphicData uri="http://schemas.openxmlformats.org/drawingml/2006/table">
            <a:tbl>
              <a:tblPr/>
              <a:tblGrid>
                <a:gridCol w="1737360"/>
                <a:gridCol w="1234440"/>
                <a:gridCol w="3611880"/>
              </a:tblGrid>
              <a:tr h="438912">
                <a:tc>
                  <a:txBody>
                    <a:bodyPr/>
                    <a:lstStyle/>
                    <a:p>
                      <a:pPr indent="0" marL="0">
                        <a:buNone/>
                      </a:pPr>
                      <a:r>
                        <a:rPr lang="en-US" sz="1400" b="1" dirty="0">
                          <a:solidFill>
                            <a:schemeClr val="bg1"/>
                          </a:solidFill>
                          <a:latin typeface="Arial" pitchFamily="34" charset="0"/>
                          <a:ea typeface="Arial" pitchFamily="34" charset="-122"/>
                          <a:cs typeface="Arial" pitchFamily="34" charset="-120"/>
                        </a:rPr>
                        <a:t>Tool</a:t>
                      </a:r>
                      <a:endParaRPr lang="en-US" sz="1400" dirty="0">
                        <a:latin typeface="Arial" charset="0"/>
                        <a:ea typeface="Arial" charset="0"/>
                        <a:cs typeface="Arial" charset="0"/>
                      </a:endParaRPr>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Version</a:t>
                      </a:r>
                      <a:endParaRPr lang="en-US" sz="1400" dirty="0">
                        <a:latin typeface="Arial" charset="0"/>
                        <a:ea typeface="Arial" charset="0"/>
                        <a:cs typeface="Arial" charset="0"/>
                      </a:endParaRPr>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Why it's needed</a:t>
                      </a:r>
                      <a:endParaRPr lang="en-US" sz="1400" dirty="0">
                        <a:latin typeface="Arial" charset="0"/>
                        <a:ea typeface="Arial" charset="0"/>
                        <a:cs typeface="Arial" charset="0"/>
                      </a:endParaRPr>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1"/>
                    </a:solidFill>
                  </a:tcPr>
                </a:tc>
              </a:tr>
              <a:tr h="438912">
                <a:tc>
                  <a:txBody>
                    <a:bodyPr/>
                    <a:lstStyle/>
                    <a:p>
                      <a:pPr indent="0" marL="0">
                        <a:buNone/>
                      </a:pPr>
                      <a:r>
                        <a:rPr lang="en-US" sz="1400" dirty="0">
                          <a:solidFill>
                            <a:schemeClr val="tx1"/>
                          </a:solidFill>
                        </a:rPr>
                        <a:t>AWS CLI</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v2</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Credentials, stack operations, ECR auth</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Node.js + pnpm</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22+ / 10+</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CDK CLI, web app, TS packages</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Python + uv</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3.12 / 0.4+</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Backend services, Lambdas</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Java + Gradle</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17+</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Smithy API codegen</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Maven</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3.x</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Databricks connector JAR (part of make deploy-dev)</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Docker + buildx</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current</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Container images (incl. linux/arm64)</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git, make</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any</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Clone and run the Makefile targets</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7" name="code-bg-111"/>
          <p:cNvSpPr/>
          <p:nvPr/>
        </p:nvSpPr>
        <p:spPr>
          <a:xfrm>
            <a:off x="7406640" y="1600200"/>
            <a:ext cx="4233672" cy="2468880"/>
          </a:xfrm>
          <a:prstGeom prst="roundRect">
            <a:avLst>
              <a:gd name="adj" fmla="val 2963"/>
            </a:avLst>
          </a:prstGeom>
          <a:solidFill>
            <a:schemeClr val="tx1"/>
          </a:solidFill>
          <a:ln/>
        </p:spPr>
      </p:sp>
      <p:sp>
        <p:nvSpPr>
          <p:cNvPr id="8" name="code-112"/>
          <p:cNvSpPr txBox="1"/>
          <p:nvPr/>
        </p:nvSpPr>
        <p:spPr>
          <a:xfrm>
            <a:off x="7635240" y="1737360"/>
            <a:ext cx="3776472" cy="2194560"/>
          </a:xfrm>
          <a:prstGeom prst="rect">
            <a:avLst/>
          </a:prstGeom>
          <a:noFill/>
          <a:ln/>
        </p:spPr>
        <p:txBody>
          <a:bodyPr wrap="square" lIns="0" tIns="0" rIns="0" bIns="0" rtlCol="0" anchor="t"/>
          <a:lstStyle/>
          <a:p>
            <a:pPr indent="0" marL="0">
              <a:spcAft>
                <a:spcPts val="300"/>
              </a:spcAft>
              <a:buNone/>
            </a:pPr>
            <a:r>
              <a:rPr lang="en-US" sz="1300" dirty="0">
                <a:solidFill>
                  <a:schemeClr val="accent1"/>
                </a:solidFill>
                <a:latin typeface="Courier New" pitchFamily="34" charset="0"/>
                <a:ea typeface="Courier New" pitchFamily="34" charset="-122"/>
                <a:cs typeface="Courier New" pitchFamily="34" charset="-120"/>
              </a:rPr>
              <a:t># pinned versions via mise</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curl https://mise.run | sh</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mise install</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 </a:t>
            </a:r>
            <a:endParaRPr lang="en-US" sz="1300" dirty="0"/>
          </a:p>
          <a:p>
            <a:pPr indent="0" marL="0">
              <a:spcAft>
                <a:spcPts val="300"/>
              </a:spcAft>
              <a:buNone/>
            </a:pPr>
            <a:r>
              <a:rPr lang="en-US" sz="1300" dirty="0">
                <a:solidFill>
                  <a:schemeClr val="accent1"/>
                </a:solidFill>
                <a:latin typeface="Courier New" pitchFamily="34" charset="0"/>
                <a:ea typeface="Courier New" pitchFamily="34" charset="-122"/>
                <a:cs typeface="Courier New" pitchFamily="34" charset="-120"/>
              </a:rPr>
              <a:t># verify</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node -v; pnpm -v; uv --version</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java -version; mvn -v</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docker version; aws --version</a:t>
            </a:r>
            <a:endParaRPr lang="en-US" sz="1300" dirty="0"/>
          </a:p>
        </p:txBody>
      </p:sp>
      <p:sp>
        <p:nvSpPr>
          <p:cNvPr id="9" name="card-113"/>
          <p:cNvSpPr/>
          <p:nvPr/>
        </p:nvSpPr>
        <p:spPr>
          <a:xfrm>
            <a:off x="7406640" y="4251960"/>
            <a:ext cx="4233672" cy="1965960"/>
          </a:xfrm>
          <a:prstGeom prst="roundRect">
            <a:avLst>
              <a:gd name="adj" fmla="val 4651"/>
            </a:avLst>
          </a:prstGeom>
          <a:solidFill>
            <a:schemeClr val="bg2"/>
          </a:solidFill>
          <a:ln/>
        </p:spPr>
      </p:sp>
      <p:sp>
        <p:nvSpPr>
          <p:cNvPr id="10" name="icon-circle-114"/>
          <p:cNvSpPr/>
          <p:nvPr/>
        </p:nvSpPr>
        <p:spPr>
          <a:xfrm>
            <a:off x="7680960" y="4526280"/>
            <a:ext cx="548640" cy="548640"/>
          </a:xfrm>
          <a:prstGeom prst="ellipse">
            <a:avLst/>
          </a:prstGeom>
          <a:solidFill>
            <a:schemeClr val="accent4"/>
          </a:solidFill>
          <a:ln/>
        </p:spPr>
      </p:sp>
      <p:sp>
        <p:nvSpPr>
          <p:cNvPr id="11" name="icon-trianglealert-115"/>
          <p:cNvSpPr/>
          <p:nvPr/>
        </p:nvSpPr>
        <p:spPr>
          <a:xfrm>
            <a:off x="7812634" y="4657954"/>
            <a:ext cx="285293" cy="285293"/>
          </a:xfrm>
          <a:custGeom>
            <a:avLst/>
            <a:gdLst/>
            <a:ahLst/>
            <a:cxnLst/>
            <a:rect l="l" t="t" r="r" b="b"/>
            <a:pathLst>
              <a:path w="285293" h="285293">
                <a:moveTo>
                  <a:pt x="258318" y="213970"/>
                </a:moveTo>
                <a:lnTo>
                  <a:pt x="163220" y="47549"/>
                </a:lnTo>
                <a:cubicBezTo>
                  <a:pt x="159014" y="40142"/>
                  <a:pt x="151059" y="35479"/>
                  <a:pt x="142555" y="35479"/>
                </a:cubicBezTo>
                <a:cubicBezTo>
                  <a:pt x="133960" y="35479"/>
                  <a:pt x="126096" y="40142"/>
                  <a:pt x="121890" y="47549"/>
                </a:cubicBezTo>
                <a:lnTo>
                  <a:pt x="26700" y="213970"/>
                </a:lnTo>
                <a:cubicBezTo>
                  <a:pt x="22494" y="221376"/>
                  <a:pt x="22494" y="230429"/>
                  <a:pt x="26792" y="237835"/>
                </a:cubicBezTo>
                <a:cubicBezTo>
                  <a:pt x="31090" y="245242"/>
                  <a:pt x="39045" y="249723"/>
                  <a:pt x="47549" y="249631"/>
                </a:cubicBezTo>
                <a:lnTo>
                  <a:pt x="237744" y="249631"/>
                </a:lnTo>
                <a:cubicBezTo>
                  <a:pt x="246248" y="249631"/>
                  <a:pt x="254112" y="245059"/>
                  <a:pt x="258318" y="237744"/>
                </a:cubicBezTo>
                <a:cubicBezTo>
                  <a:pt x="262524" y="230337"/>
                  <a:pt x="262524" y="221285"/>
                  <a:pt x="258318" y="213970"/>
                </a:cubicBezTo>
                <a:moveTo>
                  <a:pt x="142646" y="106985"/>
                </a:moveTo>
                <a:lnTo>
                  <a:pt x="142646" y="154534"/>
                </a:lnTo>
                <a:moveTo>
                  <a:pt x="142646" y="202082"/>
                </a:moveTo>
                <a:lnTo>
                  <a:pt x="142738" y="202082"/>
                </a:lnTo>
              </a:path>
            </a:pathLst>
          </a:custGeom>
          <a:noFill/>
          <a:ln w="23749" cap="rnd">
            <a:solidFill>
              <a:schemeClr val="bg1"/>
            </a:solidFill>
            <a:prstDash val="solid"/>
            <a:round/>
          </a:ln>
        </p:spPr>
      </p:sp>
      <p:sp>
        <p:nvSpPr>
          <p:cNvPr id="12" name="card-title-116"/>
          <p:cNvSpPr txBox="1"/>
          <p:nvPr/>
        </p:nvSpPr>
        <p:spPr>
          <a:xfrm>
            <a:off x="8412480" y="4526280"/>
            <a:ext cx="2999232"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Watch out</a:t>
            </a:r>
            <a:endParaRPr lang="en-US" sz="1700" dirty="0"/>
          </a:p>
        </p:txBody>
      </p:sp>
      <p:sp>
        <p:nvSpPr>
          <p:cNvPr id="13" name="card-body-117"/>
          <p:cNvSpPr txBox="1"/>
          <p:nvPr/>
        </p:nvSpPr>
        <p:spPr>
          <a:xfrm>
            <a:off x="7680960" y="5212080"/>
            <a:ext cx="3730752" cy="82296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Our repo copy ships only .python-version, so if mise finds no config, install each tool from the table manually.</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141732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PHASE 1 · PREPARE THE LAPTOP</a:t>
            </a:r>
            <a:endParaRPr lang="en-US" sz="1200" dirty="0"/>
          </a:p>
        </p:txBody>
      </p:sp>
      <p:sp>
        <p:nvSpPr>
          <p:cNvPr id="3" name="Text 0"/>
          <p:cNvSpPr/>
          <p:nvPr>
            <p:ph idx="101" type="title" hasCustomPrompt="1"/>
          </p:nvPr>
        </p:nvSpPr>
        <p:spPr>
          <a:xfrm>
            <a:off x="1417320" y="640080"/>
            <a:ext cx="10222992" cy="685800"/>
          </a:xfrm>
          <a:prstGeom prst="rect">
            <a:avLst/>
          </a:prstGeom>
          <a:noFill/>
          <a:ln/>
        </p:spPr>
        <p:txBody>
          <a:bodyPr wrap="square" lIns="0" tIns="0" rIns="0" bIns="0" rtlCol="0" anchor="ctr"/>
          <a:lstStyle/>
          <a:p>
            <a:pPr algn="l" indent="0" marL="0">
              <a:buNone/>
            </a:pPr>
            <a:r>
              <a:rPr lang="en-US" sz="3400" b="1" dirty="0">
                <a:solidFill>
                  <a:schemeClr val="tx1"/>
                </a:solidFill>
              </a:rPr>
              <a:t>Enable ARM64 image builds</a:t>
            </a:r>
            <a:endParaRPr lang="en-US" sz="3400" dirty="0"/>
          </a:p>
        </p:txBody>
      </p:sp>
      <p:sp>
        <p:nvSpPr>
          <p:cNvPr id="4" name="step-badge-118"/>
          <p:cNvSpPr/>
          <p:nvPr/>
        </p:nvSpPr>
        <p:spPr>
          <a:xfrm>
            <a:off x="548640" y="566928"/>
            <a:ext cx="713232" cy="713232"/>
          </a:xfrm>
          <a:prstGeom prst="ellipse">
            <a:avLst/>
          </a:prstGeom>
          <a:solidFill>
            <a:schemeClr val="accent1"/>
          </a:solidFill>
          <a:ln/>
        </p:spPr>
      </p:sp>
      <p:sp>
        <p:nvSpPr>
          <p:cNvPr id="5" name="step-number-119"/>
          <p:cNvSpPr txBox="1"/>
          <p:nvPr/>
        </p:nvSpPr>
        <p:spPr>
          <a:xfrm>
            <a:off x="548640" y="566928"/>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latin typeface="Arial" pitchFamily="34" charset="0"/>
                <a:ea typeface="Arial" pitchFamily="34" charset="-122"/>
                <a:cs typeface="Arial" pitchFamily="34" charset="-120"/>
              </a:rPr>
              <a:t>2</a:t>
            </a:r>
            <a:endParaRPr lang="en-US" sz="2600" dirty="0"/>
          </a:p>
        </p:txBody>
      </p:sp>
      <p:sp>
        <p:nvSpPr>
          <p:cNvPr id="6" name="lede-120"/>
          <p:cNvSpPr txBox="1"/>
          <p:nvPr/>
        </p:nvSpPr>
        <p:spPr>
          <a:xfrm>
            <a:off x="1417320" y="1417320"/>
            <a:ext cx="10241280" cy="685800"/>
          </a:xfrm>
          <a:prstGeom prst="rect">
            <a:avLst/>
          </a:prstGeom>
          <a:noFill/>
          <a:ln/>
        </p:spPr>
        <p:txBody>
          <a:bodyPr wrap="square" lIns="0" tIns="0" rIns="0" bIns="0" rtlCol="0" anchor="t"/>
          <a:lstStyle/>
          <a:p>
            <a:pPr indent="0" marL="0">
              <a:buNone/>
            </a:pPr>
            <a:r>
              <a:rPr lang="en-US" sz="1600" dirty="0">
                <a:solidFill>
                  <a:schemeClr val="tx2"/>
                </a:solidFill>
              </a:rPr>
              <a:t>The Serve, MCP and VKG images are built for </a:t>
            </a:r>
            <a:pPr indent="0" marL="0">
              <a:buNone/>
            </a:pPr>
            <a:r>
              <a:rPr lang="en-US" sz="1600" b="1" dirty="0">
                <a:solidFill>
                  <a:schemeClr val="tx2"/>
                </a:solidFill>
                <a:latin typeface="Courier New" pitchFamily="34" charset="0"/>
                <a:ea typeface="Courier New" pitchFamily="34" charset="-122"/>
                <a:cs typeface="Courier New" pitchFamily="34" charset="-120"/>
              </a:rPr>
              <a:t>linux/arm64</a:t>
            </a:r>
            <a:pPr indent="0" marL="0">
              <a:buNone/>
            </a:pPr>
            <a:r>
              <a:rPr lang="en-US" sz="1600" dirty="0">
                <a:solidFill>
                  <a:schemeClr val="tx2"/>
                </a:solidFill>
              </a:rPr>
              <a:t>. On an x86_64 Linux laptop Docker needs QEMU/binfmt emulation, or the build stops with </a:t>
            </a:r>
            <a:pPr indent="0" marL="0">
              <a:buNone/>
            </a:pPr>
            <a:r>
              <a:rPr lang="en-US" sz="1600" b="1" dirty="0">
                <a:solidFill>
                  <a:schemeClr val="accent4"/>
                </a:solidFill>
                <a:latin typeface="Courier New" pitchFamily="34" charset="0"/>
                <a:ea typeface="Courier New" pitchFamily="34" charset="-122"/>
                <a:cs typeface="Courier New" pitchFamily="34" charset="-120"/>
              </a:rPr>
              <a:t>exec format error</a:t>
            </a:r>
            <a:pPr indent="0" marL="0">
              <a:buNone/>
            </a:pPr>
            <a:r>
              <a:rPr lang="en-US" sz="1600" dirty="0">
                <a:solidFill>
                  <a:schemeClr val="tx2"/>
                </a:solidFill>
              </a:rPr>
              <a:t>.</a:t>
            </a:r>
            <a:endParaRPr lang="en-US" sz="1600" dirty="0"/>
          </a:p>
        </p:txBody>
      </p:sp>
      <p:sp>
        <p:nvSpPr>
          <p:cNvPr id="7" name="code-bg-121"/>
          <p:cNvSpPr/>
          <p:nvPr/>
        </p:nvSpPr>
        <p:spPr>
          <a:xfrm>
            <a:off x="548640" y="2286000"/>
            <a:ext cx="6766560" cy="2971800"/>
          </a:xfrm>
          <a:prstGeom prst="roundRect">
            <a:avLst>
              <a:gd name="adj" fmla="val 2462"/>
            </a:avLst>
          </a:prstGeom>
          <a:solidFill>
            <a:schemeClr val="tx1"/>
          </a:solidFill>
          <a:ln/>
        </p:spPr>
      </p:sp>
      <p:sp>
        <p:nvSpPr>
          <p:cNvPr id="8" name="code-122"/>
          <p:cNvSpPr txBox="1"/>
          <p:nvPr/>
        </p:nvSpPr>
        <p:spPr>
          <a:xfrm>
            <a:off x="777240" y="2423160"/>
            <a:ext cx="6309360" cy="2697480"/>
          </a:xfrm>
          <a:prstGeom prst="rect">
            <a:avLst/>
          </a:prstGeom>
          <a:noFill/>
          <a:ln/>
        </p:spPr>
        <p:txBody>
          <a:bodyPr wrap="square" lIns="0" tIns="0" rIns="0" bIns="0" rtlCol="0" anchor="t"/>
          <a:lstStyle/>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uname -m              </a:t>
            </a:r>
            <a:pPr indent="0" marL="0">
              <a:spcAft>
                <a:spcPts val="300"/>
              </a:spcAft>
              <a:buNone/>
            </a:pPr>
            <a:r>
              <a:rPr lang="en-US" sz="1300" dirty="0">
                <a:solidFill>
                  <a:schemeClr val="accent1"/>
                </a:solidFill>
                <a:latin typeface="Courier New" pitchFamily="34" charset="0"/>
                <a:ea typeface="Courier New" pitchFamily="34" charset="-122"/>
                <a:cs typeface="Courier New" pitchFamily="34" charset="-120"/>
              </a:rPr>
              <a:t># x86_64 -&gt; emulation needed</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docker buildx inspect --bootstrap</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                      </a:t>
            </a:r>
            <a:pPr indent="0" marL="0">
              <a:spcAft>
                <a:spcPts val="300"/>
              </a:spcAft>
              <a:buNone/>
            </a:pPr>
            <a:r>
              <a:rPr lang="en-US" sz="1300" dirty="0">
                <a:solidFill>
                  <a:schemeClr val="accent1"/>
                </a:solidFill>
                <a:latin typeface="Courier New" pitchFamily="34" charset="0"/>
                <a:ea typeface="Courier New" pitchFamily="34" charset="-122"/>
                <a:cs typeface="Courier New" pitchFamily="34" charset="-120"/>
              </a:rPr>
              <a:t># look for linux/arm64</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 </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docker run --privileged --rm \</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  tonistiigi/binfmt --install arm64</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 </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docker run --rm --platform linux/arm64 \</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  alpine uname -m     </a:t>
            </a:r>
            <a:pPr indent="0" marL="0">
              <a:spcAft>
                <a:spcPts val="300"/>
              </a:spcAft>
              <a:buNone/>
            </a:pPr>
            <a:r>
              <a:rPr lang="en-US" sz="1300" dirty="0">
                <a:solidFill>
                  <a:schemeClr val="accent1"/>
                </a:solidFill>
                <a:latin typeface="Courier New" pitchFamily="34" charset="0"/>
                <a:ea typeface="Courier New" pitchFamily="34" charset="-122"/>
                <a:cs typeface="Courier New" pitchFamily="34" charset="-120"/>
              </a:rPr>
              <a:t># must print aarch64</a:t>
            </a:r>
            <a:endParaRPr lang="en-US" sz="1300" dirty="0"/>
          </a:p>
        </p:txBody>
      </p:sp>
      <p:sp>
        <p:nvSpPr>
          <p:cNvPr id="9" name="card-123"/>
          <p:cNvSpPr/>
          <p:nvPr/>
        </p:nvSpPr>
        <p:spPr>
          <a:xfrm>
            <a:off x="7589520" y="2286000"/>
            <a:ext cx="4050792" cy="1828800"/>
          </a:xfrm>
          <a:prstGeom prst="roundRect">
            <a:avLst>
              <a:gd name="adj" fmla="val 5000"/>
            </a:avLst>
          </a:prstGeom>
          <a:solidFill>
            <a:schemeClr val="bg2"/>
          </a:solidFill>
          <a:ln/>
        </p:spPr>
      </p:sp>
      <p:sp>
        <p:nvSpPr>
          <p:cNvPr id="10" name="icon-circle-124"/>
          <p:cNvSpPr/>
          <p:nvPr/>
        </p:nvSpPr>
        <p:spPr>
          <a:xfrm>
            <a:off x="7863840" y="2560320"/>
            <a:ext cx="548640" cy="548640"/>
          </a:xfrm>
          <a:prstGeom prst="ellipse">
            <a:avLst/>
          </a:prstGeom>
          <a:solidFill>
            <a:schemeClr val="accent4"/>
          </a:solidFill>
          <a:ln/>
        </p:spPr>
      </p:sp>
      <p:sp>
        <p:nvSpPr>
          <p:cNvPr id="11" name="icon-shieldcheck-125"/>
          <p:cNvSpPr/>
          <p:nvPr/>
        </p:nvSpPr>
        <p:spPr>
          <a:xfrm>
            <a:off x="7995514" y="2691994"/>
            <a:ext cx="285293" cy="285293"/>
          </a:xfrm>
          <a:custGeom>
            <a:avLst/>
            <a:gdLst/>
            <a:ahLst/>
            <a:cxnLst/>
            <a:rect l="l" t="t" r="r" b="b"/>
            <a:pathLst>
              <a:path w="285293" h="285293">
                <a:moveTo>
                  <a:pt x="237744" y="154534"/>
                </a:moveTo>
                <a:cubicBezTo>
                  <a:pt x="237744" y="213970"/>
                  <a:pt x="196139" y="243688"/>
                  <a:pt x="146670" y="260878"/>
                </a:cubicBezTo>
                <a:cubicBezTo>
                  <a:pt x="144109" y="261793"/>
                  <a:pt x="141275" y="261793"/>
                  <a:pt x="138714" y="260787"/>
                </a:cubicBezTo>
                <a:cubicBezTo>
                  <a:pt x="89154" y="243688"/>
                  <a:pt x="47549" y="213970"/>
                  <a:pt x="47549" y="154534"/>
                </a:cubicBezTo>
                <a:lnTo>
                  <a:pt x="47549" y="71323"/>
                </a:lnTo>
                <a:cubicBezTo>
                  <a:pt x="47549" y="64740"/>
                  <a:pt x="52852" y="59436"/>
                  <a:pt x="59436" y="59436"/>
                </a:cubicBezTo>
                <a:cubicBezTo>
                  <a:pt x="83210" y="59436"/>
                  <a:pt x="112928" y="45171"/>
                  <a:pt x="133594" y="27066"/>
                </a:cubicBezTo>
                <a:cubicBezTo>
                  <a:pt x="138806" y="22677"/>
                  <a:pt x="146487" y="22677"/>
                  <a:pt x="151699" y="27066"/>
                </a:cubicBezTo>
                <a:cubicBezTo>
                  <a:pt x="172456" y="45263"/>
                  <a:pt x="202082" y="59436"/>
                  <a:pt x="225857" y="59436"/>
                </a:cubicBezTo>
                <a:cubicBezTo>
                  <a:pt x="232440" y="59436"/>
                  <a:pt x="237744" y="64740"/>
                  <a:pt x="237744" y="71323"/>
                </a:cubicBezTo>
                <a:close/>
                <a:moveTo>
                  <a:pt x="106985" y="142646"/>
                </a:moveTo>
                <a:lnTo>
                  <a:pt x="130759" y="166421"/>
                </a:lnTo>
                <a:lnTo>
                  <a:pt x="178308" y="118872"/>
                </a:lnTo>
              </a:path>
            </a:pathLst>
          </a:custGeom>
          <a:noFill/>
          <a:ln w="23749" cap="rnd">
            <a:solidFill>
              <a:schemeClr val="bg1"/>
            </a:solidFill>
            <a:prstDash val="solid"/>
            <a:round/>
          </a:ln>
        </p:spPr>
      </p:sp>
      <p:sp>
        <p:nvSpPr>
          <p:cNvPr id="12" name="card-title-126"/>
          <p:cNvSpPr txBox="1"/>
          <p:nvPr/>
        </p:nvSpPr>
        <p:spPr>
          <a:xfrm>
            <a:off x="8595360" y="2560320"/>
            <a:ext cx="2816352"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Privileged step</a:t>
            </a:r>
            <a:endParaRPr lang="en-US" sz="1700" dirty="0"/>
          </a:p>
        </p:txBody>
      </p:sp>
      <p:sp>
        <p:nvSpPr>
          <p:cNvPr id="13" name="card-body-127"/>
          <p:cNvSpPr txBox="1"/>
          <p:nvPr/>
        </p:nvSpPr>
        <p:spPr>
          <a:xfrm>
            <a:off x="7863840" y="3246120"/>
            <a:ext cx="3547872" cy="68580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binfmt modifies host kernel config. Check it is allowed under your laptop security policy.</a:t>
            </a:r>
            <a:endParaRPr lang="en-US" sz="1400" dirty="0"/>
          </a:p>
        </p:txBody>
      </p:sp>
      <p:sp>
        <p:nvSpPr>
          <p:cNvPr id="14" name="card-128"/>
          <p:cNvSpPr/>
          <p:nvPr/>
        </p:nvSpPr>
        <p:spPr>
          <a:xfrm>
            <a:off x="7589520" y="4297680"/>
            <a:ext cx="4050792" cy="1874520"/>
          </a:xfrm>
          <a:prstGeom prst="roundRect">
            <a:avLst>
              <a:gd name="adj" fmla="val 4878"/>
            </a:avLst>
          </a:prstGeom>
          <a:solidFill>
            <a:schemeClr val="bg2"/>
          </a:solidFill>
          <a:ln/>
        </p:spPr>
      </p:sp>
      <p:sp>
        <p:nvSpPr>
          <p:cNvPr id="15" name="icon-circle-129"/>
          <p:cNvSpPr/>
          <p:nvPr/>
        </p:nvSpPr>
        <p:spPr>
          <a:xfrm>
            <a:off x="7863840" y="4572000"/>
            <a:ext cx="548640" cy="548640"/>
          </a:xfrm>
          <a:prstGeom prst="ellipse">
            <a:avLst/>
          </a:prstGeom>
          <a:solidFill>
            <a:schemeClr val="accent2"/>
          </a:solidFill>
          <a:ln/>
        </p:spPr>
      </p:sp>
      <p:sp>
        <p:nvSpPr>
          <p:cNvPr id="16" name="icon-cpu-130"/>
          <p:cNvSpPr/>
          <p:nvPr/>
        </p:nvSpPr>
        <p:spPr>
          <a:xfrm>
            <a:off x="7995514" y="4703674"/>
            <a:ext cx="285293" cy="285293"/>
          </a:xfrm>
          <a:custGeom>
            <a:avLst/>
            <a:gdLst/>
            <a:ahLst/>
            <a:cxnLst/>
            <a:rect l="l" t="t" r="r" b="b"/>
            <a:pathLst>
              <a:path w="285293" h="285293">
                <a:moveTo>
                  <a:pt x="71323" y="47549"/>
                </a:moveTo>
                <a:lnTo>
                  <a:pt x="213970" y="47549"/>
                </a:lnTo>
                <a:cubicBezTo>
                  <a:pt x="227137" y="47549"/>
                  <a:pt x="237744" y="58156"/>
                  <a:pt x="237744" y="71323"/>
                </a:cubicBezTo>
                <a:lnTo>
                  <a:pt x="237744" y="213970"/>
                </a:lnTo>
                <a:cubicBezTo>
                  <a:pt x="237744" y="227137"/>
                  <a:pt x="227137" y="237744"/>
                  <a:pt x="213970" y="237744"/>
                </a:cubicBezTo>
                <a:lnTo>
                  <a:pt x="71323" y="237744"/>
                </a:lnTo>
                <a:cubicBezTo>
                  <a:pt x="58156" y="237744"/>
                  <a:pt x="47549" y="227137"/>
                  <a:pt x="47549" y="213970"/>
                </a:cubicBezTo>
                <a:lnTo>
                  <a:pt x="47549" y="71323"/>
                </a:lnTo>
                <a:cubicBezTo>
                  <a:pt x="47549" y="58156"/>
                  <a:pt x="58156" y="47549"/>
                  <a:pt x="71323" y="47549"/>
                </a:cubicBezTo>
                <a:close/>
                <a:moveTo>
                  <a:pt x="118872" y="106985"/>
                </a:moveTo>
                <a:lnTo>
                  <a:pt x="166421" y="106985"/>
                </a:lnTo>
                <a:cubicBezTo>
                  <a:pt x="173004" y="106985"/>
                  <a:pt x="178308" y="112288"/>
                  <a:pt x="178308" y="118872"/>
                </a:cubicBezTo>
                <a:lnTo>
                  <a:pt x="178308" y="166421"/>
                </a:lnTo>
                <a:cubicBezTo>
                  <a:pt x="178308" y="173004"/>
                  <a:pt x="173004" y="178308"/>
                  <a:pt x="166421" y="178308"/>
                </a:cubicBezTo>
                <a:lnTo>
                  <a:pt x="118872" y="178308"/>
                </a:lnTo>
                <a:cubicBezTo>
                  <a:pt x="112288" y="178308"/>
                  <a:pt x="106985" y="173004"/>
                  <a:pt x="106985" y="166421"/>
                </a:cubicBezTo>
                <a:lnTo>
                  <a:pt x="106985" y="118872"/>
                </a:lnTo>
                <a:cubicBezTo>
                  <a:pt x="106985" y="112288"/>
                  <a:pt x="112288" y="106985"/>
                  <a:pt x="118872" y="106985"/>
                </a:cubicBezTo>
                <a:close/>
                <a:moveTo>
                  <a:pt x="178308" y="23774"/>
                </a:moveTo>
                <a:lnTo>
                  <a:pt x="178308" y="47549"/>
                </a:lnTo>
                <a:moveTo>
                  <a:pt x="178308" y="237744"/>
                </a:moveTo>
                <a:lnTo>
                  <a:pt x="178308" y="261518"/>
                </a:lnTo>
                <a:moveTo>
                  <a:pt x="23774" y="178308"/>
                </a:moveTo>
                <a:lnTo>
                  <a:pt x="47549" y="178308"/>
                </a:lnTo>
                <a:moveTo>
                  <a:pt x="23774" y="106985"/>
                </a:moveTo>
                <a:lnTo>
                  <a:pt x="47549" y="106985"/>
                </a:lnTo>
                <a:moveTo>
                  <a:pt x="237744" y="178308"/>
                </a:moveTo>
                <a:lnTo>
                  <a:pt x="261518" y="178308"/>
                </a:lnTo>
                <a:moveTo>
                  <a:pt x="237744" y="106985"/>
                </a:moveTo>
                <a:lnTo>
                  <a:pt x="261518" y="106985"/>
                </a:lnTo>
                <a:moveTo>
                  <a:pt x="106985" y="23774"/>
                </a:moveTo>
                <a:lnTo>
                  <a:pt x="106985" y="47549"/>
                </a:lnTo>
                <a:moveTo>
                  <a:pt x="106985" y="237744"/>
                </a:moveTo>
                <a:lnTo>
                  <a:pt x="106985" y="261518"/>
                </a:lnTo>
              </a:path>
            </a:pathLst>
          </a:custGeom>
          <a:noFill/>
          <a:ln w="23749" cap="rnd">
            <a:solidFill>
              <a:schemeClr val="bg1"/>
            </a:solidFill>
            <a:prstDash val="solid"/>
            <a:round/>
          </a:ln>
        </p:spPr>
      </p:sp>
      <p:sp>
        <p:nvSpPr>
          <p:cNvPr id="17" name="card-title-131"/>
          <p:cNvSpPr txBox="1"/>
          <p:nvPr/>
        </p:nvSpPr>
        <p:spPr>
          <a:xfrm>
            <a:off x="8595360" y="4572000"/>
            <a:ext cx="2816352"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If not allowed</a:t>
            </a:r>
            <a:endParaRPr lang="en-US" sz="1700" dirty="0"/>
          </a:p>
        </p:txBody>
      </p:sp>
      <p:sp>
        <p:nvSpPr>
          <p:cNvPr id="18" name="card-body-132"/>
          <p:cNvSpPr txBox="1"/>
          <p:nvPr/>
        </p:nvSpPr>
        <p:spPr>
          <a:xfrm>
            <a:off x="7863840" y="5257800"/>
            <a:ext cx="3547872" cy="73152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Use a native ARM64 builder, or supply prebuilt ECR images (context_manager_image_uri, vkg_image_uri).</a:t>
            </a:r>
            <a:endParaRPr lang="en-US" sz="1400" dirty="0"/>
          </a:p>
        </p:txBody>
      </p:sp>
      <p:sp>
        <p:nvSpPr>
          <p:cNvPr id="19" name="callout-133"/>
          <p:cNvSpPr/>
          <p:nvPr/>
        </p:nvSpPr>
        <p:spPr>
          <a:xfrm>
            <a:off x="548640" y="5440680"/>
            <a:ext cx="6766560" cy="731520"/>
          </a:xfrm>
          <a:prstGeom prst="roundRect">
            <a:avLst>
              <a:gd name="adj" fmla="val 10000"/>
            </a:avLst>
          </a:prstGeom>
          <a:solidFill>
            <a:schemeClr val="bg2"/>
          </a:solidFill>
          <a:ln/>
        </p:spPr>
      </p:sp>
      <p:sp>
        <p:nvSpPr>
          <p:cNvPr id="20" name="callout-text-134"/>
          <p:cNvSpPr txBox="1"/>
          <p:nvPr/>
        </p:nvSpPr>
        <p:spPr>
          <a:xfrm>
            <a:off x="777240" y="5440680"/>
            <a:ext cx="6309360" cy="731520"/>
          </a:xfrm>
          <a:prstGeom prst="rect">
            <a:avLst/>
          </a:prstGeom>
          <a:noFill/>
          <a:ln/>
        </p:spPr>
        <p:txBody>
          <a:bodyPr wrap="square" lIns="0" tIns="0" rIns="0" bIns="0" rtlCol="0" anchor="ctr"/>
          <a:lstStyle/>
          <a:p>
            <a:pPr indent="0" marL="0">
              <a:buNone/>
            </a:pPr>
            <a:r>
              <a:rPr lang="en-US" sz="1400" b="1" dirty="0">
                <a:solidFill>
                  <a:schemeClr val="tx1"/>
                </a:solidFill>
              </a:rPr>
              <a:t>Tip:  </a:t>
            </a:r>
            <a:pPr indent="0" marL="0">
              <a:buNone/>
            </a:pPr>
            <a:r>
              <a:rPr lang="en-US" sz="1400" dirty="0">
                <a:solidFill>
                  <a:schemeClr val="tx1"/>
                </a:solidFill>
              </a:rPr>
              <a:t>register emulation in the same engine CDK uses (check CDK_DOCKER: Docker vs Finch).</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141732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PHASE 2 · PREPARE THE AWS ACCOUNT</a:t>
            </a:r>
            <a:endParaRPr lang="en-US" sz="1200" dirty="0"/>
          </a:p>
        </p:txBody>
      </p:sp>
      <p:sp>
        <p:nvSpPr>
          <p:cNvPr id="3" name="Text 0"/>
          <p:cNvSpPr/>
          <p:nvPr>
            <p:ph idx="101" type="title" hasCustomPrompt="1"/>
          </p:nvPr>
        </p:nvSpPr>
        <p:spPr>
          <a:xfrm>
            <a:off x="1417320" y="640080"/>
            <a:ext cx="10222992" cy="685800"/>
          </a:xfrm>
          <a:prstGeom prst="rect">
            <a:avLst/>
          </a:prstGeom>
          <a:noFill/>
          <a:ln/>
        </p:spPr>
        <p:txBody>
          <a:bodyPr wrap="square" lIns="0" tIns="0" rIns="0" bIns="0" rtlCol="0" anchor="ctr"/>
          <a:lstStyle/>
          <a:p>
            <a:pPr algn="l" indent="0" marL="0">
              <a:buNone/>
            </a:pPr>
            <a:r>
              <a:rPr lang="en-US" sz="3400" b="1" dirty="0">
                <a:solidFill>
                  <a:schemeClr val="tx1"/>
                </a:solidFill>
              </a:rPr>
              <a:t>Set credentials and region</a:t>
            </a:r>
            <a:endParaRPr lang="en-US" sz="3400" dirty="0"/>
          </a:p>
        </p:txBody>
      </p:sp>
      <p:sp>
        <p:nvSpPr>
          <p:cNvPr id="4" name="step-badge-135"/>
          <p:cNvSpPr/>
          <p:nvPr/>
        </p:nvSpPr>
        <p:spPr>
          <a:xfrm>
            <a:off x="548640" y="566928"/>
            <a:ext cx="713232" cy="713232"/>
          </a:xfrm>
          <a:prstGeom prst="ellipse">
            <a:avLst/>
          </a:prstGeom>
          <a:solidFill>
            <a:schemeClr val="accent1"/>
          </a:solidFill>
          <a:ln/>
        </p:spPr>
      </p:sp>
      <p:sp>
        <p:nvSpPr>
          <p:cNvPr id="5" name="step-number-136"/>
          <p:cNvSpPr txBox="1"/>
          <p:nvPr/>
        </p:nvSpPr>
        <p:spPr>
          <a:xfrm>
            <a:off x="548640" y="566928"/>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latin typeface="Arial" pitchFamily="34" charset="0"/>
                <a:ea typeface="Arial" pitchFamily="34" charset="-122"/>
                <a:cs typeface="Arial" pitchFamily="34" charset="-120"/>
              </a:rPr>
              <a:t>3</a:t>
            </a:r>
            <a:endParaRPr lang="en-US" sz="2600" dirty="0"/>
          </a:p>
        </p:txBody>
      </p:sp>
      <p:sp>
        <p:nvSpPr>
          <p:cNvPr id="6" name="code-bg-137"/>
          <p:cNvSpPr/>
          <p:nvPr/>
        </p:nvSpPr>
        <p:spPr>
          <a:xfrm>
            <a:off x="548640" y="1600200"/>
            <a:ext cx="6400800" cy="2606040"/>
          </a:xfrm>
          <a:prstGeom prst="roundRect">
            <a:avLst>
              <a:gd name="adj" fmla="val 2807"/>
            </a:avLst>
          </a:prstGeom>
          <a:solidFill>
            <a:schemeClr val="tx1"/>
          </a:solidFill>
          <a:ln/>
        </p:spPr>
      </p:sp>
      <p:sp>
        <p:nvSpPr>
          <p:cNvPr id="7" name="code-138"/>
          <p:cNvSpPr txBox="1"/>
          <p:nvPr/>
        </p:nvSpPr>
        <p:spPr>
          <a:xfrm>
            <a:off x="777240" y="1737360"/>
            <a:ext cx="5943600" cy="2331720"/>
          </a:xfrm>
          <a:prstGeom prst="rect">
            <a:avLst/>
          </a:prstGeom>
          <a:noFill/>
          <a:ln/>
        </p:spPr>
        <p:txBody>
          <a:bodyPr wrap="square" lIns="0" tIns="0" rIns="0" bIns="0" rtlCol="0" anchor="t"/>
          <a:lstStyle/>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aws configure sso        </a:t>
            </a:r>
            <a:pPr indent="0" marL="0">
              <a:spcAft>
                <a:spcPts val="300"/>
              </a:spcAft>
              <a:buNone/>
            </a:pPr>
            <a:r>
              <a:rPr lang="en-US" sz="1300" dirty="0">
                <a:solidFill>
                  <a:schemeClr val="accent1"/>
                </a:solidFill>
                <a:latin typeface="Courier New" pitchFamily="34" charset="0"/>
                <a:ea typeface="Courier New" pitchFamily="34" charset="-122"/>
                <a:cs typeface="Courier New" pitchFamily="34" charset="-120"/>
              </a:rPr>
              <a:t># or aws configure</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export AWS_PROFILE=&lt;coa-admin-profile&gt;</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 </a:t>
            </a:r>
            <a:endParaRPr lang="en-US" sz="1300" dirty="0"/>
          </a:p>
          <a:p>
            <a:pPr indent="0" marL="0">
              <a:spcAft>
                <a:spcPts val="300"/>
              </a:spcAft>
              <a:buNone/>
            </a:pPr>
            <a:r>
              <a:rPr lang="en-US" sz="1300" dirty="0">
                <a:solidFill>
                  <a:schemeClr val="accent1"/>
                </a:solidFill>
                <a:latin typeface="Courier New" pitchFamily="34" charset="0"/>
                <a:ea typeface="Courier New" pitchFamily="34" charset="-122"/>
                <a:cs typeface="Courier New" pitchFamily="34" charset="-120"/>
              </a:rPr>
              <a:t># set BOTH, or CLI and CDK can diverge</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export AWS_DEFAULT_REGION=us-east-1</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export CDK_DEFAULT_REGION=us-east-1</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 </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aws sts get-caller-identity</a:t>
            </a:r>
            <a:endParaRPr lang="en-US" sz="1300" dirty="0"/>
          </a:p>
        </p:txBody>
      </p:sp>
      <p:sp>
        <p:nvSpPr>
          <p:cNvPr id="8" name="card-139"/>
          <p:cNvSpPr/>
          <p:nvPr/>
        </p:nvSpPr>
        <p:spPr>
          <a:xfrm>
            <a:off x="7223760" y="1600200"/>
            <a:ext cx="4416552" cy="2148840"/>
          </a:xfrm>
          <a:prstGeom prst="roundRect">
            <a:avLst>
              <a:gd name="adj" fmla="val 4255"/>
            </a:avLst>
          </a:prstGeom>
          <a:solidFill>
            <a:schemeClr val="bg2"/>
          </a:solidFill>
          <a:ln/>
        </p:spPr>
      </p:sp>
      <p:sp>
        <p:nvSpPr>
          <p:cNvPr id="9" name="icon-circle-140"/>
          <p:cNvSpPr/>
          <p:nvPr/>
        </p:nvSpPr>
        <p:spPr>
          <a:xfrm>
            <a:off x="7498080" y="1874520"/>
            <a:ext cx="548640" cy="548640"/>
          </a:xfrm>
          <a:prstGeom prst="ellipse">
            <a:avLst/>
          </a:prstGeom>
          <a:solidFill>
            <a:schemeClr val="accent2"/>
          </a:solidFill>
          <a:ln/>
        </p:spPr>
      </p:sp>
      <p:sp>
        <p:nvSpPr>
          <p:cNvPr id="10" name="icon-keyround-141"/>
          <p:cNvSpPr/>
          <p:nvPr/>
        </p:nvSpPr>
        <p:spPr>
          <a:xfrm>
            <a:off x="7629754" y="2006194"/>
            <a:ext cx="285293" cy="285293"/>
          </a:xfrm>
          <a:custGeom>
            <a:avLst/>
            <a:gdLst/>
            <a:ahLst/>
            <a:cxnLst/>
            <a:rect l="l" t="t" r="r" b="b"/>
            <a:pathLst>
              <a:path w="285293" h="285293">
                <a:moveTo>
                  <a:pt x="30724" y="207020"/>
                </a:moveTo>
                <a:cubicBezTo>
                  <a:pt x="26243" y="211501"/>
                  <a:pt x="23774" y="217536"/>
                  <a:pt x="23774" y="223845"/>
                </a:cubicBezTo>
                <a:lnTo>
                  <a:pt x="23774" y="249631"/>
                </a:lnTo>
                <a:cubicBezTo>
                  <a:pt x="23774" y="256215"/>
                  <a:pt x="29078" y="261518"/>
                  <a:pt x="35662" y="261518"/>
                </a:cubicBezTo>
                <a:lnTo>
                  <a:pt x="71323" y="261518"/>
                </a:lnTo>
                <a:cubicBezTo>
                  <a:pt x="77907" y="261518"/>
                  <a:pt x="83210" y="256215"/>
                  <a:pt x="83210" y="249631"/>
                </a:cubicBezTo>
                <a:lnTo>
                  <a:pt x="83210" y="237744"/>
                </a:lnTo>
                <a:cubicBezTo>
                  <a:pt x="83210" y="231160"/>
                  <a:pt x="88514" y="225857"/>
                  <a:pt x="95098" y="225857"/>
                </a:cubicBezTo>
                <a:lnTo>
                  <a:pt x="106985" y="225857"/>
                </a:lnTo>
                <a:cubicBezTo>
                  <a:pt x="113568" y="225857"/>
                  <a:pt x="118872" y="220553"/>
                  <a:pt x="118872" y="213970"/>
                </a:cubicBezTo>
                <a:lnTo>
                  <a:pt x="118872" y="202082"/>
                </a:lnTo>
                <a:cubicBezTo>
                  <a:pt x="118872" y="195499"/>
                  <a:pt x="124176" y="190195"/>
                  <a:pt x="130759" y="190195"/>
                </a:cubicBezTo>
                <a:lnTo>
                  <a:pt x="132771" y="190195"/>
                </a:lnTo>
                <a:cubicBezTo>
                  <a:pt x="139080" y="190195"/>
                  <a:pt x="145115" y="187726"/>
                  <a:pt x="149596" y="183246"/>
                </a:cubicBezTo>
                <a:lnTo>
                  <a:pt x="159288" y="173553"/>
                </a:lnTo>
                <a:cubicBezTo>
                  <a:pt x="193304" y="185440"/>
                  <a:pt x="230977" y="172182"/>
                  <a:pt x="250180" y="141641"/>
                </a:cubicBezTo>
                <a:cubicBezTo>
                  <a:pt x="269291" y="111100"/>
                  <a:pt x="264810" y="71415"/>
                  <a:pt x="239298" y="45994"/>
                </a:cubicBezTo>
                <a:cubicBezTo>
                  <a:pt x="213878" y="20483"/>
                  <a:pt x="174193" y="16002"/>
                  <a:pt x="143652" y="35113"/>
                </a:cubicBezTo>
                <a:cubicBezTo>
                  <a:pt x="113111" y="54315"/>
                  <a:pt x="99852" y="91989"/>
                  <a:pt x="111740" y="126004"/>
                </a:cubicBezTo>
                <a:close/>
                <a:moveTo>
                  <a:pt x="190195" y="89154"/>
                </a:moveTo>
                <a:cubicBezTo>
                  <a:pt x="190195" y="92446"/>
                  <a:pt x="192847" y="95098"/>
                  <a:pt x="196139" y="95098"/>
                </a:cubicBezTo>
                <a:cubicBezTo>
                  <a:pt x="199431" y="95098"/>
                  <a:pt x="202082" y="92446"/>
                  <a:pt x="202082" y="89154"/>
                </a:cubicBezTo>
                <a:cubicBezTo>
                  <a:pt x="202082" y="85862"/>
                  <a:pt x="199431" y="83210"/>
                  <a:pt x="196139" y="83210"/>
                </a:cubicBezTo>
                <a:cubicBezTo>
                  <a:pt x="192847" y="83210"/>
                  <a:pt x="190195" y="85862"/>
                  <a:pt x="190195" y="89154"/>
                </a:cubicBezTo>
                <a:close/>
              </a:path>
            </a:pathLst>
          </a:custGeom>
          <a:noFill/>
          <a:ln w="23749" cap="rnd">
            <a:solidFill>
              <a:schemeClr val="bg1"/>
            </a:solidFill>
            <a:prstDash val="solid"/>
            <a:round/>
          </a:ln>
        </p:spPr>
      </p:sp>
      <p:sp>
        <p:nvSpPr>
          <p:cNvPr id="11" name="card-title-142"/>
          <p:cNvSpPr txBox="1"/>
          <p:nvPr/>
        </p:nvSpPr>
        <p:spPr>
          <a:xfrm>
            <a:off x="8229600" y="1874520"/>
            <a:ext cx="3182112"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Deploying principal</a:t>
            </a:r>
            <a:endParaRPr lang="en-US" sz="1700" dirty="0"/>
          </a:p>
        </p:txBody>
      </p:sp>
      <p:sp>
        <p:nvSpPr>
          <p:cNvPr id="12" name="card-body-143"/>
          <p:cNvSpPr txBox="1"/>
          <p:nvPr/>
        </p:nvSpPr>
        <p:spPr>
          <a:xfrm>
            <a:off x="7498080" y="2560320"/>
            <a:ext cx="3913632" cy="100584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AdministratorAccess or equivalent for the initial deploy. One account, one region per deployment.</a:t>
            </a:r>
            <a:endParaRPr lang="en-US" sz="1400" dirty="0"/>
          </a:p>
        </p:txBody>
      </p:sp>
      <p:sp>
        <p:nvSpPr>
          <p:cNvPr id="13" name="card-144"/>
          <p:cNvSpPr/>
          <p:nvPr/>
        </p:nvSpPr>
        <p:spPr>
          <a:xfrm>
            <a:off x="7223760" y="3931920"/>
            <a:ext cx="4416552" cy="2240280"/>
          </a:xfrm>
          <a:prstGeom prst="roundRect">
            <a:avLst>
              <a:gd name="adj" fmla="val 4082"/>
            </a:avLst>
          </a:prstGeom>
          <a:solidFill>
            <a:schemeClr val="bg2"/>
          </a:solidFill>
          <a:ln/>
        </p:spPr>
      </p:sp>
      <p:sp>
        <p:nvSpPr>
          <p:cNvPr id="14" name="icon-circle-145"/>
          <p:cNvSpPr/>
          <p:nvPr/>
        </p:nvSpPr>
        <p:spPr>
          <a:xfrm>
            <a:off x="7498080" y="4206240"/>
            <a:ext cx="548640" cy="548640"/>
          </a:xfrm>
          <a:prstGeom prst="ellipse">
            <a:avLst/>
          </a:prstGeom>
          <a:solidFill>
            <a:schemeClr val="accent1"/>
          </a:solidFill>
          <a:ln/>
        </p:spPr>
      </p:sp>
      <p:sp>
        <p:nvSpPr>
          <p:cNvPr id="15" name="icon-clock-146"/>
          <p:cNvSpPr/>
          <p:nvPr/>
        </p:nvSpPr>
        <p:spPr>
          <a:xfrm>
            <a:off x="7629754" y="4337914"/>
            <a:ext cx="285293" cy="285293"/>
          </a:xfrm>
          <a:custGeom>
            <a:avLst/>
            <a:gdLst/>
            <a:ahLst/>
            <a:cxnLst/>
            <a:rect l="l" t="t" r="r" b="b"/>
            <a:pathLst>
              <a:path w="285293" h="285293">
                <a:moveTo>
                  <a:pt x="23774" y="142646"/>
                </a:moveTo>
                <a:cubicBezTo>
                  <a:pt x="23774" y="208300"/>
                  <a:pt x="76992" y="261518"/>
                  <a:pt x="142646" y="261518"/>
                </a:cubicBezTo>
                <a:cubicBezTo>
                  <a:pt x="208300" y="261518"/>
                  <a:pt x="261518" y="208300"/>
                  <a:pt x="261518" y="142646"/>
                </a:cubicBezTo>
                <a:cubicBezTo>
                  <a:pt x="261518" y="76992"/>
                  <a:pt x="208300" y="23774"/>
                  <a:pt x="142646" y="23774"/>
                </a:cubicBezTo>
                <a:cubicBezTo>
                  <a:pt x="76992" y="23774"/>
                  <a:pt x="23774" y="76992"/>
                  <a:pt x="23774" y="142646"/>
                </a:cubicBezTo>
                <a:close/>
                <a:moveTo>
                  <a:pt x="142646" y="71323"/>
                </a:moveTo>
                <a:lnTo>
                  <a:pt x="142646" y="142646"/>
                </a:lnTo>
                <a:lnTo>
                  <a:pt x="190195" y="166421"/>
                </a:lnTo>
              </a:path>
            </a:pathLst>
          </a:custGeom>
          <a:noFill/>
          <a:ln w="23749" cap="rnd">
            <a:solidFill>
              <a:schemeClr val="bg1"/>
            </a:solidFill>
            <a:prstDash val="solid"/>
            <a:round/>
          </a:ln>
        </p:spPr>
      </p:sp>
      <p:sp>
        <p:nvSpPr>
          <p:cNvPr id="16" name="card-title-147"/>
          <p:cNvSpPr txBox="1"/>
          <p:nvPr/>
        </p:nvSpPr>
        <p:spPr>
          <a:xfrm>
            <a:off x="8229600" y="4206240"/>
            <a:ext cx="3182112"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Session length</a:t>
            </a:r>
            <a:endParaRPr lang="en-US" sz="1700" dirty="0"/>
          </a:p>
        </p:txBody>
      </p:sp>
      <p:sp>
        <p:nvSpPr>
          <p:cNvPr id="17" name="card-body-148"/>
          <p:cNvSpPr txBox="1"/>
          <p:nvPr/>
        </p:nvSpPr>
        <p:spPr>
          <a:xfrm>
            <a:off x="7498080" y="4892040"/>
            <a:ext cx="3913632" cy="109728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The deploy runs 1.5 h+. Make sure your SSO/STS session outlasts it, or stacks fail mid-way.</a:t>
            </a:r>
            <a:endParaRPr lang="en-US" sz="1400" dirty="0"/>
          </a:p>
        </p:txBody>
      </p:sp>
      <p:sp>
        <p:nvSpPr>
          <p:cNvPr id="18" name="card-149"/>
          <p:cNvSpPr/>
          <p:nvPr/>
        </p:nvSpPr>
        <p:spPr>
          <a:xfrm>
            <a:off x="548640" y="4389120"/>
            <a:ext cx="6400800" cy="1783080"/>
          </a:xfrm>
          <a:prstGeom prst="roundRect">
            <a:avLst>
              <a:gd name="adj" fmla="val 5128"/>
            </a:avLst>
          </a:prstGeom>
          <a:solidFill>
            <a:schemeClr val="bg2"/>
          </a:solidFill>
          <a:ln/>
        </p:spPr>
      </p:sp>
      <p:sp>
        <p:nvSpPr>
          <p:cNvPr id="19" name="icon-circle-150"/>
          <p:cNvSpPr/>
          <p:nvPr/>
        </p:nvSpPr>
        <p:spPr>
          <a:xfrm>
            <a:off x="822960" y="4663440"/>
            <a:ext cx="548640" cy="548640"/>
          </a:xfrm>
          <a:prstGeom prst="ellipse">
            <a:avLst/>
          </a:prstGeom>
          <a:solidFill>
            <a:schemeClr val="accent2"/>
          </a:solidFill>
          <a:ln/>
        </p:spPr>
      </p:sp>
      <p:sp>
        <p:nvSpPr>
          <p:cNvPr id="20" name="icon-cloud-151"/>
          <p:cNvSpPr/>
          <p:nvPr/>
        </p:nvSpPr>
        <p:spPr>
          <a:xfrm>
            <a:off x="954634" y="4795114"/>
            <a:ext cx="285293" cy="285293"/>
          </a:xfrm>
          <a:custGeom>
            <a:avLst/>
            <a:gdLst/>
            <a:ahLst/>
            <a:cxnLst/>
            <a:rect l="l" t="t" r="r" b="b"/>
            <a:pathLst>
              <a:path w="285293" h="285293">
                <a:moveTo>
                  <a:pt x="208026" y="225857"/>
                </a:moveTo>
                <a:lnTo>
                  <a:pt x="106985" y="225857"/>
                </a:lnTo>
                <a:cubicBezTo>
                  <a:pt x="64099" y="225857"/>
                  <a:pt x="28346" y="193304"/>
                  <a:pt x="24140" y="150693"/>
                </a:cubicBezTo>
                <a:cubicBezTo>
                  <a:pt x="20025" y="107991"/>
                  <a:pt x="49012" y="69220"/>
                  <a:pt x="91074" y="60990"/>
                </a:cubicBezTo>
                <a:cubicBezTo>
                  <a:pt x="133045" y="52761"/>
                  <a:pt x="174468" y="77815"/>
                  <a:pt x="186720" y="118872"/>
                </a:cubicBezTo>
                <a:lnTo>
                  <a:pt x="208026" y="118872"/>
                </a:lnTo>
                <a:cubicBezTo>
                  <a:pt x="237561" y="118872"/>
                  <a:pt x="261518" y="142829"/>
                  <a:pt x="261518" y="172364"/>
                </a:cubicBezTo>
                <a:cubicBezTo>
                  <a:pt x="261518" y="201900"/>
                  <a:pt x="237561" y="225857"/>
                  <a:pt x="208026" y="225857"/>
                </a:cubicBezTo>
                <a:close/>
              </a:path>
            </a:pathLst>
          </a:custGeom>
          <a:noFill/>
          <a:ln w="23749" cap="rnd">
            <a:solidFill>
              <a:schemeClr val="bg1"/>
            </a:solidFill>
            <a:prstDash val="solid"/>
            <a:round/>
          </a:ln>
        </p:spPr>
      </p:sp>
      <p:sp>
        <p:nvSpPr>
          <p:cNvPr id="21" name="card-title-152"/>
          <p:cNvSpPr txBox="1"/>
          <p:nvPr/>
        </p:nvSpPr>
        <p:spPr>
          <a:xfrm>
            <a:off x="1554480" y="4663440"/>
            <a:ext cx="516636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Why us-east-1</a:t>
            </a:r>
            <a:endParaRPr lang="en-US" sz="1700" dirty="0"/>
          </a:p>
        </p:txBody>
      </p:sp>
      <p:sp>
        <p:nvSpPr>
          <p:cNvPr id="22" name="card-body-153"/>
          <p:cNvSpPr txBox="1"/>
          <p:nvPr/>
        </p:nvSpPr>
        <p:spPr>
          <a:xfrm>
            <a:off x="822960" y="5349240"/>
            <a:ext cx="5897880" cy="64008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Only region AWS has validated; default Bedrock IDs are us.* profiles.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141732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PHASE 2 · PREPARE THE AWS ACCOUNT</a:t>
            </a:r>
            <a:endParaRPr lang="en-US" sz="1200" dirty="0"/>
          </a:p>
        </p:txBody>
      </p:sp>
      <p:sp>
        <p:nvSpPr>
          <p:cNvPr id="3" name="Text 0"/>
          <p:cNvSpPr/>
          <p:nvPr>
            <p:ph idx="101" type="title" hasCustomPrompt="1"/>
          </p:nvPr>
        </p:nvSpPr>
        <p:spPr>
          <a:xfrm>
            <a:off x="1417320" y="640080"/>
            <a:ext cx="10222992" cy="685800"/>
          </a:xfrm>
          <a:prstGeom prst="rect">
            <a:avLst/>
          </a:prstGeom>
          <a:noFill/>
          <a:ln/>
        </p:spPr>
        <p:txBody>
          <a:bodyPr wrap="square" lIns="0" tIns="0" rIns="0" bIns="0" rtlCol="0" anchor="ctr"/>
          <a:lstStyle/>
          <a:p>
            <a:pPr algn="l" indent="0" marL="0">
              <a:buNone/>
            </a:pPr>
            <a:r>
              <a:rPr lang="en-US" sz="3400" b="1" dirty="0">
                <a:solidFill>
                  <a:schemeClr val="tx1"/>
                </a:solidFill>
              </a:rPr>
              <a:t>Check service quotas</a:t>
            </a:r>
            <a:endParaRPr lang="en-US" sz="3400" dirty="0"/>
          </a:p>
        </p:txBody>
      </p:sp>
      <p:sp>
        <p:nvSpPr>
          <p:cNvPr id="4" name="step-badge-154"/>
          <p:cNvSpPr/>
          <p:nvPr/>
        </p:nvSpPr>
        <p:spPr>
          <a:xfrm>
            <a:off x="548640" y="566928"/>
            <a:ext cx="713232" cy="713232"/>
          </a:xfrm>
          <a:prstGeom prst="ellipse">
            <a:avLst/>
          </a:prstGeom>
          <a:solidFill>
            <a:schemeClr val="accent1"/>
          </a:solidFill>
          <a:ln/>
        </p:spPr>
      </p:sp>
      <p:sp>
        <p:nvSpPr>
          <p:cNvPr id="5" name="step-number-155"/>
          <p:cNvSpPr txBox="1"/>
          <p:nvPr/>
        </p:nvSpPr>
        <p:spPr>
          <a:xfrm>
            <a:off x="548640" y="566928"/>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latin typeface="Arial" pitchFamily="34" charset="0"/>
                <a:ea typeface="Arial" pitchFamily="34" charset="-122"/>
                <a:cs typeface="Arial" pitchFamily="34" charset="-120"/>
              </a:rPr>
              <a:t>4</a:t>
            </a:r>
            <a:endParaRPr lang="en-US" sz="2600" dirty="0"/>
          </a:p>
        </p:txBody>
      </p:sp>
      <p:graphicFrame>
        <p:nvGraphicFramePr>
          <p:cNvPr id="8" name="quota-table-156"/>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514600"/>
                <a:gridCol w="2103120"/>
                <a:gridCol w="1600200"/>
                <a:gridCol w="1097280"/>
                <a:gridCol w="3776472"/>
              </a:tblGrid>
              <a:tr h="475488">
                <a:tc>
                  <a:txBody>
                    <a:bodyPr/>
                    <a:lstStyle/>
                    <a:p>
                      <a:pPr indent="0" marL="0">
                        <a:buNone/>
                      </a:pPr>
                      <a:r>
                        <a:rPr lang="en-US" sz="1400" b="1" dirty="0">
                          <a:solidFill>
                            <a:schemeClr val="bg1"/>
                          </a:solidFill>
                          <a:latin typeface="Arial" pitchFamily="34" charset="0"/>
                          <a:ea typeface="Arial" pitchFamily="34" charset="-122"/>
                          <a:cs typeface="Arial" pitchFamily="34" charset="-120"/>
                        </a:rPr>
                        <a:t>Quota</a:t>
                      </a:r>
                      <a:endParaRPr lang="en-US" sz="1400" dirty="0">
                        <a:latin typeface="Arial" charset="0"/>
                        <a:ea typeface="Arial" charset="0"/>
                        <a:cs typeface="Arial" charset="0"/>
                      </a:endParaRPr>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Code</a:t>
                      </a:r>
                      <a:endParaRPr lang="en-US" sz="1400" dirty="0">
                        <a:latin typeface="Arial" charset="0"/>
                        <a:ea typeface="Arial" charset="0"/>
                        <a:cs typeface="Arial" charset="0"/>
                      </a:endParaRPr>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Default</a:t>
                      </a:r>
                      <a:endParaRPr lang="en-US" sz="1400" dirty="0">
                        <a:latin typeface="Arial" charset="0"/>
                        <a:ea typeface="Arial" charset="0"/>
                        <a:cs typeface="Arial" charset="0"/>
                      </a:endParaRPr>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Preflight</a:t>
                      </a:r>
                      <a:endParaRPr lang="en-US" sz="1400" dirty="0">
                        <a:latin typeface="Arial" charset="0"/>
                        <a:ea typeface="Arial" charset="0"/>
                        <a:cs typeface="Arial" charset="0"/>
                      </a:endParaRPr>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Action if too low</a:t>
                      </a:r>
                      <a:endParaRPr lang="en-US" sz="1400" dirty="0">
                        <a:latin typeface="Arial" charset="0"/>
                        <a:ea typeface="Arial" charset="0"/>
                        <a:cs typeface="Arial" charset="0"/>
                      </a:endParaRPr>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1"/>
                    </a:solidFill>
                  </a:tcPr>
                </a:tc>
              </a:tr>
              <a:tr h="475488">
                <a:tc>
                  <a:txBody>
                    <a:bodyPr/>
                    <a:lstStyle/>
                    <a:p>
                      <a:pPr indent="0" marL="0">
                        <a:buNone/>
                      </a:pPr>
                      <a:r>
                        <a:rPr lang="en-US" sz="1400" dirty="0">
                          <a:solidFill>
                            <a:schemeClr val="tx1"/>
                          </a:solidFill>
                        </a:rPr>
                        <a:t>Fargate On-Demand vCPU</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L-3032A538</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6</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No</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Tightest fit: tasks are 2-4 vCPU, one VKG per namespace. Request increase</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Lambda concurrent executions</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L-B99A9384</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1,000 (10 on new)</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5"/>
                          </a:solidFill>
                        </a:rPr>
                        <a:t>Yes</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Raise, or deploy with SCL_LAMBDA_RESERVED_CONCURRENCY=0</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VPCs per Region</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L-F678F1CE</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5"/>
                          </a:solidFill>
                        </a:rPr>
                        <a:t>Yes</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Free one, or reuse a VPC via SCL_VPC_ID</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OpenSearch Serverless OCU</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L-50FA809B / L-4E98D4EB</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 each</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No</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Standby replicas roughly double use</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Bedrock TPM / RPM</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per model</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varies</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No</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Bounds induction throughput</a:t>
                      </a:r>
                      <a:endParaRPr lang="en-US" sz="1400" dirty="0"/>
                    </a:p>
                  </a:txBody>
                  <a:tcPr marL="91440" marR="91440"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7" name="code-bg-157"/>
          <p:cNvSpPr/>
          <p:nvPr/>
        </p:nvSpPr>
        <p:spPr>
          <a:xfrm>
            <a:off x="548640" y="4846320"/>
            <a:ext cx="11091672" cy="1371600"/>
          </a:xfrm>
          <a:prstGeom prst="roundRect">
            <a:avLst>
              <a:gd name="adj" fmla="val 5333"/>
            </a:avLst>
          </a:prstGeom>
          <a:solidFill>
            <a:schemeClr val="tx1"/>
          </a:solidFill>
          <a:ln/>
        </p:spPr>
      </p:sp>
      <p:sp>
        <p:nvSpPr>
          <p:cNvPr id="8" name="code-158"/>
          <p:cNvSpPr txBox="1"/>
          <p:nvPr/>
        </p:nvSpPr>
        <p:spPr>
          <a:xfrm>
            <a:off x="777240" y="4983480"/>
            <a:ext cx="10634472" cy="1097280"/>
          </a:xfrm>
          <a:prstGeom prst="rect">
            <a:avLst/>
          </a:prstGeom>
          <a:noFill/>
          <a:ln/>
        </p:spPr>
        <p:txBody>
          <a:bodyPr wrap="square" lIns="0" tIns="0" rIns="0" bIns="0" rtlCol="0" anchor="t"/>
          <a:lstStyle/>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aws ec2 describe-vpcs --query 'length(Vpcs)'</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aws lambda get-account-settings --query 'AccountLimit.[ConcurrentExecutions,UnreservedConcurrentExecutions]'</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aws service-quotas get-service-quota --service-code fargate --quota-code L-3032A538</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141732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PHASE 2 · PREPARE THE AWS ACCOUNT</a:t>
            </a:r>
            <a:endParaRPr lang="en-US" sz="1200" dirty="0"/>
          </a:p>
        </p:txBody>
      </p:sp>
      <p:sp>
        <p:nvSpPr>
          <p:cNvPr id="3" name="Text 0"/>
          <p:cNvSpPr/>
          <p:nvPr>
            <p:ph idx="101" type="title" hasCustomPrompt="1"/>
          </p:nvPr>
        </p:nvSpPr>
        <p:spPr>
          <a:xfrm>
            <a:off x="1417320" y="640080"/>
            <a:ext cx="10222992" cy="685800"/>
          </a:xfrm>
          <a:prstGeom prst="rect">
            <a:avLst/>
          </a:prstGeom>
          <a:noFill/>
          <a:ln/>
        </p:spPr>
        <p:txBody>
          <a:bodyPr wrap="square" lIns="0" tIns="0" rIns="0" bIns="0" rtlCol="0" anchor="ctr"/>
          <a:lstStyle/>
          <a:p>
            <a:pPr algn="l" indent="0" marL="0">
              <a:buNone/>
            </a:pPr>
            <a:r>
              <a:rPr lang="en-US" sz="3400" b="1" dirty="0">
                <a:solidFill>
                  <a:schemeClr val="tx1"/>
                </a:solidFill>
              </a:rPr>
              <a:t>Enable Bedrock model access</a:t>
            </a:r>
            <a:endParaRPr lang="en-US" sz="3400" dirty="0"/>
          </a:p>
        </p:txBody>
      </p:sp>
      <p:sp>
        <p:nvSpPr>
          <p:cNvPr id="4" name="step-badge-159"/>
          <p:cNvSpPr/>
          <p:nvPr/>
        </p:nvSpPr>
        <p:spPr>
          <a:xfrm>
            <a:off x="548640" y="566928"/>
            <a:ext cx="713232" cy="713232"/>
          </a:xfrm>
          <a:prstGeom prst="ellipse">
            <a:avLst/>
          </a:prstGeom>
          <a:solidFill>
            <a:schemeClr val="accent1"/>
          </a:solidFill>
          <a:ln/>
        </p:spPr>
      </p:sp>
      <p:sp>
        <p:nvSpPr>
          <p:cNvPr id="5" name="step-number-160"/>
          <p:cNvSpPr txBox="1"/>
          <p:nvPr/>
        </p:nvSpPr>
        <p:spPr>
          <a:xfrm>
            <a:off x="548640" y="566928"/>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latin typeface="Arial" pitchFamily="34" charset="0"/>
                <a:ea typeface="Arial" pitchFamily="34" charset="-122"/>
                <a:cs typeface="Arial" pitchFamily="34" charset="-120"/>
              </a:rPr>
              <a:t>5</a:t>
            </a:r>
            <a:endParaRPr lang="en-US" sz="2600" dirty="0"/>
          </a:p>
        </p:txBody>
      </p:sp>
      <p:sp>
        <p:nvSpPr>
          <p:cNvPr id="6" name="lede-161"/>
          <p:cNvSpPr txBox="1"/>
          <p:nvPr/>
        </p:nvSpPr>
        <p:spPr>
          <a:xfrm>
            <a:off x="1417320" y="1417320"/>
            <a:ext cx="10241280" cy="457200"/>
          </a:xfrm>
          <a:prstGeom prst="rect">
            <a:avLst/>
          </a:prstGeom>
          <a:noFill/>
          <a:ln/>
        </p:spPr>
        <p:txBody>
          <a:bodyPr wrap="square" lIns="0" tIns="0" rIns="0" bIns="0" rtlCol="0" anchor="ctr"/>
          <a:lstStyle/>
          <a:p>
            <a:pPr indent="0" marL="0">
              <a:buNone/>
            </a:pPr>
            <a:r>
              <a:rPr lang="en-US" sz="1600" dirty="0">
                <a:solidFill>
                  <a:schemeClr val="tx2"/>
                </a:solidFill>
              </a:rPr>
              <a:t>Request access in the Bedrock console for all four models. The deploy can't grant it and cdk synth can't detect it.</a:t>
            </a:r>
            <a:endParaRPr lang="en-US" sz="1600" dirty="0"/>
          </a:p>
        </p:txBody>
      </p:sp>
      <p:sp>
        <p:nvSpPr>
          <p:cNvPr id="7" name="card-162"/>
          <p:cNvSpPr/>
          <p:nvPr/>
        </p:nvSpPr>
        <p:spPr>
          <a:xfrm>
            <a:off x="548640" y="2057400"/>
            <a:ext cx="2651760" cy="2240280"/>
          </a:xfrm>
          <a:prstGeom prst="roundRect">
            <a:avLst>
              <a:gd name="adj" fmla="val 4082"/>
            </a:avLst>
          </a:prstGeom>
          <a:solidFill>
            <a:schemeClr val="bg2"/>
          </a:solidFill>
          <a:ln/>
        </p:spPr>
      </p:sp>
      <p:sp>
        <p:nvSpPr>
          <p:cNvPr id="8" name="icon-circle-163"/>
          <p:cNvSpPr/>
          <p:nvPr/>
        </p:nvSpPr>
        <p:spPr>
          <a:xfrm>
            <a:off x="822960" y="2331720"/>
            <a:ext cx="548640" cy="548640"/>
          </a:xfrm>
          <a:prstGeom prst="ellipse">
            <a:avLst/>
          </a:prstGeom>
          <a:solidFill>
            <a:schemeClr val="accent2"/>
          </a:solidFill>
          <a:ln/>
        </p:spPr>
      </p:sp>
      <p:sp>
        <p:nvSpPr>
          <p:cNvPr id="9" name="icon-sparkles-164"/>
          <p:cNvSpPr/>
          <p:nvPr/>
        </p:nvSpPr>
        <p:spPr>
          <a:xfrm>
            <a:off x="954634" y="2463394"/>
            <a:ext cx="285293" cy="285293"/>
          </a:xfrm>
          <a:custGeom>
            <a:avLst/>
            <a:gdLst/>
            <a:ahLst/>
            <a:cxnLst/>
            <a:rect l="l" t="t" r="r" b="b"/>
            <a:pathLst>
              <a:path w="285293" h="285293">
                <a:moveTo>
                  <a:pt x="118140" y="184252"/>
                </a:moveTo>
                <a:cubicBezTo>
                  <a:pt x="115946" y="175839"/>
                  <a:pt x="109454" y="169347"/>
                  <a:pt x="101041" y="167152"/>
                </a:cubicBezTo>
                <a:lnTo>
                  <a:pt x="28072" y="148407"/>
                </a:lnTo>
                <a:cubicBezTo>
                  <a:pt x="25512" y="147676"/>
                  <a:pt x="23774" y="145298"/>
                  <a:pt x="23774" y="142646"/>
                </a:cubicBezTo>
                <a:cubicBezTo>
                  <a:pt x="23774" y="139995"/>
                  <a:pt x="25512" y="137617"/>
                  <a:pt x="28072" y="136886"/>
                </a:cubicBezTo>
                <a:lnTo>
                  <a:pt x="101041" y="118140"/>
                </a:lnTo>
                <a:cubicBezTo>
                  <a:pt x="109454" y="115946"/>
                  <a:pt x="115946" y="109454"/>
                  <a:pt x="118140" y="101041"/>
                </a:cubicBezTo>
                <a:lnTo>
                  <a:pt x="136886" y="28072"/>
                </a:lnTo>
                <a:cubicBezTo>
                  <a:pt x="137617" y="25512"/>
                  <a:pt x="139995" y="23774"/>
                  <a:pt x="142646" y="23774"/>
                </a:cubicBezTo>
                <a:cubicBezTo>
                  <a:pt x="145298" y="23774"/>
                  <a:pt x="147676" y="25512"/>
                  <a:pt x="148407" y="28072"/>
                </a:cubicBezTo>
                <a:lnTo>
                  <a:pt x="167152" y="101041"/>
                </a:lnTo>
                <a:cubicBezTo>
                  <a:pt x="169347" y="109454"/>
                  <a:pt x="175839" y="115946"/>
                  <a:pt x="184252" y="118140"/>
                </a:cubicBezTo>
                <a:lnTo>
                  <a:pt x="257221" y="136886"/>
                </a:lnTo>
                <a:cubicBezTo>
                  <a:pt x="259781" y="137617"/>
                  <a:pt x="261518" y="139995"/>
                  <a:pt x="261518" y="142646"/>
                </a:cubicBezTo>
                <a:cubicBezTo>
                  <a:pt x="261518" y="145298"/>
                  <a:pt x="259781" y="147676"/>
                  <a:pt x="257221" y="148407"/>
                </a:cubicBezTo>
                <a:lnTo>
                  <a:pt x="184252" y="167152"/>
                </a:lnTo>
                <a:cubicBezTo>
                  <a:pt x="175839" y="169347"/>
                  <a:pt x="169347" y="175839"/>
                  <a:pt x="167152" y="184252"/>
                </a:cubicBezTo>
                <a:lnTo>
                  <a:pt x="148407" y="257221"/>
                </a:lnTo>
                <a:cubicBezTo>
                  <a:pt x="147676" y="259781"/>
                  <a:pt x="145298" y="261518"/>
                  <a:pt x="142646" y="261518"/>
                </a:cubicBezTo>
                <a:cubicBezTo>
                  <a:pt x="139995" y="261518"/>
                  <a:pt x="137617" y="259781"/>
                  <a:pt x="136886" y="257221"/>
                </a:cubicBezTo>
                <a:close/>
                <a:moveTo>
                  <a:pt x="237744" y="35662"/>
                </a:moveTo>
                <a:lnTo>
                  <a:pt x="237744" y="83210"/>
                </a:lnTo>
                <a:moveTo>
                  <a:pt x="261518" y="59436"/>
                </a:moveTo>
                <a:lnTo>
                  <a:pt x="213970" y="59436"/>
                </a:lnTo>
                <a:moveTo>
                  <a:pt x="47549" y="202082"/>
                </a:moveTo>
                <a:lnTo>
                  <a:pt x="47549" y="225857"/>
                </a:lnTo>
                <a:moveTo>
                  <a:pt x="59436" y="213970"/>
                </a:moveTo>
                <a:lnTo>
                  <a:pt x="35662" y="213970"/>
                </a:lnTo>
              </a:path>
            </a:pathLst>
          </a:custGeom>
          <a:noFill/>
          <a:ln w="23749" cap="rnd">
            <a:solidFill>
              <a:schemeClr val="bg1"/>
            </a:solidFill>
            <a:prstDash val="solid"/>
            <a:round/>
          </a:ln>
        </p:spPr>
      </p:sp>
      <p:sp>
        <p:nvSpPr>
          <p:cNvPr id="10" name="card-title-165"/>
          <p:cNvSpPr txBox="1"/>
          <p:nvPr/>
        </p:nvSpPr>
        <p:spPr>
          <a:xfrm>
            <a:off x="1554480" y="2331720"/>
            <a:ext cx="141732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Claude Sonnet 5</a:t>
            </a:r>
            <a:endParaRPr lang="en-US" sz="1700" dirty="0"/>
          </a:p>
        </p:txBody>
      </p:sp>
      <p:sp>
        <p:nvSpPr>
          <p:cNvPr id="11" name="card-body-166"/>
          <p:cNvSpPr txBox="1"/>
          <p:nvPr/>
        </p:nvSpPr>
        <p:spPr>
          <a:xfrm>
            <a:off x="822960" y="3017520"/>
            <a:ext cx="2148840" cy="109728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Serve: NL-to-SPARQL and answer synthesis; default induction model</a:t>
            </a:r>
            <a:endParaRPr lang="en-US" sz="1400" dirty="0"/>
          </a:p>
        </p:txBody>
      </p:sp>
      <p:sp>
        <p:nvSpPr>
          <p:cNvPr id="12" name="card-167"/>
          <p:cNvSpPr/>
          <p:nvPr/>
        </p:nvSpPr>
        <p:spPr>
          <a:xfrm>
            <a:off x="3364992" y="2057400"/>
            <a:ext cx="2651760" cy="2240280"/>
          </a:xfrm>
          <a:prstGeom prst="roundRect">
            <a:avLst>
              <a:gd name="adj" fmla="val 4082"/>
            </a:avLst>
          </a:prstGeom>
          <a:solidFill>
            <a:schemeClr val="bg2"/>
          </a:solidFill>
          <a:ln/>
        </p:spPr>
      </p:sp>
      <p:sp>
        <p:nvSpPr>
          <p:cNvPr id="13" name="icon-circle-168"/>
          <p:cNvSpPr/>
          <p:nvPr/>
        </p:nvSpPr>
        <p:spPr>
          <a:xfrm>
            <a:off x="3639312" y="2331720"/>
            <a:ext cx="548640" cy="548640"/>
          </a:xfrm>
          <a:prstGeom prst="ellipse">
            <a:avLst/>
          </a:prstGeom>
          <a:solidFill>
            <a:schemeClr val="accent2"/>
          </a:solidFill>
          <a:ln/>
        </p:spPr>
      </p:sp>
      <p:sp>
        <p:nvSpPr>
          <p:cNvPr id="14" name="icon-braincircuit-169"/>
          <p:cNvSpPr/>
          <p:nvPr/>
        </p:nvSpPr>
        <p:spPr>
          <a:xfrm>
            <a:off x="3770986" y="2463394"/>
            <a:ext cx="285293" cy="285293"/>
          </a:xfrm>
          <a:custGeom>
            <a:avLst/>
            <a:gdLst/>
            <a:ahLst/>
            <a:cxnLst/>
            <a:rect l="l" t="t" r="r" b="b"/>
            <a:pathLst>
              <a:path w="285293" h="285293">
                <a:moveTo>
                  <a:pt x="142646" y="59436"/>
                </a:moveTo>
                <a:cubicBezTo>
                  <a:pt x="142646" y="46452"/>
                  <a:pt x="135697" y="34564"/>
                  <a:pt x="124450" y="28255"/>
                </a:cubicBezTo>
                <a:cubicBezTo>
                  <a:pt x="113111" y="21854"/>
                  <a:pt x="99304" y="22220"/>
                  <a:pt x="88240" y="28986"/>
                </a:cubicBezTo>
                <a:cubicBezTo>
                  <a:pt x="77267" y="35753"/>
                  <a:pt x="70775" y="48006"/>
                  <a:pt x="71323" y="60899"/>
                </a:cubicBezTo>
                <a:cubicBezTo>
                  <a:pt x="57241" y="64557"/>
                  <a:pt x="45537" y="74524"/>
                  <a:pt x="39685" y="87874"/>
                </a:cubicBezTo>
                <a:cubicBezTo>
                  <a:pt x="33741" y="101316"/>
                  <a:pt x="34381" y="116677"/>
                  <a:pt x="41331" y="129479"/>
                </a:cubicBezTo>
                <a:cubicBezTo>
                  <a:pt x="29169" y="139446"/>
                  <a:pt x="22586" y="154716"/>
                  <a:pt x="23957" y="170444"/>
                </a:cubicBezTo>
                <a:cubicBezTo>
                  <a:pt x="25237" y="186080"/>
                  <a:pt x="34199" y="200071"/>
                  <a:pt x="47915" y="207843"/>
                </a:cubicBezTo>
                <a:cubicBezTo>
                  <a:pt x="45629" y="225400"/>
                  <a:pt x="53310" y="242773"/>
                  <a:pt x="67848" y="252923"/>
                </a:cubicBezTo>
                <a:cubicBezTo>
                  <a:pt x="82387" y="263073"/>
                  <a:pt x="101316" y="264262"/>
                  <a:pt x="117043" y="256123"/>
                </a:cubicBezTo>
                <a:cubicBezTo>
                  <a:pt x="132771" y="247894"/>
                  <a:pt x="142646" y="231709"/>
                  <a:pt x="142646" y="213970"/>
                </a:cubicBezTo>
                <a:close/>
                <a:moveTo>
                  <a:pt x="106985" y="154534"/>
                </a:moveTo>
                <a:cubicBezTo>
                  <a:pt x="127376" y="147310"/>
                  <a:pt x="141458" y="128565"/>
                  <a:pt x="142646" y="106985"/>
                </a:cubicBezTo>
                <a:moveTo>
                  <a:pt x="71323" y="60899"/>
                </a:moveTo>
                <a:cubicBezTo>
                  <a:pt x="71598" y="66660"/>
                  <a:pt x="73243" y="72238"/>
                  <a:pt x="76078" y="77267"/>
                </a:cubicBezTo>
                <a:moveTo>
                  <a:pt x="41331" y="129479"/>
                </a:moveTo>
                <a:cubicBezTo>
                  <a:pt x="43525" y="127742"/>
                  <a:pt x="45811" y="126187"/>
                  <a:pt x="48280" y="124816"/>
                </a:cubicBezTo>
                <a:moveTo>
                  <a:pt x="71323" y="213970"/>
                </a:moveTo>
                <a:cubicBezTo>
                  <a:pt x="63094" y="213970"/>
                  <a:pt x="55047" y="211866"/>
                  <a:pt x="47915" y="207843"/>
                </a:cubicBezTo>
                <a:moveTo>
                  <a:pt x="142646" y="154534"/>
                </a:moveTo>
                <a:lnTo>
                  <a:pt x="190195" y="154534"/>
                </a:lnTo>
                <a:moveTo>
                  <a:pt x="142646" y="213970"/>
                </a:moveTo>
                <a:lnTo>
                  <a:pt x="213970" y="213970"/>
                </a:lnTo>
                <a:cubicBezTo>
                  <a:pt x="227137" y="213970"/>
                  <a:pt x="237744" y="224577"/>
                  <a:pt x="237744" y="237744"/>
                </a:cubicBezTo>
                <a:lnTo>
                  <a:pt x="237744" y="249631"/>
                </a:lnTo>
                <a:moveTo>
                  <a:pt x="142646" y="95098"/>
                </a:moveTo>
                <a:lnTo>
                  <a:pt x="237744" y="95098"/>
                </a:lnTo>
                <a:moveTo>
                  <a:pt x="190195" y="95098"/>
                </a:moveTo>
                <a:lnTo>
                  <a:pt x="190195" y="59436"/>
                </a:lnTo>
                <a:cubicBezTo>
                  <a:pt x="190195" y="46269"/>
                  <a:pt x="200802" y="35662"/>
                  <a:pt x="213970" y="35662"/>
                </a:cubicBezTo>
                <a:moveTo>
                  <a:pt x="184252" y="154534"/>
                </a:moveTo>
                <a:cubicBezTo>
                  <a:pt x="184252" y="157825"/>
                  <a:pt x="186903" y="160477"/>
                  <a:pt x="190195" y="160477"/>
                </a:cubicBezTo>
                <a:cubicBezTo>
                  <a:pt x="193487" y="160477"/>
                  <a:pt x="196139" y="157825"/>
                  <a:pt x="196139" y="154534"/>
                </a:cubicBezTo>
                <a:cubicBezTo>
                  <a:pt x="196139" y="151242"/>
                  <a:pt x="193487" y="148590"/>
                  <a:pt x="190195" y="148590"/>
                </a:cubicBezTo>
                <a:cubicBezTo>
                  <a:pt x="186903" y="148590"/>
                  <a:pt x="184252" y="151242"/>
                  <a:pt x="184252" y="154534"/>
                </a:cubicBezTo>
                <a:close/>
                <a:moveTo>
                  <a:pt x="208026" y="35662"/>
                </a:moveTo>
                <a:cubicBezTo>
                  <a:pt x="208026" y="38953"/>
                  <a:pt x="210678" y="41605"/>
                  <a:pt x="213970" y="41605"/>
                </a:cubicBezTo>
                <a:cubicBezTo>
                  <a:pt x="217261" y="41605"/>
                  <a:pt x="219913" y="38953"/>
                  <a:pt x="219913" y="35662"/>
                </a:cubicBezTo>
                <a:cubicBezTo>
                  <a:pt x="219913" y="32370"/>
                  <a:pt x="217261" y="29718"/>
                  <a:pt x="213970" y="29718"/>
                </a:cubicBezTo>
                <a:cubicBezTo>
                  <a:pt x="210678" y="29718"/>
                  <a:pt x="208026" y="32370"/>
                  <a:pt x="208026" y="35662"/>
                </a:cubicBezTo>
                <a:close/>
                <a:moveTo>
                  <a:pt x="231800" y="249631"/>
                </a:moveTo>
                <a:cubicBezTo>
                  <a:pt x="231800" y="252923"/>
                  <a:pt x="234452" y="255575"/>
                  <a:pt x="237744" y="255575"/>
                </a:cubicBezTo>
                <a:cubicBezTo>
                  <a:pt x="241036" y="255575"/>
                  <a:pt x="243688" y="252923"/>
                  <a:pt x="243688" y="249631"/>
                </a:cubicBezTo>
                <a:cubicBezTo>
                  <a:pt x="243688" y="246339"/>
                  <a:pt x="241036" y="243688"/>
                  <a:pt x="237744" y="243688"/>
                </a:cubicBezTo>
                <a:cubicBezTo>
                  <a:pt x="234452" y="243688"/>
                  <a:pt x="231800" y="246339"/>
                  <a:pt x="231800" y="249631"/>
                </a:cubicBezTo>
                <a:close/>
                <a:moveTo>
                  <a:pt x="231800" y="95098"/>
                </a:moveTo>
                <a:cubicBezTo>
                  <a:pt x="231800" y="98389"/>
                  <a:pt x="234452" y="101041"/>
                  <a:pt x="237744" y="101041"/>
                </a:cubicBezTo>
                <a:cubicBezTo>
                  <a:pt x="241036" y="101041"/>
                  <a:pt x="243688" y="98389"/>
                  <a:pt x="243688" y="95098"/>
                </a:cubicBezTo>
                <a:cubicBezTo>
                  <a:pt x="243688" y="91806"/>
                  <a:pt x="241036" y="89154"/>
                  <a:pt x="237744" y="89154"/>
                </a:cubicBezTo>
                <a:cubicBezTo>
                  <a:pt x="234452" y="89154"/>
                  <a:pt x="231800" y="91806"/>
                  <a:pt x="231800" y="95098"/>
                </a:cubicBezTo>
                <a:close/>
              </a:path>
            </a:pathLst>
          </a:custGeom>
          <a:noFill/>
          <a:ln w="23749" cap="rnd">
            <a:solidFill>
              <a:schemeClr val="bg1"/>
            </a:solidFill>
            <a:prstDash val="solid"/>
            <a:round/>
          </a:ln>
        </p:spPr>
      </p:sp>
      <p:sp>
        <p:nvSpPr>
          <p:cNvPr id="15" name="card-title-170"/>
          <p:cNvSpPr txBox="1"/>
          <p:nvPr/>
        </p:nvSpPr>
        <p:spPr>
          <a:xfrm>
            <a:off x="4370832" y="2331720"/>
            <a:ext cx="141732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Claude Sonnet 4.6</a:t>
            </a:r>
            <a:endParaRPr lang="en-US" sz="1700" dirty="0"/>
          </a:p>
        </p:txBody>
      </p:sp>
      <p:sp>
        <p:nvSpPr>
          <p:cNvPr id="16" name="card-body-171"/>
          <p:cNvSpPr txBox="1"/>
          <p:nvPr/>
        </p:nvSpPr>
        <p:spPr>
          <a:xfrm>
            <a:off x="3639312" y="3017520"/>
            <a:ext cx="2148840" cy="109728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Ontology induction and grounding</a:t>
            </a:r>
            <a:endParaRPr lang="en-US" sz="1400" dirty="0"/>
          </a:p>
        </p:txBody>
      </p:sp>
      <p:sp>
        <p:nvSpPr>
          <p:cNvPr id="17" name="card-172"/>
          <p:cNvSpPr/>
          <p:nvPr/>
        </p:nvSpPr>
        <p:spPr>
          <a:xfrm>
            <a:off x="6181344" y="2057400"/>
            <a:ext cx="2651760" cy="2240280"/>
          </a:xfrm>
          <a:prstGeom prst="roundRect">
            <a:avLst>
              <a:gd name="adj" fmla="val 4082"/>
            </a:avLst>
          </a:prstGeom>
          <a:solidFill>
            <a:schemeClr val="bg2"/>
          </a:solidFill>
          <a:ln/>
        </p:spPr>
      </p:sp>
      <p:sp>
        <p:nvSpPr>
          <p:cNvPr id="18" name="icon-circle-173"/>
          <p:cNvSpPr/>
          <p:nvPr/>
        </p:nvSpPr>
        <p:spPr>
          <a:xfrm>
            <a:off x="6455664" y="2331720"/>
            <a:ext cx="548640" cy="548640"/>
          </a:xfrm>
          <a:prstGeom prst="ellipse">
            <a:avLst/>
          </a:prstGeom>
          <a:solidFill>
            <a:schemeClr val="accent2"/>
          </a:solidFill>
          <a:ln/>
        </p:spPr>
      </p:sp>
      <p:sp>
        <p:nvSpPr>
          <p:cNvPr id="19" name="icon-gauge-174"/>
          <p:cNvSpPr/>
          <p:nvPr/>
        </p:nvSpPr>
        <p:spPr>
          <a:xfrm>
            <a:off x="6587338" y="2463394"/>
            <a:ext cx="285293" cy="285293"/>
          </a:xfrm>
          <a:custGeom>
            <a:avLst/>
            <a:gdLst/>
            <a:ahLst/>
            <a:cxnLst/>
            <a:rect l="l" t="t" r="r" b="b"/>
            <a:pathLst>
              <a:path w="285293" h="285293">
                <a:moveTo>
                  <a:pt x="142646" y="166421"/>
                </a:moveTo>
                <a:lnTo>
                  <a:pt x="190195" y="118872"/>
                </a:lnTo>
                <a:moveTo>
                  <a:pt x="39685" y="225857"/>
                </a:moveTo>
                <a:cubicBezTo>
                  <a:pt x="10881" y="175931"/>
                  <a:pt x="22037" y="112471"/>
                  <a:pt x="66203" y="75347"/>
                </a:cubicBezTo>
                <a:cubicBezTo>
                  <a:pt x="110460" y="38313"/>
                  <a:pt x="174833" y="38313"/>
                  <a:pt x="219090" y="75347"/>
                </a:cubicBezTo>
                <a:cubicBezTo>
                  <a:pt x="263256" y="112471"/>
                  <a:pt x="274411" y="175931"/>
                  <a:pt x="245608" y="225857"/>
                </a:cubicBezTo>
              </a:path>
            </a:pathLst>
          </a:custGeom>
          <a:noFill/>
          <a:ln w="23749" cap="rnd">
            <a:solidFill>
              <a:schemeClr val="bg1"/>
            </a:solidFill>
            <a:prstDash val="solid"/>
            <a:round/>
          </a:ln>
        </p:spPr>
      </p:sp>
      <p:sp>
        <p:nvSpPr>
          <p:cNvPr id="20" name="card-title-175"/>
          <p:cNvSpPr txBox="1"/>
          <p:nvPr/>
        </p:nvSpPr>
        <p:spPr>
          <a:xfrm>
            <a:off x="7187184" y="2331720"/>
            <a:ext cx="141732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Claude Haiku 4.5</a:t>
            </a:r>
            <a:endParaRPr lang="en-US" sz="1700" dirty="0"/>
          </a:p>
        </p:txBody>
      </p:sp>
      <p:sp>
        <p:nvSpPr>
          <p:cNvPr id="21" name="card-body-176"/>
          <p:cNvSpPr txBox="1"/>
          <p:nvPr/>
        </p:nvSpPr>
        <p:spPr>
          <a:xfrm>
            <a:off x="6455664" y="3017520"/>
            <a:ext cx="2148840" cy="109728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Rerank, source enrichment, document ingestion</a:t>
            </a:r>
            <a:endParaRPr lang="en-US" sz="1400" dirty="0"/>
          </a:p>
        </p:txBody>
      </p:sp>
      <p:sp>
        <p:nvSpPr>
          <p:cNvPr id="22" name="card-177"/>
          <p:cNvSpPr/>
          <p:nvPr/>
        </p:nvSpPr>
        <p:spPr>
          <a:xfrm>
            <a:off x="8997696" y="2057400"/>
            <a:ext cx="2651760" cy="2240280"/>
          </a:xfrm>
          <a:prstGeom prst="roundRect">
            <a:avLst>
              <a:gd name="adj" fmla="val 4082"/>
            </a:avLst>
          </a:prstGeom>
          <a:solidFill>
            <a:schemeClr val="bg2"/>
          </a:solidFill>
          <a:ln/>
        </p:spPr>
      </p:sp>
      <p:sp>
        <p:nvSpPr>
          <p:cNvPr id="23" name="icon-circle-178"/>
          <p:cNvSpPr/>
          <p:nvPr/>
        </p:nvSpPr>
        <p:spPr>
          <a:xfrm>
            <a:off x="9272016" y="2331720"/>
            <a:ext cx="548640" cy="548640"/>
          </a:xfrm>
          <a:prstGeom prst="ellipse">
            <a:avLst/>
          </a:prstGeom>
          <a:solidFill>
            <a:schemeClr val="accent1"/>
          </a:solidFill>
          <a:ln/>
        </p:spPr>
      </p:sp>
      <p:sp>
        <p:nvSpPr>
          <p:cNvPr id="24" name="icon-layers-179"/>
          <p:cNvSpPr/>
          <p:nvPr/>
        </p:nvSpPr>
        <p:spPr>
          <a:xfrm>
            <a:off x="9403690" y="2463394"/>
            <a:ext cx="285293" cy="285293"/>
          </a:xfrm>
          <a:custGeom>
            <a:avLst/>
            <a:gdLst/>
            <a:ahLst/>
            <a:cxnLst/>
            <a:rect l="l" t="t" r="r" b="b"/>
            <a:pathLst>
              <a:path w="285293" h="285293">
                <a:moveTo>
                  <a:pt x="152522" y="25878"/>
                </a:moveTo>
                <a:cubicBezTo>
                  <a:pt x="146213" y="23043"/>
                  <a:pt x="139080" y="23043"/>
                  <a:pt x="132771" y="25878"/>
                </a:cubicBezTo>
                <a:lnTo>
                  <a:pt x="30907" y="72238"/>
                </a:lnTo>
                <a:cubicBezTo>
                  <a:pt x="26609" y="74158"/>
                  <a:pt x="23774" y="78456"/>
                  <a:pt x="23774" y="83119"/>
                </a:cubicBezTo>
                <a:cubicBezTo>
                  <a:pt x="23774" y="87874"/>
                  <a:pt x="26609" y="92172"/>
                  <a:pt x="30907" y="94000"/>
                </a:cubicBezTo>
                <a:lnTo>
                  <a:pt x="132862" y="140543"/>
                </a:lnTo>
                <a:cubicBezTo>
                  <a:pt x="139172" y="143378"/>
                  <a:pt x="146395" y="143378"/>
                  <a:pt x="152613" y="140543"/>
                </a:cubicBezTo>
                <a:lnTo>
                  <a:pt x="254660" y="94183"/>
                </a:lnTo>
                <a:cubicBezTo>
                  <a:pt x="258958" y="92263"/>
                  <a:pt x="261701" y="87965"/>
                  <a:pt x="261701" y="83302"/>
                </a:cubicBezTo>
                <a:cubicBezTo>
                  <a:pt x="261701" y="78547"/>
                  <a:pt x="258958" y="74249"/>
                  <a:pt x="254660" y="72420"/>
                </a:cubicBezTo>
                <a:close/>
                <a:moveTo>
                  <a:pt x="261518" y="209763"/>
                </a:moveTo>
                <a:lnTo>
                  <a:pt x="152522" y="259232"/>
                </a:lnTo>
                <a:cubicBezTo>
                  <a:pt x="146213" y="262158"/>
                  <a:pt x="139080" y="262158"/>
                  <a:pt x="132771" y="259232"/>
                </a:cubicBezTo>
                <a:lnTo>
                  <a:pt x="23774" y="209763"/>
                </a:lnTo>
                <a:moveTo>
                  <a:pt x="261518" y="150327"/>
                </a:moveTo>
                <a:lnTo>
                  <a:pt x="152522" y="199796"/>
                </a:lnTo>
                <a:cubicBezTo>
                  <a:pt x="146213" y="202722"/>
                  <a:pt x="139080" y="202722"/>
                  <a:pt x="132771" y="199796"/>
                </a:cubicBezTo>
                <a:lnTo>
                  <a:pt x="23774" y="150327"/>
                </a:lnTo>
              </a:path>
            </a:pathLst>
          </a:custGeom>
          <a:noFill/>
          <a:ln w="23749" cap="rnd">
            <a:solidFill>
              <a:schemeClr val="bg1"/>
            </a:solidFill>
            <a:prstDash val="solid"/>
            <a:round/>
          </a:ln>
        </p:spPr>
      </p:sp>
      <p:sp>
        <p:nvSpPr>
          <p:cNvPr id="25" name="card-title-180"/>
          <p:cNvSpPr txBox="1"/>
          <p:nvPr/>
        </p:nvSpPr>
        <p:spPr>
          <a:xfrm>
            <a:off x="10003536" y="2331720"/>
            <a:ext cx="141732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Cohere Embed v4</a:t>
            </a:r>
            <a:endParaRPr lang="en-US" sz="1700" dirty="0"/>
          </a:p>
        </p:txBody>
      </p:sp>
      <p:sp>
        <p:nvSpPr>
          <p:cNvPr id="26" name="card-body-181"/>
          <p:cNvSpPr txBox="1"/>
          <p:nvPr/>
        </p:nvSpPr>
        <p:spPr>
          <a:xfrm>
            <a:off x="9272016" y="3017520"/>
            <a:ext cx="2148840" cy="109728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All embeddings (1024 dimensions)</a:t>
            </a:r>
            <a:endParaRPr lang="en-US" sz="1400" dirty="0"/>
          </a:p>
        </p:txBody>
      </p:sp>
      <p:sp>
        <p:nvSpPr>
          <p:cNvPr id="27" name="code-bg-182"/>
          <p:cNvSpPr/>
          <p:nvPr/>
        </p:nvSpPr>
        <p:spPr>
          <a:xfrm>
            <a:off x="548640" y="4526280"/>
            <a:ext cx="6766560" cy="1645920"/>
          </a:xfrm>
          <a:prstGeom prst="roundRect">
            <a:avLst>
              <a:gd name="adj" fmla="val 4444"/>
            </a:avLst>
          </a:prstGeom>
          <a:solidFill>
            <a:schemeClr val="tx1"/>
          </a:solidFill>
          <a:ln/>
        </p:spPr>
      </p:sp>
      <p:sp>
        <p:nvSpPr>
          <p:cNvPr id="28" name="code-183"/>
          <p:cNvSpPr txBox="1"/>
          <p:nvPr/>
        </p:nvSpPr>
        <p:spPr>
          <a:xfrm>
            <a:off x="777240" y="4663440"/>
            <a:ext cx="6309360" cy="1371600"/>
          </a:xfrm>
          <a:prstGeom prst="rect">
            <a:avLst/>
          </a:prstGeom>
          <a:noFill/>
          <a:ln/>
        </p:spPr>
        <p:txBody>
          <a:bodyPr wrap="square" lIns="0" tIns="0" rIns="0" bIns="0" rtlCol="0" anchor="t"/>
          <a:lstStyle/>
          <a:p>
            <a:pPr indent="0" marL="0">
              <a:spcAft>
                <a:spcPts val="300"/>
              </a:spcAft>
              <a:buNone/>
            </a:pPr>
            <a:r>
              <a:rPr lang="en-US" sz="1300" dirty="0">
                <a:solidFill>
                  <a:schemeClr val="accent1"/>
                </a:solidFill>
                <a:latin typeface="Courier New" pitchFamily="34" charset="0"/>
                <a:ea typeface="Courier New" pitchFamily="34" charset="-122"/>
                <a:cs typeface="Courier New" pitchFamily="34" charset="-120"/>
              </a:rPr>
              <a:t># confirm the us.* inference profiles are visible</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aws bedrock list-inference-profiles \</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  --query "inferenceProfileSummaries[].inferenceProfileId"</a:t>
            </a:r>
            <a:endParaRPr lang="en-US" sz="1300" dirty="0"/>
          </a:p>
        </p:txBody>
      </p:sp>
      <p:sp>
        <p:nvSpPr>
          <p:cNvPr id="29" name="card-184"/>
          <p:cNvSpPr/>
          <p:nvPr/>
        </p:nvSpPr>
        <p:spPr>
          <a:xfrm>
            <a:off x="7543800" y="4526280"/>
            <a:ext cx="4096512" cy="1645920"/>
          </a:xfrm>
          <a:prstGeom prst="roundRect">
            <a:avLst>
              <a:gd name="adj" fmla="val 5556"/>
            </a:avLst>
          </a:prstGeom>
          <a:solidFill>
            <a:schemeClr val="bg2"/>
          </a:solidFill>
          <a:ln/>
        </p:spPr>
      </p:sp>
      <p:sp>
        <p:nvSpPr>
          <p:cNvPr id="30" name="icon-circle-185"/>
          <p:cNvSpPr/>
          <p:nvPr/>
        </p:nvSpPr>
        <p:spPr>
          <a:xfrm>
            <a:off x="7818120" y="4800600"/>
            <a:ext cx="548640" cy="548640"/>
          </a:xfrm>
          <a:prstGeom prst="ellipse">
            <a:avLst/>
          </a:prstGeom>
          <a:solidFill>
            <a:schemeClr val="accent4"/>
          </a:solidFill>
          <a:ln/>
        </p:spPr>
      </p:sp>
      <p:sp>
        <p:nvSpPr>
          <p:cNvPr id="31" name="icon-trianglealert-186"/>
          <p:cNvSpPr/>
          <p:nvPr/>
        </p:nvSpPr>
        <p:spPr>
          <a:xfrm>
            <a:off x="7949794" y="4932274"/>
            <a:ext cx="285293" cy="285293"/>
          </a:xfrm>
          <a:custGeom>
            <a:avLst/>
            <a:gdLst/>
            <a:ahLst/>
            <a:cxnLst/>
            <a:rect l="l" t="t" r="r" b="b"/>
            <a:pathLst>
              <a:path w="285293" h="285293">
                <a:moveTo>
                  <a:pt x="258318" y="213970"/>
                </a:moveTo>
                <a:lnTo>
                  <a:pt x="163220" y="47549"/>
                </a:lnTo>
                <a:cubicBezTo>
                  <a:pt x="159014" y="40142"/>
                  <a:pt x="151059" y="35479"/>
                  <a:pt x="142555" y="35479"/>
                </a:cubicBezTo>
                <a:cubicBezTo>
                  <a:pt x="133960" y="35479"/>
                  <a:pt x="126096" y="40142"/>
                  <a:pt x="121890" y="47549"/>
                </a:cubicBezTo>
                <a:lnTo>
                  <a:pt x="26700" y="213970"/>
                </a:lnTo>
                <a:cubicBezTo>
                  <a:pt x="22494" y="221376"/>
                  <a:pt x="22494" y="230429"/>
                  <a:pt x="26792" y="237835"/>
                </a:cubicBezTo>
                <a:cubicBezTo>
                  <a:pt x="31090" y="245242"/>
                  <a:pt x="39045" y="249723"/>
                  <a:pt x="47549" y="249631"/>
                </a:cubicBezTo>
                <a:lnTo>
                  <a:pt x="237744" y="249631"/>
                </a:lnTo>
                <a:cubicBezTo>
                  <a:pt x="246248" y="249631"/>
                  <a:pt x="254112" y="245059"/>
                  <a:pt x="258318" y="237744"/>
                </a:cubicBezTo>
                <a:cubicBezTo>
                  <a:pt x="262524" y="230337"/>
                  <a:pt x="262524" y="221285"/>
                  <a:pt x="258318" y="213970"/>
                </a:cubicBezTo>
                <a:moveTo>
                  <a:pt x="142646" y="106985"/>
                </a:moveTo>
                <a:lnTo>
                  <a:pt x="142646" y="154534"/>
                </a:lnTo>
                <a:moveTo>
                  <a:pt x="142646" y="202082"/>
                </a:moveTo>
                <a:lnTo>
                  <a:pt x="142738" y="202082"/>
                </a:lnTo>
              </a:path>
            </a:pathLst>
          </a:custGeom>
          <a:noFill/>
          <a:ln w="23749" cap="rnd">
            <a:solidFill>
              <a:schemeClr val="bg1"/>
            </a:solidFill>
            <a:prstDash val="solid"/>
            <a:round/>
          </a:ln>
        </p:spPr>
      </p:sp>
      <p:sp>
        <p:nvSpPr>
          <p:cNvPr id="32" name="card-title-187"/>
          <p:cNvSpPr txBox="1"/>
          <p:nvPr/>
        </p:nvSpPr>
        <p:spPr>
          <a:xfrm>
            <a:off x="8549640" y="4800600"/>
            <a:ext cx="2862072"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Decide once</a:t>
            </a:r>
            <a:endParaRPr lang="en-US" sz="1700" dirty="0"/>
          </a:p>
        </p:txBody>
      </p:sp>
      <p:sp>
        <p:nvSpPr>
          <p:cNvPr id="33" name="card-body-188"/>
          <p:cNvSpPr txBox="1"/>
          <p:nvPr/>
        </p:nvSpPr>
        <p:spPr>
          <a:xfrm>
            <a:off x="7818120" y="5486400"/>
            <a:ext cx="3593592" cy="50292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Changing the embedding model later means re-ingesting everything.</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141732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PHASE 2 · PREPARE THE AWS ACCOUNT</a:t>
            </a:r>
            <a:endParaRPr lang="en-US" sz="1200" dirty="0"/>
          </a:p>
        </p:txBody>
      </p:sp>
      <p:sp>
        <p:nvSpPr>
          <p:cNvPr id="3" name="Text 0"/>
          <p:cNvSpPr/>
          <p:nvPr>
            <p:ph idx="101" type="title" hasCustomPrompt="1"/>
          </p:nvPr>
        </p:nvSpPr>
        <p:spPr>
          <a:xfrm>
            <a:off x="1417320" y="640080"/>
            <a:ext cx="10222992" cy="685800"/>
          </a:xfrm>
          <a:prstGeom prst="rect">
            <a:avLst/>
          </a:prstGeom>
          <a:noFill/>
          <a:ln/>
        </p:spPr>
        <p:txBody>
          <a:bodyPr wrap="square" lIns="0" tIns="0" rIns="0" bIns="0" rtlCol="0" anchor="ctr"/>
          <a:lstStyle/>
          <a:p>
            <a:pPr algn="l" indent="0" marL="0">
              <a:buNone/>
            </a:pPr>
            <a:r>
              <a:rPr lang="en-US" sz="3400" b="1" dirty="0">
                <a:solidFill>
                  <a:schemeClr val="tx1"/>
                </a:solidFill>
              </a:rPr>
              <a:t>Resolve the SMUS admin principal</a:t>
            </a:r>
            <a:endParaRPr lang="en-US" sz="3400" dirty="0"/>
          </a:p>
        </p:txBody>
      </p:sp>
      <p:sp>
        <p:nvSpPr>
          <p:cNvPr id="4" name="step-badge-189"/>
          <p:cNvSpPr/>
          <p:nvPr/>
        </p:nvSpPr>
        <p:spPr>
          <a:xfrm>
            <a:off x="548640" y="566928"/>
            <a:ext cx="713232" cy="713232"/>
          </a:xfrm>
          <a:prstGeom prst="ellipse">
            <a:avLst/>
          </a:prstGeom>
          <a:solidFill>
            <a:schemeClr val="accent1"/>
          </a:solidFill>
          <a:ln/>
        </p:spPr>
      </p:sp>
      <p:sp>
        <p:nvSpPr>
          <p:cNvPr id="5" name="step-number-190"/>
          <p:cNvSpPr txBox="1"/>
          <p:nvPr/>
        </p:nvSpPr>
        <p:spPr>
          <a:xfrm>
            <a:off x="548640" y="566928"/>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latin typeface="Arial" pitchFamily="34" charset="0"/>
                <a:ea typeface="Arial" pitchFamily="34" charset="-122"/>
                <a:cs typeface="Arial" pitchFamily="34" charset="-120"/>
              </a:rPr>
              <a:t>6</a:t>
            </a:r>
            <a:endParaRPr lang="en-US" sz="2600" dirty="0"/>
          </a:p>
        </p:txBody>
      </p:sp>
      <p:sp>
        <p:nvSpPr>
          <p:cNvPr id="6" name="lede-191"/>
          <p:cNvSpPr txBox="1"/>
          <p:nvPr/>
        </p:nvSpPr>
        <p:spPr>
          <a:xfrm>
            <a:off x="1417320" y="1417320"/>
            <a:ext cx="10241280" cy="731520"/>
          </a:xfrm>
          <a:prstGeom prst="rect">
            <a:avLst/>
          </a:prstGeom>
          <a:noFill/>
          <a:ln/>
        </p:spPr>
        <p:txBody>
          <a:bodyPr wrap="square" lIns="0" tIns="0" rIns="0" bIns="0" rtlCol="0" anchor="t"/>
          <a:lstStyle/>
          <a:p>
            <a:pPr indent="0" marL="0">
              <a:buNone/>
            </a:pPr>
            <a:r>
              <a:rPr lang="en-US" sz="1600" dirty="0">
                <a:solidFill>
                  <a:schemeClr val="tx2"/>
                </a:solidFill>
              </a:rPr>
              <a:t>The namespace stack's SageMaker Unified Studio (DataZone) login role must trust the role your admins sign in with. It defaults to an IAM role literally named Admin, which most accounts don't have.</a:t>
            </a:r>
            <a:endParaRPr lang="en-US" sz="1600" dirty="0"/>
          </a:p>
        </p:txBody>
      </p:sp>
      <p:sp>
        <p:nvSpPr>
          <p:cNvPr id="7" name="flow-q-192"/>
          <p:cNvSpPr/>
          <p:nvPr/>
        </p:nvSpPr>
        <p:spPr>
          <a:xfrm>
            <a:off x="548640" y="2697480"/>
            <a:ext cx="3108960" cy="914400"/>
          </a:xfrm>
          <a:prstGeom prst="roundRect">
            <a:avLst>
              <a:gd name="adj" fmla="val 10000"/>
            </a:avLst>
          </a:prstGeom>
          <a:solidFill>
            <a:schemeClr val="tx1"/>
          </a:solidFill>
          <a:ln/>
        </p:spPr>
      </p:sp>
      <p:sp>
        <p:nvSpPr>
          <p:cNvPr id="8" name="flow-q-text-193"/>
          <p:cNvSpPr txBox="1"/>
          <p:nvPr/>
        </p:nvSpPr>
        <p:spPr>
          <a:xfrm>
            <a:off x="548640" y="2697480"/>
            <a:ext cx="3108960" cy="914400"/>
          </a:xfrm>
          <a:prstGeom prst="rect">
            <a:avLst/>
          </a:prstGeom>
          <a:noFill/>
          <a:ln/>
        </p:spPr>
        <p:txBody>
          <a:bodyPr wrap="square" lIns="1270" tIns="1270" rIns="1270" bIns="1270" rtlCol="0" anchor="ctr"/>
          <a:lstStyle/>
          <a:p>
            <a:pPr algn="ctr" indent="0" marL="0">
              <a:buNone/>
            </a:pPr>
            <a:r>
              <a:rPr lang="en-US" sz="1500" b="1" dirty="0">
                <a:solidFill>
                  <a:schemeClr val="bg1"/>
                </a:solidFill>
              </a:rPr>
              <a:t>Does IAM role "Admin" exist?</a:t>
            </a:r>
            <a:endParaRPr lang="en-US" sz="1500" dirty="0"/>
          </a:p>
        </p:txBody>
      </p:sp>
      <p:sp>
        <p:nvSpPr>
          <p:cNvPr id="9" name="arrow-194"/>
          <p:cNvSpPr/>
          <p:nvPr/>
        </p:nvSpPr>
        <p:spPr>
          <a:xfrm flipV="1">
            <a:off x="3657600" y="2651760"/>
            <a:ext cx="548640" cy="502920"/>
          </a:xfrm>
          <a:prstGeom prst="line">
            <a:avLst/>
          </a:prstGeom>
          <a:noFill/>
          <a:ln w="19050">
            <a:solidFill>
              <a:schemeClr val="accent3"/>
            </a:solidFill>
            <a:prstDash val="solid"/>
            <a:tailEnd type="triangle"/>
          </a:ln>
        </p:spPr>
      </p:sp>
      <p:sp>
        <p:nvSpPr>
          <p:cNvPr id="10" name="arrow-195"/>
          <p:cNvSpPr/>
          <p:nvPr/>
        </p:nvSpPr>
        <p:spPr>
          <a:xfrm>
            <a:off x="3657600" y="3154680"/>
            <a:ext cx="548640" cy="868680"/>
          </a:xfrm>
          <a:prstGeom prst="line">
            <a:avLst/>
          </a:prstGeom>
          <a:noFill/>
          <a:ln w="19050">
            <a:solidFill>
              <a:schemeClr val="accent3"/>
            </a:solidFill>
            <a:prstDash val="solid"/>
            <a:tailEnd type="triangle"/>
          </a:ln>
        </p:spPr>
      </p:sp>
      <p:sp>
        <p:nvSpPr>
          <p:cNvPr id="11" name="flow-yes-196"/>
          <p:cNvSpPr/>
          <p:nvPr/>
        </p:nvSpPr>
        <p:spPr>
          <a:xfrm>
            <a:off x="4206240" y="2194560"/>
            <a:ext cx="3017520" cy="868680"/>
          </a:xfrm>
          <a:prstGeom prst="roundRect">
            <a:avLst>
              <a:gd name="adj" fmla="val 10526"/>
            </a:avLst>
          </a:prstGeom>
          <a:solidFill>
            <a:schemeClr val="bg2"/>
          </a:solidFill>
          <a:ln w="19050">
            <a:solidFill>
              <a:schemeClr val="accent5"/>
            </a:solidFill>
            <a:prstDash val="solid"/>
          </a:ln>
        </p:spPr>
      </p:sp>
      <p:sp>
        <p:nvSpPr>
          <p:cNvPr id="12" name="flow-yes-text-197"/>
          <p:cNvSpPr txBox="1"/>
          <p:nvPr/>
        </p:nvSpPr>
        <p:spPr>
          <a:xfrm>
            <a:off x="4389120" y="2194560"/>
            <a:ext cx="2697480" cy="868680"/>
          </a:xfrm>
          <a:prstGeom prst="rect">
            <a:avLst/>
          </a:prstGeom>
          <a:noFill/>
          <a:ln/>
        </p:spPr>
        <p:txBody>
          <a:bodyPr wrap="square" lIns="0" tIns="0" rIns="0" bIns="0" rtlCol="0" anchor="ctr"/>
          <a:lstStyle/>
          <a:p>
            <a:pPr indent="0" marL="0">
              <a:buNone/>
            </a:pPr>
            <a:r>
              <a:rPr lang="en-US" sz="1400" b="1" dirty="0">
                <a:solidFill>
                  <a:schemeClr val="accent5"/>
                </a:solidFill>
              </a:rPr>
              <a:t>Yes  </a:t>
            </a:r>
            <a:pPr indent="0" marL="0">
              <a:buNone/>
            </a:pPr>
            <a:r>
              <a:rPr lang="en-US" sz="1400" dirty="0">
                <a:solidFill>
                  <a:schemeClr val="tx1"/>
                </a:solidFill>
              </a:rPr>
              <a:t>nothing to set; default fallback works</a:t>
            </a:r>
            <a:endParaRPr lang="en-US" sz="1400" dirty="0"/>
          </a:p>
        </p:txBody>
      </p:sp>
      <p:sp>
        <p:nvSpPr>
          <p:cNvPr id="13" name="flow-no-198"/>
          <p:cNvSpPr/>
          <p:nvPr/>
        </p:nvSpPr>
        <p:spPr>
          <a:xfrm>
            <a:off x="4206240" y="3611880"/>
            <a:ext cx="3017520" cy="868680"/>
          </a:xfrm>
          <a:prstGeom prst="roundRect">
            <a:avLst>
              <a:gd name="adj" fmla="val 10526"/>
            </a:avLst>
          </a:prstGeom>
          <a:solidFill>
            <a:schemeClr val="bg2"/>
          </a:solidFill>
          <a:ln w="19050">
            <a:solidFill>
              <a:schemeClr val="accent4"/>
            </a:solidFill>
            <a:prstDash val="solid"/>
          </a:ln>
        </p:spPr>
      </p:sp>
      <p:sp>
        <p:nvSpPr>
          <p:cNvPr id="14" name="flow-no-text-199"/>
          <p:cNvSpPr txBox="1"/>
          <p:nvPr/>
        </p:nvSpPr>
        <p:spPr>
          <a:xfrm>
            <a:off x="4389120" y="3611880"/>
            <a:ext cx="2697480" cy="868680"/>
          </a:xfrm>
          <a:prstGeom prst="rect">
            <a:avLst/>
          </a:prstGeom>
          <a:noFill/>
          <a:ln/>
        </p:spPr>
        <p:txBody>
          <a:bodyPr wrap="square" lIns="0" tIns="0" rIns="0" bIns="0" rtlCol="0" anchor="ctr"/>
          <a:lstStyle/>
          <a:p>
            <a:pPr indent="0" marL="0">
              <a:buNone/>
            </a:pPr>
            <a:r>
              <a:rPr lang="en-US" sz="1400" b="1" dirty="0">
                <a:solidFill>
                  <a:schemeClr val="accent4"/>
                </a:solidFill>
              </a:rPr>
              <a:t>No  </a:t>
            </a:r>
            <a:pPr indent="0" marL="0">
              <a:buNone/>
            </a:pPr>
            <a:r>
              <a:rPr lang="en-US" sz="1400" dirty="0">
                <a:solidFill>
                  <a:schemeClr val="tx1"/>
                </a:solidFill>
              </a:rPr>
              <a:t>set SCL_SMUS_ADMIN_ARNS before deploying</a:t>
            </a:r>
            <a:endParaRPr lang="en-US" sz="1400" dirty="0"/>
          </a:p>
        </p:txBody>
      </p:sp>
      <p:sp>
        <p:nvSpPr>
          <p:cNvPr id="15" name="card-200"/>
          <p:cNvSpPr/>
          <p:nvPr/>
        </p:nvSpPr>
        <p:spPr>
          <a:xfrm>
            <a:off x="7589520" y="2240280"/>
            <a:ext cx="4050792" cy="2194560"/>
          </a:xfrm>
          <a:prstGeom prst="roundRect">
            <a:avLst>
              <a:gd name="adj" fmla="val 4167"/>
            </a:avLst>
          </a:prstGeom>
          <a:solidFill>
            <a:schemeClr val="bg2"/>
          </a:solidFill>
          <a:ln/>
        </p:spPr>
      </p:sp>
      <p:sp>
        <p:nvSpPr>
          <p:cNvPr id="16" name="icon-circle-201"/>
          <p:cNvSpPr/>
          <p:nvPr/>
        </p:nvSpPr>
        <p:spPr>
          <a:xfrm>
            <a:off x="7863840" y="2514600"/>
            <a:ext cx="548640" cy="548640"/>
          </a:xfrm>
          <a:prstGeom prst="ellipse">
            <a:avLst/>
          </a:prstGeom>
          <a:solidFill>
            <a:schemeClr val="accent4"/>
          </a:solidFill>
          <a:ln/>
        </p:spPr>
      </p:sp>
      <p:sp>
        <p:nvSpPr>
          <p:cNvPr id="17" name="icon-trianglealert-202"/>
          <p:cNvSpPr/>
          <p:nvPr/>
        </p:nvSpPr>
        <p:spPr>
          <a:xfrm>
            <a:off x="7995514" y="2646274"/>
            <a:ext cx="285293" cy="285293"/>
          </a:xfrm>
          <a:custGeom>
            <a:avLst/>
            <a:gdLst/>
            <a:ahLst/>
            <a:cxnLst/>
            <a:rect l="l" t="t" r="r" b="b"/>
            <a:pathLst>
              <a:path w="285293" h="285293">
                <a:moveTo>
                  <a:pt x="258318" y="213970"/>
                </a:moveTo>
                <a:lnTo>
                  <a:pt x="163220" y="47549"/>
                </a:lnTo>
                <a:cubicBezTo>
                  <a:pt x="159014" y="40142"/>
                  <a:pt x="151059" y="35479"/>
                  <a:pt x="142555" y="35479"/>
                </a:cubicBezTo>
                <a:cubicBezTo>
                  <a:pt x="133960" y="35479"/>
                  <a:pt x="126096" y="40142"/>
                  <a:pt x="121890" y="47549"/>
                </a:cubicBezTo>
                <a:lnTo>
                  <a:pt x="26700" y="213970"/>
                </a:lnTo>
                <a:cubicBezTo>
                  <a:pt x="22494" y="221376"/>
                  <a:pt x="22494" y="230429"/>
                  <a:pt x="26792" y="237835"/>
                </a:cubicBezTo>
                <a:cubicBezTo>
                  <a:pt x="31090" y="245242"/>
                  <a:pt x="39045" y="249723"/>
                  <a:pt x="47549" y="249631"/>
                </a:cubicBezTo>
                <a:lnTo>
                  <a:pt x="237744" y="249631"/>
                </a:lnTo>
                <a:cubicBezTo>
                  <a:pt x="246248" y="249631"/>
                  <a:pt x="254112" y="245059"/>
                  <a:pt x="258318" y="237744"/>
                </a:cubicBezTo>
                <a:cubicBezTo>
                  <a:pt x="262524" y="230337"/>
                  <a:pt x="262524" y="221285"/>
                  <a:pt x="258318" y="213970"/>
                </a:cubicBezTo>
                <a:moveTo>
                  <a:pt x="142646" y="106985"/>
                </a:moveTo>
                <a:lnTo>
                  <a:pt x="142646" y="154534"/>
                </a:lnTo>
                <a:moveTo>
                  <a:pt x="142646" y="202082"/>
                </a:moveTo>
                <a:lnTo>
                  <a:pt x="142738" y="202082"/>
                </a:lnTo>
              </a:path>
            </a:pathLst>
          </a:custGeom>
          <a:noFill/>
          <a:ln w="23749" cap="rnd">
            <a:solidFill>
              <a:schemeClr val="bg1"/>
            </a:solidFill>
            <a:prstDash val="solid"/>
            <a:round/>
          </a:ln>
        </p:spPr>
      </p:sp>
      <p:sp>
        <p:nvSpPr>
          <p:cNvPr id="18" name="card-title-203"/>
          <p:cNvSpPr txBox="1"/>
          <p:nvPr/>
        </p:nvSpPr>
        <p:spPr>
          <a:xfrm>
            <a:off x="8595360" y="2514600"/>
            <a:ext cx="2816352"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Otherwise</a:t>
            </a:r>
            <a:endParaRPr lang="en-US" sz="1700" dirty="0"/>
          </a:p>
        </p:txBody>
      </p:sp>
      <p:sp>
        <p:nvSpPr>
          <p:cNvPr id="19" name="card-body-204"/>
          <p:cNvSpPr txBox="1"/>
          <p:nvPr/>
        </p:nvSpPr>
        <p:spPr>
          <a:xfrm>
            <a:off x="7863840" y="3200400"/>
            <a:ext cx="3547872" cy="105156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Preflight fails fast: "no IAM role named 'Admin'". Bypassing it ends in a rollback.</a:t>
            </a:r>
            <a:endParaRPr lang="en-US" sz="1400" dirty="0"/>
          </a:p>
        </p:txBody>
      </p:sp>
      <p:sp>
        <p:nvSpPr>
          <p:cNvPr id="20" name="code-bg-205"/>
          <p:cNvSpPr/>
          <p:nvPr/>
        </p:nvSpPr>
        <p:spPr>
          <a:xfrm>
            <a:off x="548640" y="4663440"/>
            <a:ext cx="11091672" cy="1508760"/>
          </a:xfrm>
          <a:prstGeom prst="roundRect">
            <a:avLst>
              <a:gd name="adj" fmla="val 4848"/>
            </a:avLst>
          </a:prstGeom>
          <a:solidFill>
            <a:schemeClr val="tx1"/>
          </a:solidFill>
          <a:ln/>
        </p:spPr>
      </p:sp>
      <p:sp>
        <p:nvSpPr>
          <p:cNvPr id="21" name="code-206"/>
          <p:cNvSpPr txBox="1"/>
          <p:nvPr/>
        </p:nvSpPr>
        <p:spPr>
          <a:xfrm>
            <a:off x="777240" y="4800600"/>
            <a:ext cx="10634472" cy="1234440"/>
          </a:xfrm>
          <a:prstGeom prst="rect">
            <a:avLst/>
          </a:prstGeom>
          <a:noFill/>
          <a:ln/>
        </p:spPr>
        <p:txBody>
          <a:bodyPr wrap="square" lIns="0" tIns="0" rIns="0" bIns="0" rtlCol="0" anchor="t"/>
          <a:lstStyle/>
          <a:p>
            <a:pPr indent="0" marL="0">
              <a:spcAft>
                <a:spcPts val="300"/>
              </a:spcAft>
              <a:buNone/>
            </a:pPr>
            <a:r>
              <a:rPr lang="en-US" sz="1200" dirty="0">
                <a:solidFill>
                  <a:schemeClr val="bg2"/>
                </a:solidFill>
                <a:latin typeface="Courier New" pitchFamily="34" charset="0"/>
                <a:ea typeface="Courier New" pitchFamily="34" charset="-122"/>
                <a:cs typeface="Courier New" pitchFamily="34" charset="-120"/>
              </a:rPr>
              <a:t>aws iam get-role --role-name Admin          </a:t>
            </a:r>
            <a:pPr indent="0" marL="0">
              <a:spcAft>
                <a:spcPts val="300"/>
              </a:spcAft>
              <a:buNone/>
            </a:pPr>
            <a:r>
              <a:rPr lang="en-US" sz="1200" dirty="0">
                <a:solidFill>
                  <a:schemeClr val="accent1"/>
                </a:solidFill>
                <a:latin typeface="Courier New" pitchFamily="34" charset="0"/>
                <a:ea typeface="Courier New" pitchFamily="34" charset="-122"/>
                <a:cs typeface="Courier New" pitchFamily="34" charset="-120"/>
              </a:rPr>
              <a:t># exists? you're done</a:t>
            </a:r>
            <a:endParaRPr lang="en-US" sz="1200" dirty="0"/>
          </a:p>
          <a:p>
            <a:pPr indent="0" marL="0">
              <a:spcAft>
                <a:spcPts val="300"/>
              </a:spcAft>
              <a:buNone/>
            </a:pPr>
            <a:r>
              <a:rPr lang="en-US" sz="1200" dirty="0">
                <a:solidFill>
                  <a:schemeClr val="accent1"/>
                </a:solidFill>
                <a:latin typeface="Courier New" pitchFamily="34" charset="0"/>
                <a:ea typeface="Courier New" pitchFamily="34" charset="-122"/>
                <a:cs typeface="Courier New" pitchFamily="34" charset="-120"/>
              </a:rPr>
              <a:t># IAM Identity Center: find your permission-set role ARN</a:t>
            </a:r>
            <a:endParaRPr lang="en-US" sz="1200" dirty="0"/>
          </a:p>
          <a:p>
            <a:pPr indent="0" marL="0">
              <a:spcAft>
                <a:spcPts val="300"/>
              </a:spcAft>
              <a:buNone/>
            </a:pPr>
            <a:r>
              <a:rPr lang="en-US" sz="1200" dirty="0">
                <a:solidFill>
                  <a:schemeClr val="bg2"/>
                </a:solidFill>
                <a:latin typeface="Courier New" pitchFamily="34" charset="0"/>
                <a:ea typeface="Courier New" pitchFamily="34" charset="-122"/>
                <a:cs typeface="Courier New" pitchFamily="34" charset="-120"/>
              </a:rPr>
              <a:t>aws iam list-roles --query "Roles[?starts_with(RoleName,'AWSReservedSSO_AdministratorAccess')].Arn"</a:t>
            </a:r>
            <a:endParaRPr lang="en-US" sz="1200" dirty="0"/>
          </a:p>
          <a:p>
            <a:pPr indent="0" marL="0">
              <a:spcAft>
                <a:spcPts val="300"/>
              </a:spcAft>
              <a:buNone/>
            </a:pPr>
            <a:r>
              <a:rPr lang="en-US" sz="1200" dirty="0">
                <a:solidFill>
                  <a:schemeClr val="bg2"/>
                </a:solidFill>
                <a:latin typeface="Courier New" pitchFamily="34" charset="0"/>
                <a:ea typeface="Courier New" pitchFamily="34" charset="-122"/>
                <a:cs typeface="Courier New" pitchFamily="34" charset="-120"/>
              </a:rPr>
              <a:t>export SCL_SMUS_ADMIN_ARNS=arn:aws:iam::&lt;acct&gt;:role/aws-reserved/sso.amazonaws.com/&lt;region&gt;/AWSReservedSSO_AdministratorAccess_&lt;suffix&gt;</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141732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PHASE 3 · DEPLOY</a:t>
            </a:r>
            <a:endParaRPr lang="en-US" sz="1200" dirty="0"/>
          </a:p>
        </p:txBody>
      </p:sp>
      <p:sp>
        <p:nvSpPr>
          <p:cNvPr id="3" name="Text 0"/>
          <p:cNvSpPr/>
          <p:nvPr>
            <p:ph idx="101" type="title" hasCustomPrompt="1"/>
          </p:nvPr>
        </p:nvSpPr>
        <p:spPr>
          <a:xfrm>
            <a:off x="1417320" y="640080"/>
            <a:ext cx="10222992" cy="685800"/>
          </a:xfrm>
          <a:prstGeom prst="rect">
            <a:avLst/>
          </a:prstGeom>
          <a:noFill/>
          <a:ln/>
        </p:spPr>
        <p:txBody>
          <a:bodyPr wrap="square" lIns="0" tIns="0" rIns="0" bIns="0" rtlCol="0" anchor="ctr"/>
          <a:lstStyle/>
          <a:p>
            <a:pPr algn="l" indent="0" marL="0">
              <a:buNone/>
            </a:pPr>
            <a:r>
              <a:rPr lang="en-US" sz="3400" b="1" dirty="0">
                <a:solidFill>
                  <a:schemeClr val="tx1"/>
                </a:solidFill>
              </a:rPr>
              <a:t>Clone a release and run make setup</a:t>
            </a:r>
            <a:endParaRPr lang="en-US" sz="3400" dirty="0"/>
          </a:p>
        </p:txBody>
      </p:sp>
      <p:sp>
        <p:nvSpPr>
          <p:cNvPr id="4" name="step-badge-207"/>
          <p:cNvSpPr/>
          <p:nvPr/>
        </p:nvSpPr>
        <p:spPr>
          <a:xfrm>
            <a:off x="548640" y="566928"/>
            <a:ext cx="713232" cy="713232"/>
          </a:xfrm>
          <a:prstGeom prst="ellipse">
            <a:avLst/>
          </a:prstGeom>
          <a:solidFill>
            <a:schemeClr val="accent1"/>
          </a:solidFill>
          <a:ln/>
        </p:spPr>
      </p:sp>
      <p:sp>
        <p:nvSpPr>
          <p:cNvPr id="5" name="step-number-208"/>
          <p:cNvSpPr txBox="1"/>
          <p:nvPr/>
        </p:nvSpPr>
        <p:spPr>
          <a:xfrm>
            <a:off x="548640" y="566928"/>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latin typeface="Arial" pitchFamily="34" charset="0"/>
                <a:ea typeface="Arial" pitchFamily="34" charset="-122"/>
                <a:cs typeface="Arial" pitchFamily="34" charset="-120"/>
              </a:rPr>
              <a:t>7</a:t>
            </a:r>
            <a:endParaRPr lang="en-US" sz="2600" dirty="0"/>
          </a:p>
        </p:txBody>
      </p:sp>
      <p:sp>
        <p:nvSpPr>
          <p:cNvPr id="6" name="code-bg-209"/>
          <p:cNvSpPr/>
          <p:nvPr/>
        </p:nvSpPr>
        <p:spPr>
          <a:xfrm>
            <a:off x="548640" y="1600200"/>
            <a:ext cx="6949440" cy="2377440"/>
          </a:xfrm>
          <a:prstGeom prst="roundRect">
            <a:avLst>
              <a:gd name="adj" fmla="val 3077"/>
            </a:avLst>
          </a:prstGeom>
          <a:solidFill>
            <a:schemeClr val="tx1"/>
          </a:solidFill>
          <a:ln/>
        </p:spPr>
      </p:sp>
      <p:sp>
        <p:nvSpPr>
          <p:cNvPr id="7" name="code-210"/>
          <p:cNvSpPr txBox="1"/>
          <p:nvPr/>
        </p:nvSpPr>
        <p:spPr>
          <a:xfrm>
            <a:off x="777240" y="1737360"/>
            <a:ext cx="6492240" cy="2103120"/>
          </a:xfrm>
          <a:prstGeom prst="rect">
            <a:avLst/>
          </a:prstGeom>
          <a:noFill/>
          <a:ln/>
        </p:spPr>
        <p:txBody>
          <a:bodyPr wrap="square" lIns="0" tIns="0" rIns="0" bIns="0" rtlCol="0" anchor="t"/>
          <a:lstStyle/>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git clone --branch &lt;release-tag&gt; \</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  https://github.com/aws/context-ontology-accelerator.git</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cd context-ontology-accelerator</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 </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make setup     </a:t>
            </a:r>
            <a:pPr indent="0" marL="0">
              <a:spcAft>
                <a:spcPts val="300"/>
              </a:spcAft>
              <a:buNone/>
            </a:pPr>
            <a:r>
              <a:rPr lang="en-US" sz="1300" dirty="0">
                <a:solidFill>
                  <a:schemeClr val="accent1"/>
                </a:solidFill>
                <a:latin typeface="Courier New" pitchFamily="34" charset="0"/>
                <a:ea typeface="Courier New" pitchFamily="34" charset="-122"/>
                <a:cs typeface="Courier New" pitchFamily="34" charset="-120"/>
              </a:rPr>
              <a:t># codegen, uv sync, pnpm install, hooks</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make test      </a:t>
            </a:r>
            <a:pPr indent="0" marL="0">
              <a:spcAft>
                <a:spcPts val="300"/>
              </a:spcAft>
              <a:buNone/>
            </a:pPr>
            <a:r>
              <a:rPr lang="en-US" sz="1300" dirty="0">
                <a:solidFill>
                  <a:schemeClr val="accent1"/>
                </a:solidFill>
                <a:latin typeface="Courier New" pitchFamily="34" charset="0"/>
                <a:ea typeface="Courier New" pitchFamily="34" charset="-122"/>
                <a:cs typeface="Courier New" pitchFamily="34" charset="-120"/>
              </a:rPr>
              <a:t># optional sanity check</a:t>
            </a:r>
            <a:endParaRPr lang="en-US" sz="1300" dirty="0"/>
          </a:p>
        </p:txBody>
      </p:sp>
      <p:sp>
        <p:nvSpPr>
          <p:cNvPr id="8" name="card-211"/>
          <p:cNvSpPr/>
          <p:nvPr/>
        </p:nvSpPr>
        <p:spPr>
          <a:xfrm>
            <a:off x="7772400" y="1600200"/>
            <a:ext cx="3867912" cy="2377440"/>
          </a:xfrm>
          <a:prstGeom prst="roundRect">
            <a:avLst>
              <a:gd name="adj" fmla="val 3846"/>
            </a:avLst>
          </a:prstGeom>
          <a:solidFill>
            <a:schemeClr val="bg2"/>
          </a:solidFill>
          <a:ln/>
        </p:spPr>
      </p:sp>
      <p:sp>
        <p:nvSpPr>
          <p:cNvPr id="9" name="icon-circle-212"/>
          <p:cNvSpPr/>
          <p:nvPr/>
        </p:nvSpPr>
        <p:spPr>
          <a:xfrm>
            <a:off x="8046720" y="1874520"/>
            <a:ext cx="548640" cy="548640"/>
          </a:xfrm>
          <a:prstGeom prst="ellipse">
            <a:avLst/>
          </a:prstGeom>
          <a:solidFill>
            <a:schemeClr val="accent2"/>
          </a:solidFill>
          <a:ln/>
        </p:spPr>
      </p:sp>
      <p:sp>
        <p:nvSpPr>
          <p:cNvPr id="10" name="icon-gitbranch-213"/>
          <p:cNvSpPr/>
          <p:nvPr/>
        </p:nvSpPr>
        <p:spPr>
          <a:xfrm>
            <a:off x="8178394" y="2006194"/>
            <a:ext cx="285293" cy="285293"/>
          </a:xfrm>
          <a:custGeom>
            <a:avLst/>
            <a:gdLst/>
            <a:ahLst/>
            <a:cxnLst/>
            <a:rect l="l" t="t" r="r" b="b"/>
            <a:pathLst>
              <a:path w="285293" h="285293">
                <a:moveTo>
                  <a:pt x="71323" y="35662"/>
                </a:moveTo>
                <a:lnTo>
                  <a:pt x="71323" y="178308"/>
                </a:lnTo>
                <a:moveTo>
                  <a:pt x="178308" y="71323"/>
                </a:moveTo>
                <a:cubicBezTo>
                  <a:pt x="178308" y="90983"/>
                  <a:pt x="194310" y="106985"/>
                  <a:pt x="213970" y="106985"/>
                </a:cubicBezTo>
                <a:cubicBezTo>
                  <a:pt x="233629" y="106985"/>
                  <a:pt x="249631" y="90983"/>
                  <a:pt x="249631" y="71323"/>
                </a:cubicBezTo>
                <a:cubicBezTo>
                  <a:pt x="249631" y="51664"/>
                  <a:pt x="233629" y="35662"/>
                  <a:pt x="213970" y="35662"/>
                </a:cubicBezTo>
                <a:cubicBezTo>
                  <a:pt x="194310" y="35662"/>
                  <a:pt x="178308" y="51664"/>
                  <a:pt x="178308" y="71323"/>
                </a:cubicBezTo>
                <a:close/>
                <a:moveTo>
                  <a:pt x="35662" y="213970"/>
                </a:moveTo>
                <a:cubicBezTo>
                  <a:pt x="35662" y="233629"/>
                  <a:pt x="51664" y="249631"/>
                  <a:pt x="71323" y="249631"/>
                </a:cubicBezTo>
                <a:cubicBezTo>
                  <a:pt x="90983" y="249631"/>
                  <a:pt x="106985" y="233629"/>
                  <a:pt x="106985" y="213970"/>
                </a:cubicBezTo>
                <a:cubicBezTo>
                  <a:pt x="106985" y="194310"/>
                  <a:pt x="90983" y="178308"/>
                  <a:pt x="71323" y="178308"/>
                </a:cubicBezTo>
                <a:cubicBezTo>
                  <a:pt x="51664" y="178308"/>
                  <a:pt x="35662" y="194310"/>
                  <a:pt x="35662" y="213970"/>
                </a:cubicBezTo>
                <a:close/>
                <a:moveTo>
                  <a:pt x="213970" y="106985"/>
                </a:moveTo>
                <a:cubicBezTo>
                  <a:pt x="213970" y="166055"/>
                  <a:pt x="166055" y="213970"/>
                  <a:pt x="106985" y="213970"/>
                </a:cubicBezTo>
              </a:path>
            </a:pathLst>
          </a:custGeom>
          <a:noFill/>
          <a:ln w="23749" cap="rnd">
            <a:solidFill>
              <a:schemeClr val="bg1"/>
            </a:solidFill>
            <a:prstDash val="solid"/>
            <a:round/>
          </a:ln>
        </p:spPr>
      </p:sp>
      <p:sp>
        <p:nvSpPr>
          <p:cNvPr id="11" name="card-title-214"/>
          <p:cNvSpPr txBox="1"/>
          <p:nvPr/>
        </p:nvSpPr>
        <p:spPr>
          <a:xfrm>
            <a:off x="8778240" y="1874520"/>
            <a:ext cx="2633472"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Use a tagged release</a:t>
            </a:r>
            <a:endParaRPr lang="en-US" sz="1700" dirty="0"/>
          </a:p>
        </p:txBody>
      </p:sp>
      <p:sp>
        <p:nvSpPr>
          <p:cNvPr id="12" name="card-body-215"/>
          <p:cNvSpPr txBox="1"/>
          <p:nvPr/>
        </p:nvSpPr>
        <p:spPr>
          <a:xfrm>
            <a:off x="8046720" y="2560320"/>
            <a:ext cx="3364992" cy="123444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main tracks ongoing development. Our working copy is v0.3.4.</a:t>
            </a:r>
            <a:endParaRPr lang="en-US" sz="1400" dirty="0"/>
          </a:p>
        </p:txBody>
      </p:sp>
      <p:sp>
        <p:nvSpPr>
          <p:cNvPr id="13" name="card-216"/>
          <p:cNvSpPr/>
          <p:nvPr/>
        </p:nvSpPr>
        <p:spPr>
          <a:xfrm>
            <a:off x="548640" y="4206240"/>
            <a:ext cx="3611880" cy="1965960"/>
          </a:xfrm>
          <a:prstGeom prst="roundRect">
            <a:avLst>
              <a:gd name="adj" fmla="val 4651"/>
            </a:avLst>
          </a:prstGeom>
          <a:solidFill>
            <a:schemeClr val="bg2"/>
          </a:solidFill>
          <a:ln/>
        </p:spPr>
      </p:sp>
      <p:sp>
        <p:nvSpPr>
          <p:cNvPr id="14" name="icon-circle-217"/>
          <p:cNvSpPr/>
          <p:nvPr/>
        </p:nvSpPr>
        <p:spPr>
          <a:xfrm>
            <a:off x="822960" y="4480560"/>
            <a:ext cx="548640" cy="548640"/>
          </a:xfrm>
          <a:prstGeom prst="ellipse">
            <a:avLst/>
          </a:prstGeom>
          <a:solidFill>
            <a:schemeClr val="accent2"/>
          </a:solidFill>
          <a:ln/>
        </p:spPr>
      </p:sp>
      <p:sp>
        <p:nvSpPr>
          <p:cNvPr id="15" name="icon-workflow-218"/>
          <p:cNvSpPr/>
          <p:nvPr/>
        </p:nvSpPr>
        <p:spPr>
          <a:xfrm>
            <a:off x="954634" y="4612234"/>
            <a:ext cx="285293" cy="285293"/>
          </a:xfrm>
          <a:custGeom>
            <a:avLst/>
            <a:gdLst/>
            <a:ahLst/>
            <a:cxnLst/>
            <a:rect l="l" t="t" r="r" b="b"/>
            <a:pathLst>
              <a:path w="285293" h="285293">
                <a:moveTo>
                  <a:pt x="59436" y="35662"/>
                </a:moveTo>
                <a:lnTo>
                  <a:pt x="106985" y="35662"/>
                </a:lnTo>
                <a:cubicBezTo>
                  <a:pt x="120152" y="35662"/>
                  <a:pt x="130759" y="46269"/>
                  <a:pt x="130759" y="59436"/>
                </a:cubicBezTo>
                <a:lnTo>
                  <a:pt x="130759" y="106985"/>
                </a:lnTo>
                <a:cubicBezTo>
                  <a:pt x="130759" y="120152"/>
                  <a:pt x="120152" y="130759"/>
                  <a:pt x="106985" y="130759"/>
                </a:cubicBezTo>
                <a:lnTo>
                  <a:pt x="59436" y="130759"/>
                </a:lnTo>
                <a:cubicBezTo>
                  <a:pt x="46269" y="130759"/>
                  <a:pt x="35662" y="120152"/>
                  <a:pt x="35662" y="106985"/>
                </a:cubicBezTo>
                <a:lnTo>
                  <a:pt x="35662" y="59436"/>
                </a:lnTo>
                <a:cubicBezTo>
                  <a:pt x="35662" y="46269"/>
                  <a:pt x="46269" y="35662"/>
                  <a:pt x="59436" y="35662"/>
                </a:cubicBezTo>
                <a:close/>
                <a:moveTo>
                  <a:pt x="83210" y="130759"/>
                </a:moveTo>
                <a:lnTo>
                  <a:pt x="83210" y="178308"/>
                </a:lnTo>
                <a:cubicBezTo>
                  <a:pt x="83210" y="191475"/>
                  <a:pt x="93817" y="202082"/>
                  <a:pt x="106985" y="202082"/>
                </a:cubicBezTo>
                <a:lnTo>
                  <a:pt x="154534" y="202082"/>
                </a:lnTo>
                <a:moveTo>
                  <a:pt x="178308" y="154534"/>
                </a:moveTo>
                <a:lnTo>
                  <a:pt x="225857" y="154534"/>
                </a:lnTo>
                <a:cubicBezTo>
                  <a:pt x="239024" y="154534"/>
                  <a:pt x="249631" y="165141"/>
                  <a:pt x="249631" y="178308"/>
                </a:cubicBezTo>
                <a:lnTo>
                  <a:pt x="249631" y="225857"/>
                </a:lnTo>
                <a:cubicBezTo>
                  <a:pt x="249631" y="239024"/>
                  <a:pt x="239024" y="249631"/>
                  <a:pt x="225857" y="249631"/>
                </a:cubicBezTo>
                <a:lnTo>
                  <a:pt x="178308" y="249631"/>
                </a:lnTo>
                <a:cubicBezTo>
                  <a:pt x="165141" y="249631"/>
                  <a:pt x="154534" y="239024"/>
                  <a:pt x="154534" y="225857"/>
                </a:cubicBezTo>
                <a:lnTo>
                  <a:pt x="154534" y="178308"/>
                </a:lnTo>
                <a:cubicBezTo>
                  <a:pt x="154534" y="165141"/>
                  <a:pt x="165141" y="154534"/>
                  <a:pt x="178308" y="154534"/>
                </a:cubicBezTo>
                <a:close/>
              </a:path>
            </a:pathLst>
          </a:custGeom>
          <a:noFill/>
          <a:ln w="23749" cap="rnd">
            <a:solidFill>
              <a:schemeClr val="bg1"/>
            </a:solidFill>
            <a:prstDash val="solid"/>
            <a:round/>
          </a:ln>
        </p:spPr>
      </p:sp>
      <p:sp>
        <p:nvSpPr>
          <p:cNvPr id="16" name="card-title-219"/>
          <p:cNvSpPr txBox="1"/>
          <p:nvPr/>
        </p:nvSpPr>
        <p:spPr>
          <a:xfrm>
            <a:off x="1554480" y="4480560"/>
            <a:ext cx="237744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Smithy codegen</a:t>
            </a:r>
            <a:endParaRPr lang="en-US" sz="1700" dirty="0"/>
          </a:p>
        </p:txBody>
      </p:sp>
      <p:sp>
        <p:nvSpPr>
          <p:cNvPr id="17" name="card-body-220"/>
          <p:cNvSpPr txBox="1"/>
          <p:nvPr/>
        </p:nvSpPr>
        <p:spPr>
          <a:xfrm>
            <a:off x="822960" y="5166360"/>
            <a:ext cx="3108960" cy="82296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OpenAPI, Python stubs and TS client into smithy-generated/</a:t>
            </a:r>
            <a:endParaRPr lang="en-US" sz="1400" dirty="0"/>
          </a:p>
        </p:txBody>
      </p:sp>
      <p:sp>
        <p:nvSpPr>
          <p:cNvPr id="18" name="card-221"/>
          <p:cNvSpPr/>
          <p:nvPr/>
        </p:nvSpPr>
        <p:spPr>
          <a:xfrm>
            <a:off x="4288536" y="4206240"/>
            <a:ext cx="3611880" cy="1965960"/>
          </a:xfrm>
          <a:prstGeom prst="roundRect">
            <a:avLst>
              <a:gd name="adj" fmla="val 4651"/>
            </a:avLst>
          </a:prstGeom>
          <a:solidFill>
            <a:schemeClr val="bg2"/>
          </a:solidFill>
          <a:ln/>
        </p:spPr>
      </p:sp>
      <p:sp>
        <p:nvSpPr>
          <p:cNvPr id="19" name="icon-circle-222"/>
          <p:cNvSpPr/>
          <p:nvPr/>
        </p:nvSpPr>
        <p:spPr>
          <a:xfrm>
            <a:off x="4562856" y="4480560"/>
            <a:ext cx="548640" cy="548640"/>
          </a:xfrm>
          <a:prstGeom prst="ellipse">
            <a:avLst/>
          </a:prstGeom>
          <a:solidFill>
            <a:schemeClr val="accent2"/>
          </a:solidFill>
          <a:ln/>
        </p:spPr>
      </p:sp>
      <p:sp>
        <p:nvSpPr>
          <p:cNvPr id="20" name="icon-boxes-223"/>
          <p:cNvSpPr/>
          <p:nvPr/>
        </p:nvSpPr>
        <p:spPr>
          <a:xfrm>
            <a:off x="4694530" y="4612234"/>
            <a:ext cx="285293" cy="285293"/>
          </a:xfrm>
          <a:custGeom>
            <a:avLst/>
            <a:gdLst/>
            <a:ahLst/>
            <a:cxnLst/>
            <a:rect l="l" t="t" r="r" b="b"/>
            <a:pathLst>
              <a:path w="285293" h="285293">
                <a:moveTo>
                  <a:pt x="35296" y="153619"/>
                </a:moveTo>
                <a:cubicBezTo>
                  <a:pt x="28164" y="157917"/>
                  <a:pt x="23774" y="165598"/>
                  <a:pt x="23774" y="173919"/>
                </a:cubicBezTo>
                <a:lnTo>
                  <a:pt x="23774" y="212415"/>
                </a:lnTo>
                <a:cubicBezTo>
                  <a:pt x="23774" y="220736"/>
                  <a:pt x="28164" y="228417"/>
                  <a:pt x="35296" y="232715"/>
                </a:cubicBezTo>
                <a:lnTo>
                  <a:pt x="70957" y="254112"/>
                </a:lnTo>
                <a:cubicBezTo>
                  <a:pt x="78547" y="258684"/>
                  <a:pt x="87874" y="258684"/>
                  <a:pt x="95463" y="254112"/>
                </a:cubicBezTo>
                <a:lnTo>
                  <a:pt x="142646" y="225857"/>
                </a:lnTo>
                <a:lnTo>
                  <a:pt x="142646" y="160477"/>
                </a:lnTo>
                <a:lnTo>
                  <a:pt x="83210" y="124816"/>
                </a:lnTo>
                <a:lnTo>
                  <a:pt x="35296" y="153619"/>
                </a:lnTo>
                <a:close/>
                <a:moveTo>
                  <a:pt x="83210" y="196139"/>
                </a:moveTo>
                <a:lnTo>
                  <a:pt x="26883" y="162215"/>
                </a:lnTo>
                <a:moveTo>
                  <a:pt x="83210" y="196139"/>
                </a:moveTo>
                <a:lnTo>
                  <a:pt x="142646" y="160477"/>
                </a:lnTo>
                <a:moveTo>
                  <a:pt x="83210" y="196139"/>
                </a:moveTo>
                <a:lnTo>
                  <a:pt x="83210" y="257586"/>
                </a:lnTo>
                <a:moveTo>
                  <a:pt x="142646" y="160477"/>
                </a:moveTo>
                <a:lnTo>
                  <a:pt x="142646" y="225857"/>
                </a:lnTo>
                <a:lnTo>
                  <a:pt x="189829" y="254112"/>
                </a:lnTo>
                <a:cubicBezTo>
                  <a:pt x="197419" y="258684"/>
                  <a:pt x="206746" y="258684"/>
                  <a:pt x="214335" y="254112"/>
                </a:cubicBezTo>
                <a:lnTo>
                  <a:pt x="249997" y="232715"/>
                </a:lnTo>
                <a:cubicBezTo>
                  <a:pt x="257129" y="228417"/>
                  <a:pt x="261518" y="220736"/>
                  <a:pt x="261518" y="212415"/>
                </a:cubicBezTo>
                <a:lnTo>
                  <a:pt x="261518" y="173919"/>
                </a:lnTo>
                <a:cubicBezTo>
                  <a:pt x="261518" y="165598"/>
                  <a:pt x="257129" y="157917"/>
                  <a:pt x="249997" y="153619"/>
                </a:cubicBezTo>
                <a:lnTo>
                  <a:pt x="202082" y="124816"/>
                </a:lnTo>
                <a:lnTo>
                  <a:pt x="142646" y="160477"/>
                </a:lnTo>
                <a:close/>
                <a:moveTo>
                  <a:pt x="202082" y="196139"/>
                </a:moveTo>
                <a:lnTo>
                  <a:pt x="142646" y="160477"/>
                </a:lnTo>
                <a:moveTo>
                  <a:pt x="202082" y="196139"/>
                </a:moveTo>
                <a:lnTo>
                  <a:pt x="258409" y="162215"/>
                </a:lnTo>
                <a:moveTo>
                  <a:pt x="202082" y="196139"/>
                </a:moveTo>
                <a:lnTo>
                  <a:pt x="202082" y="257586"/>
                </a:lnTo>
                <a:moveTo>
                  <a:pt x="94732" y="52578"/>
                </a:moveTo>
                <a:cubicBezTo>
                  <a:pt x="87600" y="56876"/>
                  <a:pt x="83210" y="64557"/>
                  <a:pt x="83210" y="72878"/>
                </a:cubicBezTo>
                <a:lnTo>
                  <a:pt x="83210" y="124816"/>
                </a:lnTo>
                <a:lnTo>
                  <a:pt x="142646" y="160477"/>
                </a:lnTo>
                <a:lnTo>
                  <a:pt x="202082" y="124816"/>
                </a:lnTo>
                <a:lnTo>
                  <a:pt x="202082" y="72878"/>
                </a:lnTo>
                <a:cubicBezTo>
                  <a:pt x="202082" y="64557"/>
                  <a:pt x="197693" y="56876"/>
                  <a:pt x="190561" y="52578"/>
                </a:cubicBezTo>
                <a:lnTo>
                  <a:pt x="154899" y="31181"/>
                </a:lnTo>
                <a:cubicBezTo>
                  <a:pt x="147310" y="26609"/>
                  <a:pt x="137983" y="26609"/>
                  <a:pt x="130393" y="31181"/>
                </a:cubicBezTo>
                <a:lnTo>
                  <a:pt x="94732" y="52578"/>
                </a:lnTo>
                <a:close/>
                <a:moveTo>
                  <a:pt x="142646" y="95098"/>
                </a:moveTo>
                <a:lnTo>
                  <a:pt x="86319" y="61173"/>
                </a:lnTo>
                <a:moveTo>
                  <a:pt x="142646" y="95098"/>
                </a:moveTo>
                <a:lnTo>
                  <a:pt x="198973" y="61173"/>
                </a:lnTo>
                <a:moveTo>
                  <a:pt x="142646" y="160477"/>
                </a:moveTo>
                <a:lnTo>
                  <a:pt x="142646" y="95098"/>
                </a:lnTo>
              </a:path>
            </a:pathLst>
          </a:custGeom>
          <a:noFill/>
          <a:ln w="23749" cap="rnd">
            <a:solidFill>
              <a:schemeClr val="bg1"/>
            </a:solidFill>
            <a:prstDash val="solid"/>
            <a:round/>
          </a:ln>
        </p:spPr>
      </p:sp>
      <p:sp>
        <p:nvSpPr>
          <p:cNvPr id="21" name="card-title-224"/>
          <p:cNvSpPr txBox="1"/>
          <p:nvPr/>
        </p:nvSpPr>
        <p:spPr>
          <a:xfrm>
            <a:off x="5294376" y="4480560"/>
            <a:ext cx="237744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Dependencies</a:t>
            </a:r>
            <a:endParaRPr lang="en-US" sz="1700" dirty="0"/>
          </a:p>
        </p:txBody>
      </p:sp>
      <p:sp>
        <p:nvSpPr>
          <p:cNvPr id="22" name="card-body-225"/>
          <p:cNvSpPr txBox="1"/>
          <p:nvPr/>
        </p:nvSpPr>
        <p:spPr>
          <a:xfrm>
            <a:off x="4562856" y="5166360"/>
            <a:ext cx="3108960" cy="82296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uv sync --all-packages and pnpm install across the monorepo</a:t>
            </a:r>
            <a:endParaRPr lang="en-US" sz="1400" dirty="0"/>
          </a:p>
        </p:txBody>
      </p:sp>
      <p:sp>
        <p:nvSpPr>
          <p:cNvPr id="23" name="card-226"/>
          <p:cNvSpPr/>
          <p:nvPr/>
        </p:nvSpPr>
        <p:spPr>
          <a:xfrm>
            <a:off x="8028432" y="4206240"/>
            <a:ext cx="3611880" cy="1965960"/>
          </a:xfrm>
          <a:prstGeom prst="roundRect">
            <a:avLst>
              <a:gd name="adj" fmla="val 4651"/>
            </a:avLst>
          </a:prstGeom>
          <a:solidFill>
            <a:schemeClr val="bg2"/>
          </a:solidFill>
          <a:ln/>
        </p:spPr>
      </p:sp>
      <p:sp>
        <p:nvSpPr>
          <p:cNvPr id="24" name="icon-circle-227"/>
          <p:cNvSpPr/>
          <p:nvPr/>
        </p:nvSpPr>
        <p:spPr>
          <a:xfrm>
            <a:off x="8302752" y="4480560"/>
            <a:ext cx="548640" cy="548640"/>
          </a:xfrm>
          <a:prstGeom prst="ellipse">
            <a:avLst/>
          </a:prstGeom>
          <a:solidFill>
            <a:schemeClr val="accent1"/>
          </a:solidFill>
          <a:ln/>
        </p:spPr>
      </p:sp>
      <p:sp>
        <p:nvSpPr>
          <p:cNvPr id="25" name="icon-clock-228"/>
          <p:cNvSpPr/>
          <p:nvPr/>
        </p:nvSpPr>
        <p:spPr>
          <a:xfrm>
            <a:off x="8434426" y="4612234"/>
            <a:ext cx="285293" cy="285293"/>
          </a:xfrm>
          <a:custGeom>
            <a:avLst/>
            <a:gdLst/>
            <a:ahLst/>
            <a:cxnLst/>
            <a:rect l="l" t="t" r="r" b="b"/>
            <a:pathLst>
              <a:path w="285293" h="285293">
                <a:moveTo>
                  <a:pt x="23774" y="142646"/>
                </a:moveTo>
                <a:cubicBezTo>
                  <a:pt x="23774" y="208300"/>
                  <a:pt x="76992" y="261518"/>
                  <a:pt x="142646" y="261518"/>
                </a:cubicBezTo>
                <a:cubicBezTo>
                  <a:pt x="208300" y="261518"/>
                  <a:pt x="261518" y="208300"/>
                  <a:pt x="261518" y="142646"/>
                </a:cubicBezTo>
                <a:cubicBezTo>
                  <a:pt x="261518" y="76992"/>
                  <a:pt x="208300" y="23774"/>
                  <a:pt x="142646" y="23774"/>
                </a:cubicBezTo>
                <a:cubicBezTo>
                  <a:pt x="76992" y="23774"/>
                  <a:pt x="23774" y="76992"/>
                  <a:pt x="23774" y="142646"/>
                </a:cubicBezTo>
                <a:close/>
                <a:moveTo>
                  <a:pt x="142646" y="71323"/>
                </a:moveTo>
                <a:lnTo>
                  <a:pt x="142646" y="142646"/>
                </a:lnTo>
                <a:lnTo>
                  <a:pt x="190195" y="166421"/>
                </a:lnTo>
              </a:path>
            </a:pathLst>
          </a:custGeom>
          <a:noFill/>
          <a:ln w="23749" cap="rnd">
            <a:solidFill>
              <a:schemeClr val="bg1"/>
            </a:solidFill>
            <a:prstDash val="solid"/>
            <a:round/>
          </a:ln>
        </p:spPr>
      </p:sp>
      <p:sp>
        <p:nvSpPr>
          <p:cNvPr id="26" name="card-title-229"/>
          <p:cNvSpPr txBox="1"/>
          <p:nvPr/>
        </p:nvSpPr>
        <p:spPr>
          <a:xfrm>
            <a:off x="9034272" y="4480560"/>
            <a:ext cx="237744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First run is slow</a:t>
            </a:r>
            <a:endParaRPr lang="en-US" sz="1700" dirty="0"/>
          </a:p>
        </p:txBody>
      </p:sp>
      <p:sp>
        <p:nvSpPr>
          <p:cNvPr id="27" name="card-body-230"/>
          <p:cNvSpPr txBox="1"/>
          <p:nvPr/>
        </p:nvSpPr>
        <p:spPr>
          <a:xfrm>
            <a:off x="8302752" y="5166360"/>
            <a:ext cx="3108960" cy="82296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Downloads Gradle wrappers and openapi-generator; cached after</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141732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PHASE 3 · DEPLOY</a:t>
            </a:r>
            <a:endParaRPr lang="en-US" sz="1200" dirty="0"/>
          </a:p>
        </p:txBody>
      </p:sp>
      <p:sp>
        <p:nvSpPr>
          <p:cNvPr id="3" name="Text 0"/>
          <p:cNvSpPr/>
          <p:nvPr>
            <p:ph idx="101" type="title" hasCustomPrompt="1"/>
          </p:nvPr>
        </p:nvSpPr>
        <p:spPr>
          <a:xfrm>
            <a:off x="1417320" y="640080"/>
            <a:ext cx="10222992" cy="685800"/>
          </a:xfrm>
          <a:prstGeom prst="rect">
            <a:avLst/>
          </a:prstGeom>
          <a:noFill/>
          <a:ln/>
        </p:spPr>
        <p:txBody>
          <a:bodyPr wrap="square" lIns="0" tIns="0" rIns="0" bIns="0" rtlCol="0" anchor="ctr"/>
          <a:lstStyle/>
          <a:p>
            <a:pPr algn="l" indent="0" marL="0">
              <a:buNone/>
            </a:pPr>
            <a:r>
              <a:rPr lang="en-US" sz="3400" b="1" dirty="0">
                <a:solidFill>
                  <a:schemeClr val="tx1"/>
                </a:solidFill>
              </a:rPr>
              <a:t>Write the deploy config, bootstrap CDK</a:t>
            </a:r>
            <a:endParaRPr lang="en-US" sz="3400" dirty="0"/>
          </a:p>
        </p:txBody>
      </p:sp>
      <p:sp>
        <p:nvSpPr>
          <p:cNvPr id="4" name="step-badge-231"/>
          <p:cNvSpPr/>
          <p:nvPr/>
        </p:nvSpPr>
        <p:spPr>
          <a:xfrm>
            <a:off x="548640" y="566928"/>
            <a:ext cx="713232" cy="713232"/>
          </a:xfrm>
          <a:prstGeom prst="ellipse">
            <a:avLst/>
          </a:prstGeom>
          <a:solidFill>
            <a:schemeClr val="accent1"/>
          </a:solidFill>
          <a:ln/>
        </p:spPr>
      </p:sp>
      <p:sp>
        <p:nvSpPr>
          <p:cNvPr id="5" name="step-number-232"/>
          <p:cNvSpPr txBox="1"/>
          <p:nvPr/>
        </p:nvSpPr>
        <p:spPr>
          <a:xfrm>
            <a:off x="548640" y="566928"/>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latin typeface="Arial" pitchFamily="34" charset="0"/>
                <a:ea typeface="Arial" pitchFamily="34" charset="-122"/>
                <a:cs typeface="Arial" pitchFamily="34" charset="-120"/>
              </a:rPr>
              <a:t>8</a:t>
            </a:r>
            <a:endParaRPr lang="en-US" sz="2600" dirty="0"/>
          </a:p>
        </p:txBody>
      </p:sp>
      <p:sp>
        <p:nvSpPr>
          <p:cNvPr id="6" name="sub-233"/>
          <p:cNvSpPr txBox="1"/>
          <p:nvPr/>
        </p:nvSpPr>
        <p:spPr>
          <a:xfrm>
            <a:off x="548640" y="1508760"/>
            <a:ext cx="6400800" cy="36576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1  Deploy config in SSM</a:t>
            </a:r>
            <a:endParaRPr lang="en-US" sz="1700" dirty="0"/>
          </a:p>
        </p:txBody>
      </p:sp>
      <p:sp>
        <p:nvSpPr>
          <p:cNvPr id="7" name="code-bg-234"/>
          <p:cNvSpPr/>
          <p:nvPr/>
        </p:nvSpPr>
        <p:spPr>
          <a:xfrm>
            <a:off x="548640" y="1920240"/>
            <a:ext cx="6949440" cy="1600200"/>
          </a:xfrm>
          <a:prstGeom prst="roundRect">
            <a:avLst>
              <a:gd name="adj" fmla="val 4571"/>
            </a:avLst>
          </a:prstGeom>
          <a:solidFill>
            <a:schemeClr val="tx1"/>
          </a:solidFill>
          <a:ln/>
        </p:spPr>
      </p:sp>
      <p:sp>
        <p:nvSpPr>
          <p:cNvPr id="8" name="code-235"/>
          <p:cNvSpPr txBox="1"/>
          <p:nvPr/>
        </p:nvSpPr>
        <p:spPr>
          <a:xfrm>
            <a:off x="777240" y="2057400"/>
            <a:ext cx="6492240" cy="1325880"/>
          </a:xfrm>
          <a:prstGeom prst="rect">
            <a:avLst/>
          </a:prstGeom>
          <a:noFill/>
          <a:ln/>
        </p:spPr>
        <p:txBody>
          <a:bodyPr wrap="square" lIns="0" tIns="0" rIns="0" bIns="0" rtlCol="0" anchor="t"/>
          <a:lstStyle/>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aws ssm put-parameter --name /coa/config \</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  --type String --overwrite \</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  --value '{"initialAdminEmail":"admin@yourcompany.com"}'</a:t>
            </a:r>
            <a:endParaRPr lang="en-US" sz="1300" dirty="0"/>
          </a:p>
        </p:txBody>
      </p:sp>
      <p:sp>
        <p:nvSpPr>
          <p:cNvPr id="9" name="sub-236"/>
          <p:cNvSpPr txBox="1"/>
          <p:nvPr/>
        </p:nvSpPr>
        <p:spPr>
          <a:xfrm>
            <a:off x="548640" y="3749040"/>
            <a:ext cx="6949440" cy="36576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2  CDK bootstrap (once per account/region)</a:t>
            </a:r>
            <a:endParaRPr lang="en-US" sz="1700" dirty="0"/>
          </a:p>
        </p:txBody>
      </p:sp>
      <p:sp>
        <p:nvSpPr>
          <p:cNvPr id="10" name="code-bg-237"/>
          <p:cNvSpPr/>
          <p:nvPr/>
        </p:nvSpPr>
        <p:spPr>
          <a:xfrm>
            <a:off x="548640" y="4160520"/>
            <a:ext cx="6949440" cy="1097280"/>
          </a:xfrm>
          <a:prstGeom prst="roundRect">
            <a:avLst>
              <a:gd name="adj" fmla="val 6667"/>
            </a:avLst>
          </a:prstGeom>
          <a:solidFill>
            <a:schemeClr val="tx1"/>
          </a:solidFill>
          <a:ln/>
        </p:spPr>
      </p:sp>
      <p:sp>
        <p:nvSpPr>
          <p:cNvPr id="11" name="code-238"/>
          <p:cNvSpPr txBox="1"/>
          <p:nvPr/>
        </p:nvSpPr>
        <p:spPr>
          <a:xfrm>
            <a:off x="777240" y="4297680"/>
            <a:ext cx="6492240" cy="822960"/>
          </a:xfrm>
          <a:prstGeom prst="rect">
            <a:avLst/>
          </a:prstGeom>
          <a:noFill/>
          <a:ln/>
        </p:spPr>
        <p:txBody>
          <a:bodyPr wrap="square" lIns="0" tIns="0" rIns="0" bIns="0" rtlCol="0" anchor="t"/>
          <a:lstStyle/>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npx cdk bootstrap aws://&lt;ACCOUNT_ID&gt;/us-east-1</a:t>
            </a:r>
            <a:endParaRPr lang="en-US" sz="1300" dirty="0"/>
          </a:p>
        </p:txBody>
      </p:sp>
      <p:sp>
        <p:nvSpPr>
          <p:cNvPr id="12" name="card-239"/>
          <p:cNvSpPr/>
          <p:nvPr/>
        </p:nvSpPr>
        <p:spPr>
          <a:xfrm>
            <a:off x="7772400" y="1508760"/>
            <a:ext cx="3867912" cy="2331720"/>
          </a:xfrm>
          <a:prstGeom prst="roundRect">
            <a:avLst>
              <a:gd name="adj" fmla="val 3922"/>
            </a:avLst>
          </a:prstGeom>
          <a:solidFill>
            <a:schemeClr val="bg2"/>
          </a:solidFill>
          <a:ln/>
        </p:spPr>
      </p:sp>
      <p:sp>
        <p:nvSpPr>
          <p:cNvPr id="13" name="icon-circle-240"/>
          <p:cNvSpPr/>
          <p:nvPr/>
        </p:nvSpPr>
        <p:spPr>
          <a:xfrm>
            <a:off x="8046720" y="1783080"/>
            <a:ext cx="548640" cy="548640"/>
          </a:xfrm>
          <a:prstGeom prst="ellipse">
            <a:avLst/>
          </a:prstGeom>
          <a:solidFill>
            <a:schemeClr val="accent1"/>
          </a:solidFill>
          <a:ln/>
        </p:spPr>
      </p:sp>
      <p:sp>
        <p:nvSpPr>
          <p:cNvPr id="14" name="icon-settings-241"/>
          <p:cNvSpPr/>
          <p:nvPr/>
        </p:nvSpPr>
        <p:spPr>
          <a:xfrm>
            <a:off x="8178394" y="1914754"/>
            <a:ext cx="285293" cy="285293"/>
          </a:xfrm>
          <a:custGeom>
            <a:avLst/>
            <a:gdLst/>
            <a:ahLst/>
            <a:cxnLst/>
            <a:rect l="l" t="t" r="r" b="b"/>
            <a:pathLst>
              <a:path w="285293" h="285293">
                <a:moveTo>
                  <a:pt x="145298" y="23774"/>
                </a:moveTo>
                <a:lnTo>
                  <a:pt x="139995" y="23774"/>
                </a:lnTo>
                <a:cubicBezTo>
                  <a:pt x="126919" y="23774"/>
                  <a:pt x="116220" y="34381"/>
                  <a:pt x="116220" y="47549"/>
                </a:cubicBezTo>
                <a:lnTo>
                  <a:pt x="116220" y="49652"/>
                </a:lnTo>
                <a:cubicBezTo>
                  <a:pt x="116220" y="58156"/>
                  <a:pt x="111740" y="66020"/>
                  <a:pt x="104333" y="70226"/>
                </a:cubicBezTo>
                <a:lnTo>
                  <a:pt x="99304" y="73243"/>
                </a:lnTo>
                <a:cubicBezTo>
                  <a:pt x="91897" y="77450"/>
                  <a:pt x="82845" y="77450"/>
                  <a:pt x="75529" y="73243"/>
                </a:cubicBezTo>
                <a:lnTo>
                  <a:pt x="73701" y="72238"/>
                </a:lnTo>
                <a:cubicBezTo>
                  <a:pt x="62362" y="65745"/>
                  <a:pt x="47823" y="69586"/>
                  <a:pt x="41239" y="80924"/>
                </a:cubicBezTo>
                <a:lnTo>
                  <a:pt x="38679" y="85496"/>
                </a:lnTo>
                <a:cubicBezTo>
                  <a:pt x="32095" y="96835"/>
                  <a:pt x="35936" y="111374"/>
                  <a:pt x="47274" y="117958"/>
                </a:cubicBezTo>
                <a:lnTo>
                  <a:pt x="49103" y="119146"/>
                </a:lnTo>
                <a:cubicBezTo>
                  <a:pt x="56418" y="123353"/>
                  <a:pt x="60899" y="131125"/>
                  <a:pt x="60990" y="139537"/>
                </a:cubicBezTo>
                <a:lnTo>
                  <a:pt x="60990" y="145664"/>
                </a:lnTo>
                <a:cubicBezTo>
                  <a:pt x="60990" y="154168"/>
                  <a:pt x="56510" y="162032"/>
                  <a:pt x="49103" y="166329"/>
                </a:cubicBezTo>
                <a:lnTo>
                  <a:pt x="47274" y="167335"/>
                </a:lnTo>
                <a:cubicBezTo>
                  <a:pt x="35936" y="173919"/>
                  <a:pt x="32095" y="188458"/>
                  <a:pt x="38679" y="199796"/>
                </a:cubicBezTo>
                <a:lnTo>
                  <a:pt x="41239" y="204368"/>
                </a:lnTo>
                <a:cubicBezTo>
                  <a:pt x="47823" y="215707"/>
                  <a:pt x="62362" y="219547"/>
                  <a:pt x="73701" y="213055"/>
                </a:cubicBezTo>
                <a:lnTo>
                  <a:pt x="75529" y="212049"/>
                </a:lnTo>
                <a:cubicBezTo>
                  <a:pt x="82845" y="207843"/>
                  <a:pt x="91897" y="207843"/>
                  <a:pt x="99304" y="212049"/>
                </a:cubicBezTo>
                <a:lnTo>
                  <a:pt x="104333" y="215067"/>
                </a:lnTo>
                <a:cubicBezTo>
                  <a:pt x="111740" y="219273"/>
                  <a:pt x="116220" y="227137"/>
                  <a:pt x="116220" y="235641"/>
                </a:cubicBezTo>
                <a:lnTo>
                  <a:pt x="116220" y="237744"/>
                </a:lnTo>
                <a:cubicBezTo>
                  <a:pt x="116220" y="250911"/>
                  <a:pt x="126919" y="261518"/>
                  <a:pt x="139995" y="261518"/>
                </a:cubicBezTo>
                <a:lnTo>
                  <a:pt x="145298" y="261518"/>
                </a:lnTo>
                <a:cubicBezTo>
                  <a:pt x="158374" y="261518"/>
                  <a:pt x="169073" y="250911"/>
                  <a:pt x="169073" y="237744"/>
                </a:cubicBezTo>
                <a:lnTo>
                  <a:pt x="169073" y="235641"/>
                </a:lnTo>
                <a:cubicBezTo>
                  <a:pt x="169073" y="227137"/>
                  <a:pt x="173553" y="219273"/>
                  <a:pt x="180960" y="215067"/>
                </a:cubicBezTo>
                <a:lnTo>
                  <a:pt x="185989" y="212049"/>
                </a:lnTo>
                <a:cubicBezTo>
                  <a:pt x="193396" y="207843"/>
                  <a:pt x="202448" y="207843"/>
                  <a:pt x="209763" y="212049"/>
                </a:cubicBezTo>
                <a:lnTo>
                  <a:pt x="211592" y="213055"/>
                </a:lnTo>
                <a:cubicBezTo>
                  <a:pt x="222931" y="219547"/>
                  <a:pt x="237470" y="215707"/>
                  <a:pt x="244053" y="204368"/>
                </a:cubicBezTo>
                <a:lnTo>
                  <a:pt x="246614" y="199705"/>
                </a:lnTo>
                <a:cubicBezTo>
                  <a:pt x="253197" y="188366"/>
                  <a:pt x="249357" y="173827"/>
                  <a:pt x="238018" y="167244"/>
                </a:cubicBezTo>
                <a:lnTo>
                  <a:pt x="236190" y="166329"/>
                </a:lnTo>
                <a:cubicBezTo>
                  <a:pt x="228783" y="162032"/>
                  <a:pt x="224302" y="154168"/>
                  <a:pt x="224302" y="145572"/>
                </a:cubicBezTo>
                <a:lnTo>
                  <a:pt x="224302" y="139629"/>
                </a:lnTo>
                <a:cubicBezTo>
                  <a:pt x="224302" y="131125"/>
                  <a:pt x="228783" y="123261"/>
                  <a:pt x="236190" y="118963"/>
                </a:cubicBezTo>
                <a:lnTo>
                  <a:pt x="238018" y="117958"/>
                </a:lnTo>
                <a:cubicBezTo>
                  <a:pt x="249357" y="111374"/>
                  <a:pt x="253197" y="96835"/>
                  <a:pt x="246614" y="85496"/>
                </a:cubicBezTo>
                <a:lnTo>
                  <a:pt x="244053" y="80924"/>
                </a:lnTo>
                <a:cubicBezTo>
                  <a:pt x="237470" y="69586"/>
                  <a:pt x="222931" y="65745"/>
                  <a:pt x="211592" y="72238"/>
                </a:cubicBezTo>
                <a:lnTo>
                  <a:pt x="209763" y="73243"/>
                </a:lnTo>
                <a:cubicBezTo>
                  <a:pt x="202448" y="77450"/>
                  <a:pt x="193396" y="77450"/>
                  <a:pt x="185989" y="73243"/>
                </a:cubicBezTo>
                <a:lnTo>
                  <a:pt x="180960" y="70226"/>
                </a:lnTo>
                <a:cubicBezTo>
                  <a:pt x="173553" y="66020"/>
                  <a:pt x="169073" y="58156"/>
                  <a:pt x="169073" y="49652"/>
                </a:cubicBezTo>
                <a:lnTo>
                  <a:pt x="169073" y="47549"/>
                </a:lnTo>
                <a:cubicBezTo>
                  <a:pt x="169073" y="34381"/>
                  <a:pt x="158374" y="23774"/>
                  <a:pt x="145298" y="23774"/>
                </a:cubicBezTo>
                <a:close/>
                <a:moveTo>
                  <a:pt x="106985" y="142646"/>
                </a:moveTo>
                <a:cubicBezTo>
                  <a:pt x="106985" y="162306"/>
                  <a:pt x="122987" y="178308"/>
                  <a:pt x="142646" y="178308"/>
                </a:cubicBezTo>
                <a:cubicBezTo>
                  <a:pt x="162306" y="178308"/>
                  <a:pt x="178308" y="162306"/>
                  <a:pt x="178308" y="142646"/>
                </a:cubicBezTo>
                <a:cubicBezTo>
                  <a:pt x="178308" y="122987"/>
                  <a:pt x="162306" y="106985"/>
                  <a:pt x="142646" y="106985"/>
                </a:cubicBezTo>
                <a:cubicBezTo>
                  <a:pt x="122987" y="106985"/>
                  <a:pt x="106985" y="122987"/>
                  <a:pt x="106985" y="142646"/>
                </a:cubicBezTo>
                <a:close/>
              </a:path>
            </a:pathLst>
          </a:custGeom>
          <a:noFill/>
          <a:ln w="23749" cap="rnd">
            <a:solidFill>
              <a:schemeClr val="bg1"/>
            </a:solidFill>
            <a:prstDash val="solid"/>
            <a:round/>
          </a:ln>
        </p:spPr>
      </p:sp>
      <p:sp>
        <p:nvSpPr>
          <p:cNvPr id="15" name="card-title-242"/>
          <p:cNvSpPr txBox="1"/>
          <p:nvPr/>
        </p:nvSpPr>
        <p:spPr>
          <a:xfrm>
            <a:off x="8778240" y="1783080"/>
            <a:ext cx="2633472"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Set it before deploy</a:t>
            </a:r>
            <a:endParaRPr lang="en-US" sz="1700" dirty="0"/>
          </a:p>
        </p:txBody>
      </p:sp>
      <p:sp>
        <p:nvSpPr>
          <p:cNvPr id="16" name="card-body-243"/>
          <p:cNvSpPr txBox="1"/>
          <p:nvPr/>
        </p:nvSpPr>
        <p:spPr>
          <a:xfrm>
            <a:off x="8046720" y="2468880"/>
            <a:ext cx="3364992" cy="118872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Without initialAdminEmail the first admin is a placeholder (nobody@amazon.com) and its temp password goes nowhere.</a:t>
            </a:r>
            <a:endParaRPr lang="en-US" sz="1400" dirty="0"/>
          </a:p>
        </p:txBody>
      </p:sp>
      <p:sp>
        <p:nvSpPr>
          <p:cNvPr id="17" name="card-244"/>
          <p:cNvSpPr/>
          <p:nvPr/>
        </p:nvSpPr>
        <p:spPr>
          <a:xfrm>
            <a:off x="7772400" y="4023360"/>
            <a:ext cx="3867912" cy="2148840"/>
          </a:xfrm>
          <a:prstGeom prst="roundRect">
            <a:avLst>
              <a:gd name="adj" fmla="val 4255"/>
            </a:avLst>
          </a:prstGeom>
          <a:solidFill>
            <a:schemeClr val="bg2"/>
          </a:solidFill>
          <a:ln/>
        </p:spPr>
      </p:sp>
      <p:sp>
        <p:nvSpPr>
          <p:cNvPr id="18" name="icon-circle-245"/>
          <p:cNvSpPr/>
          <p:nvPr/>
        </p:nvSpPr>
        <p:spPr>
          <a:xfrm>
            <a:off x="8046720" y="4297680"/>
            <a:ext cx="548640" cy="548640"/>
          </a:xfrm>
          <a:prstGeom prst="ellipse">
            <a:avLst/>
          </a:prstGeom>
          <a:solidFill>
            <a:schemeClr val="accent2"/>
          </a:solidFill>
          <a:ln/>
        </p:spPr>
      </p:sp>
      <p:sp>
        <p:nvSpPr>
          <p:cNvPr id="19" name="icon-tag-246"/>
          <p:cNvSpPr/>
          <p:nvPr/>
        </p:nvSpPr>
        <p:spPr>
          <a:xfrm>
            <a:off x="8178394" y="4429354"/>
            <a:ext cx="285293" cy="285293"/>
          </a:xfrm>
          <a:custGeom>
            <a:avLst/>
            <a:gdLst/>
            <a:ahLst/>
            <a:cxnLst/>
            <a:rect l="l" t="t" r="r" b="b"/>
            <a:pathLst>
              <a:path w="285293" h="285293">
                <a:moveTo>
                  <a:pt x="149596" y="30724"/>
                </a:moveTo>
                <a:cubicBezTo>
                  <a:pt x="145115" y="26243"/>
                  <a:pt x="139080" y="23774"/>
                  <a:pt x="132771" y="23774"/>
                </a:cubicBezTo>
                <a:lnTo>
                  <a:pt x="47549" y="23774"/>
                </a:lnTo>
                <a:cubicBezTo>
                  <a:pt x="34381" y="23774"/>
                  <a:pt x="23774" y="34381"/>
                  <a:pt x="23774" y="47549"/>
                </a:cubicBezTo>
                <a:lnTo>
                  <a:pt x="23774" y="132771"/>
                </a:lnTo>
                <a:cubicBezTo>
                  <a:pt x="23774" y="139080"/>
                  <a:pt x="26243" y="145115"/>
                  <a:pt x="30724" y="149596"/>
                </a:cubicBezTo>
                <a:lnTo>
                  <a:pt x="134234" y="253106"/>
                </a:lnTo>
                <a:cubicBezTo>
                  <a:pt x="145481" y="264262"/>
                  <a:pt x="163586" y="264262"/>
                  <a:pt x="174833" y="253106"/>
                </a:cubicBezTo>
                <a:lnTo>
                  <a:pt x="253106" y="174833"/>
                </a:lnTo>
                <a:cubicBezTo>
                  <a:pt x="264262" y="163586"/>
                  <a:pt x="264262" y="145481"/>
                  <a:pt x="253106" y="134234"/>
                </a:cubicBezTo>
                <a:close/>
                <a:moveTo>
                  <a:pt x="83210" y="89154"/>
                </a:moveTo>
                <a:cubicBezTo>
                  <a:pt x="83210" y="92446"/>
                  <a:pt x="85862" y="95098"/>
                  <a:pt x="89154" y="95098"/>
                </a:cubicBezTo>
                <a:cubicBezTo>
                  <a:pt x="92446" y="95098"/>
                  <a:pt x="95098" y="92446"/>
                  <a:pt x="95098" y="89154"/>
                </a:cubicBezTo>
                <a:cubicBezTo>
                  <a:pt x="95098" y="85862"/>
                  <a:pt x="92446" y="83210"/>
                  <a:pt x="89154" y="83210"/>
                </a:cubicBezTo>
                <a:cubicBezTo>
                  <a:pt x="85862" y="83210"/>
                  <a:pt x="83210" y="85862"/>
                  <a:pt x="83210" y="89154"/>
                </a:cubicBezTo>
                <a:close/>
              </a:path>
            </a:pathLst>
          </a:custGeom>
          <a:noFill/>
          <a:ln w="23749" cap="rnd">
            <a:solidFill>
              <a:schemeClr val="bg1"/>
            </a:solidFill>
            <a:prstDash val="solid"/>
            <a:round/>
          </a:ln>
        </p:spPr>
      </p:sp>
      <p:sp>
        <p:nvSpPr>
          <p:cNvPr id="20" name="card-title-247"/>
          <p:cNvSpPr txBox="1"/>
          <p:nvPr/>
        </p:nvSpPr>
        <p:spPr>
          <a:xfrm>
            <a:off x="8778240" y="4297680"/>
            <a:ext cx="2633472"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Prefix = coa</a:t>
            </a:r>
            <a:endParaRPr lang="en-US" sz="1700" dirty="0"/>
          </a:p>
        </p:txBody>
      </p:sp>
      <p:sp>
        <p:nvSpPr>
          <p:cNvPr id="21" name="card-body-248"/>
          <p:cNvSpPr txBox="1"/>
          <p:nvPr/>
        </p:nvSpPr>
        <p:spPr>
          <a:xfrm>
            <a:off x="8046720" y="4983480"/>
            <a:ext cx="3364992" cy="100584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Path is /&lt;prefix&gt;/config. Use the same SCL_PREFIX for deploy and destroy.</a:t>
            </a:r>
            <a:endParaRPr lang="en-US" sz="1400" dirty="0"/>
          </a:p>
        </p:txBody>
      </p:sp>
      <p:sp>
        <p:nvSpPr>
          <p:cNvPr id="22" name="callout-249"/>
          <p:cNvSpPr/>
          <p:nvPr/>
        </p:nvSpPr>
        <p:spPr>
          <a:xfrm>
            <a:off x="548640" y="5486400"/>
            <a:ext cx="6949440" cy="685800"/>
          </a:xfrm>
          <a:prstGeom prst="roundRect">
            <a:avLst>
              <a:gd name="adj" fmla="val 10667"/>
            </a:avLst>
          </a:prstGeom>
          <a:solidFill>
            <a:schemeClr val="bg2"/>
          </a:solidFill>
          <a:ln/>
        </p:spPr>
      </p:sp>
      <p:sp>
        <p:nvSpPr>
          <p:cNvPr id="23" name="callout-text-250"/>
          <p:cNvSpPr txBox="1"/>
          <p:nvPr/>
        </p:nvSpPr>
        <p:spPr>
          <a:xfrm>
            <a:off x="777240" y="5486400"/>
            <a:ext cx="6492240" cy="685800"/>
          </a:xfrm>
          <a:prstGeom prst="rect">
            <a:avLst/>
          </a:prstGeom>
          <a:noFill/>
          <a:ln/>
        </p:spPr>
        <p:txBody>
          <a:bodyPr wrap="square" lIns="0" tIns="0" rIns="0" bIns="0" rtlCol="0" anchor="ctr"/>
          <a:lstStyle/>
          <a:p>
            <a:pPr indent="0" marL="0">
              <a:buNone/>
            </a:pPr>
            <a:r>
              <a:rPr lang="en-US" sz="1400" b="1" dirty="0">
                <a:solidFill>
                  <a:schemeClr val="tx1"/>
                </a:solidFill>
              </a:rPr>
              <a:t>Cognito mode:  </a:t>
            </a:r>
            <a:pPr indent="0" marL="0">
              <a:buNone/>
            </a:pPr>
            <a:r>
              <a:rPr lang="en-US" sz="1400" dirty="0">
                <a:solidFill>
                  <a:schemeClr val="tx1"/>
                </a:solidFill>
              </a:rPr>
              <a:t>no idpType needed. The same JSON also holds model-ID overrides.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141732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PHASE 3 · DEPLOY</a:t>
            </a:r>
            <a:endParaRPr lang="en-US" sz="1200" dirty="0"/>
          </a:p>
        </p:txBody>
      </p:sp>
      <p:sp>
        <p:nvSpPr>
          <p:cNvPr id="3" name="Text 0"/>
          <p:cNvSpPr/>
          <p:nvPr>
            <p:ph idx="101" type="title" hasCustomPrompt="1"/>
          </p:nvPr>
        </p:nvSpPr>
        <p:spPr>
          <a:xfrm>
            <a:off x="1417320" y="640080"/>
            <a:ext cx="10222992" cy="685800"/>
          </a:xfrm>
          <a:prstGeom prst="rect">
            <a:avLst/>
          </a:prstGeom>
          <a:noFill/>
          <a:ln/>
        </p:spPr>
        <p:txBody>
          <a:bodyPr wrap="square" lIns="0" tIns="0" rIns="0" bIns="0" rtlCol="0" anchor="ctr"/>
          <a:lstStyle/>
          <a:p>
            <a:pPr algn="l" indent="0" marL="0">
              <a:buNone/>
            </a:pPr>
            <a:r>
              <a:rPr lang="en-US" sz="3400" b="1" dirty="0">
                <a:solidFill>
                  <a:schemeClr val="tx1"/>
                </a:solidFill>
              </a:rPr>
              <a:t>Run make deploy-dev</a:t>
            </a:r>
            <a:endParaRPr lang="en-US" sz="3400" dirty="0"/>
          </a:p>
        </p:txBody>
      </p:sp>
      <p:sp>
        <p:nvSpPr>
          <p:cNvPr id="4" name="step-badge-251"/>
          <p:cNvSpPr/>
          <p:nvPr/>
        </p:nvSpPr>
        <p:spPr>
          <a:xfrm>
            <a:off x="548640" y="566928"/>
            <a:ext cx="713232" cy="713232"/>
          </a:xfrm>
          <a:prstGeom prst="ellipse">
            <a:avLst/>
          </a:prstGeom>
          <a:solidFill>
            <a:schemeClr val="accent1"/>
          </a:solidFill>
          <a:ln/>
        </p:spPr>
      </p:sp>
      <p:sp>
        <p:nvSpPr>
          <p:cNvPr id="5" name="step-number-252"/>
          <p:cNvSpPr txBox="1"/>
          <p:nvPr/>
        </p:nvSpPr>
        <p:spPr>
          <a:xfrm>
            <a:off x="548640" y="566928"/>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latin typeface="Arial" pitchFamily="34" charset="0"/>
                <a:ea typeface="Arial" pitchFamily="34" charset="-122"/>
                <a:cs typeface="Arial" pitchFamily="34" charset="-120"/>
              </a:rPr>
              <a:t>9</a:t>
            </a:r>
            <a:endParaRPr lang="en-US" sz="2600" dirty="0"/>
          </a:p>
        </p:txBody>
      </p:sp>
      <p:sp>
        <p:nvSpPr>
          <p:cNvPr id="6" name="card-253"/>
          <p:cNvSpPr/>
          <p:nvPr/>
        </p:nvSpPr>
        <p:spPr>
          <a:xfrm>
            <a:off x="548640" y="1554480"/>
            <a:ext cx="2514600" cy="2240280"/>
          </a:xfrm>
          <a:prstGeom prst="roundRect">
            <a:avLst>
              <a:gd name="adj" fmla="val 4082"/>
            </a:avLst>
          </a:prstGeom>
          <a:solidFill>
            <a:schemeClr val="bg2"/>
          </a:solidFill>
          <a:ln/>
        </p:spPr>
      </p:sp>
      <p:sp>
        <p:nvSpPr>
          <p:cNvPr id="7" name="icon-circle-254"/>
          <p:cNvSpPr/>
          <p:nvPr/>
        </p:nvSpPr>
        <p:spPr>
          <a:xfrm>
            <a:off x="822960" y="1828800"/>
            <a:ext cx="548640" cy="548640"/>
          </a:xfrm>
          <a:prstGeom prst="ellipse">
            <a:avLst/>
          </a:prstGeom>
          <a:solidFill>
            <a:schemeClr val="accent2"/>
          </a:solidFill>
          <a:ln/>
        </p:spPr>
      </p:sp>
      <p:sp>
        <p:nvSpPr>
          <p:cNvPr id="8" name="icon-shieldcheck-255"/>
          <p:cNvSpPr/>
          <p:nvPr/>
        </p:nvSpPr>
        <p:spPr>
          <a:xfrm>
            <a:off x="954634" y="1960474"/>
            <a:ext cx="285293" cy="285293"/>
          </a:xfrm>
          <a:custGeom>
            <a:avLst/>
            <a:gdLst/>
            <a:ahLst/>
            <a:cxnLst/>
            <a:rect l="l" t="t" r="r" b="b"/>
            <a:pathLst>
              <a:path w="285293" h="285293">
                <a:moveTo>
                  <a:pt x="237744" y="154534"/>
                </a:moveTo>
                <a:cubicBezTo>
                  <a:pt x="237744" y="213970"/>
                  <a:pt x="196139" y="243688"/>
                  <a:pt x="146670" y="260878"/>
                </a:cubicBezTo>
                <a:cubicBezTo>
                  <a:pt x="144109" y="261793"/>
                  <a:pt x="141275" y="261793"/>
                  <a:pt x="138714" y="260787"/>
                </a:cubicBezTo>
                <a:cubicBezTo>
                  <a:pt x="89154" y="243688"/>
                  <a:pt x="47549" y="213970"/>
                  <a:pt x="47549" y="154534"/>
                </a:cubicBezTo>
                <a:lnTo>
                  <a:pt x="47549" y="71323"/>
                </a:lnTo>
                <a:cubicBezTo>
                  <a:pt x="47549" y="64740"/>
                  <a:pt x="52852" y="59436"/>
                  <a:pt x="59436" y="59436"/>
                </a:cubicBezTo>
                <a:cubicBezTo>
                  <a:pt x="83210" y="59436"/>
                  <a:pt x="112928" y="45171"/>
                  <a:pt x="133594" y="27066"/>
                </a:cubicBezTo>
                <a:cubicBezTo>
                  <a:pt x="138806" y="22677"/>
                  <a:pt x="146487" y="22677"/>
                  <a:pt x="151699" y="27066"/>
                </a:cubicBezTo>
                <a:cubicBezTo>
                  <a:pt x="172456" y="45263"/>
                  <a:pt x="202082" y="59436"/>
                  <a:pt x="225857" y="59436"/>
                </a:cubicBezTo>
                <a:cubicBezTo>
                  <a:pt x="232440" y="59436"/>
                  <a:pt x="237744" y="64740"/>
                  <a:pt x="237744" y="71323"/>
                </a:cubicBezTo>
                <a:close/>
                <a:moveTo>
                  <a:pt x="106985" y="142646"/>
                </a:moveTo>
                <a:lnTo>
                  <a:pt x="130759" y="166421"/>
                </a:lnTo>
                <a:lnTo>
                  <a:pt x="178308" y="118872"/>
                </a:lnTo>
              </a:path>
            </a:pathLst>
          </a:custGeom>
          <a:noFill/>
          <a:ln w="23749" cap="rnd">
            <a:solidFill>
              <a:schemeClr val="bg1"/>
            </a:solidFill>
            <a:prstDash val="solid"/>
            <a:round/>
          </a:ln>
        </p:spPr>
      </p:sp>
      <p:sp>
        <p:nvSpPr>
          <p:cNvPr id="9" name="card-title-256"/>
          <p:cNvSpPr txBox="1"/>
          <p:nvPr/>
        </p:nvSpPr>
        <p:spPr>
          <a:xfrm>
            <a:off x="1554480" y="1828800"/>
            <a:ext cx="128016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Preflight</a:t>
            </a:r>
            <a:endParaRPr lang="en-US" sz="1700" dirty="0"/>
          </a:p>
        </p:txBody>
      </p:sp>
      <p:sp>
        <p:nvSpPr>
          <p:cNvPr id="10" name="card-body-257"/>
          <p:cNvSpPr txBox="1"/>
          <p:nvPr/>
        </p:nvSpPr>
        <p:spPr>
          <a:xfrm>
            <a:off x="822960" y="2514600"/>
            <a:ext cx="2011680" cy="109728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Tool versions, Docker, codegen, ECR Public login, quotas, models</a:t>
            </a:r>
            <a:endParaRPr lang="en-US" sz="1400" dirty="0"/>
          </a:p>
        </p:txBody>
      </p:sp>
      <p:sp>
        <p:nvSpPr>
          <p:cNvPr id="11" name="flow-arrow-258"/>
          <p:cNvSpPr/>
          <p:nvPr/>
        </p:nvSpPr>
        <p:spPr>
          <a:xfrm>
            <a:off x="3154680" y="2514600"/>
            <a:ext cx="182880" cy="320040"/>
          </a:xfrm>
          <a:prstGeom prst="chevron">
            <a:avLst/>
          </a:prstGeom>
          <a:solidFill>
            <a:schemeClr val="accent3"/>
          </a:solidFill>
          <a:ln/>
        </p:spPr>
      </p:sp>
      <p:sp>
        <p:nvSpPr>
          <p:cNvPr id="12" name="card-259"/>
          <p:cNvSpPr/>
          <p:nvPr/>
        </p:nvSpPr>
        <p:spPr>
          <a:xfrm>
            <a:off x="3410712" y="1554480"/>
            <a:ext cx="2514600" cy="2240280"/>
          </a:xfrm>
          <a:prstGeom prst="roundRect">
            <a:avLst>
              <a:gd name="adj" fmla="val 4082"/>
            </a:avLst>
          </a:prstGeom>
          <a:solidFill>
            <a:schemeClr val="bg2"/>
          </a:solidFill>
          <a:ln/>
        </p:spPr>
      </p:sp>
      <p:sp>
        <p:nvSpPr>
          <p:cNvPr id="13" name="icon-circle-260"/>
          <p:cNvSpPr/>
          <p:nvPr/>
        </p:nvSpPr>
        <p:spPr>
          <a:xfrm>
            <a:off x="3685032" y="1828800"/>
            <a:ext cx="548640" cy="548640"/>
          </a:xfrm>
          <a:prstGeom prst="ellipse">
            <a:avLst/>
          </a:prstGeom>
          <a:solidFill>
            <a:schemeClr val="accent2"/>
          </a:solidFill>
          <a:ln/>
        </p:spPr>
      </p:sp>
      <p:sp>
        <p:nvSpPr>
          <p:cNvPr id="14" name="icon-boxes-261"/>
          <p:cNvSpPr/>
          <p:nvPr/>
        </p:nvSpPr>
        <p:spPr>
          <a:xfrm>
            <a:off x="3816706" y="1960474"/>
            <a:ext cx="285293" cy="285293"/>
          </a:xfrm>
          <a:custGeom>
            <a:avLst/>
            <a:gdLst/>
            <a:ahLst/>
            <a:cxnLst/>
            <a:rect l="l" t="t" r="r" b="b"/>
            <a:pathLst>
              <a:path w="285293" h="285293">
                <a:moveTo>
                  <a:pt x="35296" y="153619"/>
                </a:moveTo>
                <a:cubicBezTo>
                  <a:pt x="28164" y="157917"/>
                  <a:pt x="23774" y="165598"/>
                  <a:pt x="23774" y="173919"/>
                </a:cubicBezTo>
                <a:lnTo>
                  <a:pt x="23774" y="212415"/>
                </a:lnTo>
                <a:cubicBezTo>
                  <a:pt x="23774" y="220736"/>
                  <a:pt x="28164" y="228417"/>
                  <a:pt x="35296" y="232715"/>
                </a:cubicBezTo>
                <a:lnTo>
                  <a:pt x="70957" y="254112"/>
                </a:lnTo>
                <a:cubicBezTo>
                  <a:pt x="78547" y="258684"/>
                  <a:pt x="87874" y="258684"/>
                  <a:pt x="95463" y="254112"/>
                </a:cubicBezTo>
                <a:lnTo>
                  <a:pt x="142646" y="225857"/>
                </a:lnTo>
                <a:lnTo>
                  <a:pt x="142646" y="160477"/>
                </a:lnTo>
                <a:lnTo>
                  <a:pt x="83210" y="124816"/>
                </a:lnTo>
                <a:lnTo>
                  <a:pt x="35296" y="153619"/>
                </a:lnTo>
                <a:close/>
                <a:moveTo>
                  <a:pt x="83210" y="196139"/>
                </a:moveTo>
                <a:lnTo>
                  <a:pt x="26883" y="162215"/>
                </a:lnTo>
                <a:moveTo>
                  <a:pt x="83210" y="196139"/>
                </a:moveTo>
                <a:lnTo>
                  <a:pt x="142646" y="160477"/>
                </a:lnTo>
                <a:moveTo>
                  <a:pt x="83210" y="196139"/>
                </a:moveTo>
                <a:lnTo>
                  <a:pt x="83210" y="257586"/>
                </a:lnTo>
                <a:moveTo>
                  <a:pt x="142646" y="160477"/>
                </a:moveTo>
                <a:lnTo>
                  <a:pt x="142646" y="225857"/>
                </a:lnTo>
                <a:lnTo>
                  <a:pt x="189829" y="254112"/>
                </a:lnTo>
                <a:cubicBezTo>
                  <a:pt x="197419" y="258684"/>
                  <a:pt x="206746" y="258684"/>
                  <a:pt x="214335" y="254112"/>
                </a:cubicBezTo>
                <a:lnTo>
                  <a:pt x="249997" y="232715"/>
                </a:lnTo>
                <a:cubicBezTo>
                  <a:pt x="257129" y="228417"/>
                  <a:pt x="261518" y="220736"/>
                  <a:pt x="261518" y="212415"/>
                </a:cubicBezTo>
                <a:lnTo>
                  <a:pt x="261518" y="173919"/>
                </a:lnTo>
                <a:cubicBezTo>
                  <a:pt x="261518" y="165598"/>
                  <a:pt x="257129" y="157917"/>
                  <a:pt x="249997" y="153619"/>
                </a:cubicBezTo>
                <a:lnTo>
                  <a:pt x="202082" y="124816"/>
                </a:lnTo>
                <a:lnTo>
                  <a:pt x="142646" y="160477"/>
                </a:lnTo>
                <a:close/>
                <a:moveTo>
                  <a:pt x="202082" y="196139"/>
                </a:moveTo>
                <a:lnTo>
                  <a:pt x="142646" y="160477"/>
                </a:lnTo>
                <a:moveTo>
                  <a:pt x="202082" y="196139"/>
                </a:moveTo>
                <a:lnTo>
                  <a:pt x="258409" y="162215"/>
                </a:lnTo>
                <a:moveTo>
                  <a:pt x="202082" y="196139"/>
                </a:moveTo>
                <a:lnTo>
                  <a:pt x="202082" y="257586"/>
                </a:lnTo>
                <a:moveTo>
                  <a:pt x="94732" y="52578"/>
                </a:moveTo>
                <a:cubicBezTo>
                  <a:pt x="87600" y="56876"/>
                  <a:pt x="83210" y="64557"/>
                  <a:pt x="83210" y="72878"/>
                </a:cubicBezTo>
                <a:lnTo>
                  <a:pt x="83210" y="124816"/>
                </a:lnTo>
                <a:lnTo>
                  <a:pt x="142646" y="160477"/>
                </a:lnTo>
                <a:lnTo>
                  <a:pt x="202082" y="124816"/>
                </a:lnTo>
                <a:lnTo>
                  <a:pt x="202082" y="72878"/>
                </a:lnTo>
                <a:cubicBezTo>
                  <a:pt x="202082" y="64557"/>
                  <a:pt x="197693" y="56876"/>
                  <a:pt x="190561" y="52578"/>
                </a:cubicBezTo>
                <a:lnTo>
                  <a:pt x="154899" y="31181"/>
                </a:lnTo>
                <a:cubicBezTo>
                  <a:pt x="147310" y="26609"/>
                  <a:pt x="137983" y="26609"/>
                  <a:pt x="130393" y="31181"/>
                </a:cubicBezTo>
                <a:lnTo>
                  <a:pt x="94732" y="52578"/>
                </a:lnTo>
                <a:close/>
                <a:moveTo>
                  <a:pt x="142646" y="95098"/>
                </a:moveTo>
                <a:lnTo>
                  <a:pt x="86319" y="61173"/>
                </a:lnTo>
                <a:moveTo>
                  <a:pt x="142646" y="95098"/>
                </a:moveTo>
                <a:lnTo>
                  <a:pt x="198973" y="61173"/>
                </a:lnTo>
                <a:moveTo>
                  <a:pt x="142646" y="160477"/>
                </a:moveTo>
                <a:lnTo>
                  <a:pt x="142646" y="95098"/>
                </a:lnTo>
              </a:path>
            </a:pathLst>
          </a:custGeom>
          <a:noFill/>
          <a:ln w="23749" cap="rnd">
            <a:solidFill>
              <a:schemeClr val="bg1"/>
            </a:solidFill>
            <a:prstDash val="solid"/>
            <a:round/>
          </a:ln>
        </p:spPr>
      </p:sp>
      <p:sp>
        <p:nvSpPr>
          <p:cNvPr id="15" name="card-title-262"/>
          <p:cNvSpPr txBox="1"/>
          <p:nvPr/>
        </p:nvSpPr>
        <p:spPr>
          <a:xfrm>
            <a:off x="4416552" y="1828800"/>
            <a:ext cx="128016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Build</a:t>
            </a:r>
            <a:endParaRPr lang="en-US" sz="1700" dirty="0"/>
          </a:p>
        </p:txBody>
      </p:sp>
      <p:sp>
        <p:nvSpPr>
          <p:cNvPr id="16" name="card-body-263"/>
          <p:cNvSpPr txBox="1"/>
          <p:nvPr/>
        </p:nvSpPr>
        <p:spPr>
          <a:xfrm>
            <a:off x="3685032" y="2514600"/>
            <a:ext cx="2011680" cy="109728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Compile TypeScript, bundle Lambdas, build images</a:t>
            </a:r>
            <a:endParaRPr lang="en-US" sz="1400" dirty="0"/>
          </a:p>
        </p:txBody>
      </p:sp>
      <p:sp>
        <p:nvSpPr>
          <p:cNvPr id="17" name="flow-arrow-264"/>
          <p:cNvSpPr/>
          <p:nvPr/>
        </p:nvSpPr>
        <p:spPr>
          <a:xfrm>
            <a:off x="6016752" y="2514600"/>
            <a:ext cx="182880" cy="320040"/>
          </a:xfrm>
          <a:prstGeom prst="chevron">
            <a:avLst/>
          </a:prstGeom>
          <a:solidFill>
            <a:schemeClr val="accent3"/>
          </a:solidFill>
          <a:ln/>
        </p:spPr>
      </p:sp>
      <p:sp>
        <p:nvSpPr>
          <p:cNvPr id="18" name="card-265"/>
          <p:cNvSpPr/>
          <p:nvPr/>
        </p:nvSpPr>
        <p:spPr>
          <a:xfrm>
            <a:off x="6272784" y="1554480"/>
            <a:ext cx="2514600" cy="2240280"/>
          </a:xfrm>
          <a:prstGeom prst="roundRect">
            <a:avLst>
              <a:gd name="adj" fmla="val 4082"/>
            </a:avLst>
          </a:prstGeom>
          <a:solidFill>
            <a:schemeClr val="bg2"/>
          </a:solidFill>
          <a:ln/>
        </p:spPr>
      </p:sp>
      <p:sp>
        <p:nvSpPr>
          <p:cNvPr id="19" name="icon-circle-266"/>
          <p:cNvSpPr/>
          <p:nvPr/>
        </p:nvSpPr>
        <p:spPr>
          <a:xfrm>
            <a:off x="6547104" y="1828800"/>
            <a:ext cx="548640" cy="548640"/>
          </a:xfrm>
          <a:prstGeom prst="ellipse">
            <a:avLst/>
          </a:prstGeom>
          <a:solidFill>
            <a:schemeClr val="accent2"/>
          </a:solidFill>
          <a:ln/>
        </p:spPr>
      </p:sp>
      <p:sp>
        <p:nvSpPr>
          <p:cNvPr id="20" name="icon-layers-267"/>
          <p:cNvSpPr/>
          <p:nvPr/>
        </p:nvSpPr>
        <p:spPr>
          <a:xfrm>
            <a:off x="6678778" y="1960474"/>
            <a:ext cx="285293" cy="285293"/>
          </a:xfrm>
          <a:custGeom>
            <a:avLst/>
            <a:gdLst/>
            <a:ahLst/>
            <a:cxnLst/>
            <a:rect l="l" t="t" r="r" b="b"/>
            <a:pathLst>
              <a:path w="285293" h="285293">
                <a:moveTo>
                  <a:pt x="152522" y="25878"/>
                </a:moveTo>
                <a:cubicBezTo>
                  <a:pt x="146213" y="23043"/>
                  <a:pt x="139080" y="23043"/>
                  <a:pt x="132771" y="25878"/>
                </a:cubicBezTo>
                <a:lnTo>
                  <a:pt x="30907" y="72238"/>
                </a:lnTo>
                <a:cubicBezTo>
                  <a:pt x="26609" y="74158"/>
                  <a:pt x="23774" y="78456"/>
                  <a:pt x="23774" y="83119"/>
                </a:cubicBezTo>
                <a:cubicBezTo>
                  <a:pt x="23774" y="87874"/>
                  <a:pt x="26609" y="92172"/>
                  <a:pt x="30907" y="94000"/>
                </a:cubicBezTo>
                <a:lnTo>
                  <a:pt x="132862" y="140543"/>
                </a:lnTo>
                <a:cubicBezTo>
                  <a:pt x="139172" y="143378"/>
                  <a:pt x="146395" y="143378"/>
                  <a:pt x="152613" y="140543"/>
                </a:cubicBezTo>
                <a:lnTo>
                  <a:pt x="254660" y="94183"/>
                </a:lnTo>
                <a:cubicBezTo>
                  <a:pt x="258958" y="92263"/>
                  <a:pt x="261701" y="87965"/>
                  <a:pt x="261701" y="83302"/>
                </a:cubicBezTo>
                <a:cubicBezTo>
                  <a:pt x="261701" y="78547"/>
                  <a:pt x="258958" y="74249"/>
                  <a:pt x="254660" y="72420"/>
                </a:cubicBezTo>
                <a:close/>
                <a:moveTo>
                  <a:pt x="261518" y="209763"/>
                </a:moveTo>
                <a:lnTo>
                  <a:pt x="152522" y="259232"/>
                </a:lnTo>
                <a:cubicBezTo>
                  <a:pt x="146213" y="262158"/>
                  <a:pt x="139080" y="262158"/>
                  <a:pt x="132771" y="259232"/>
                </a:cubicBezTo>
                <a:lnTo>
                  <a:pt x="23774" y="209763"/>
                </a:lnTo>
                <a:moveTo>
                  <a:pt x="261518" y="150327"/>
                </a:moveTo>
                <a:lnTo>
                  <a:pt x="152522" y="199796"/>
                </a:lnTo>
                <a:cubicBezTo>
                  <a:pt x="146213" y="202722"/>
                  <a:pt x="139080" y="202722"/>
                  <a:pt x="132771" y="199796"/>
                </a:cubicBezTo>
                <a:lnTo>
                  <a:pt x="23774" y="150327"/>
                </a:lnTo>
              </a:path>
            </a:pathLst>
          </a:custGeom>
          <a:noFill/>
          <a:ln w="23749" cap="rnd">
            <a:solidFill>
              <a:schemeClr val="bg1"/>
            </a:solidFill>
            <a:prstDash val="solid"/>
            <a:round/>
          </a:ln>
        </p:spPr>
      </p:sp>
      <p:sp>
        <p:nvSpPr>
          <p:cNvPr id="21" name="card-title-268"/>
          <p:cNvSpPr txBox="1"/>
          <p:nvPr/>
        </p:nvSpPr>
        <p:spPr>
          <a:xfrm>
            <a:off x="7278624" y="1828800"/>
            <a:ext cx="128016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Synth</a:t>
            </a:r>
            <a:endParaRPr lang="en-US" sz="1700" dirty="0"/>
          </a:p>
        </p:txBody>
      </p:sp>
      <p:sp>
        <p:nvSpPr>
          <p:cNvPr id="22" name="card-body-269"/>
          <p:cNvSpPr txBox="1"/>
          <p:nvPr/>
        </p:nvSpPr>
        <p:spPr>
          <a:xfrm>
            <a:off x="6547104" y="2514600"/>
            <a:ext cx="2011680" cy="109728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Generate CloudFormation from CDK</a:t>
            </a:r>
            <a:endParaRPr lang="en-US" sz="1400" dirty="0"/>
          </a:p>
        </p:txBody>
      </p:sp>
      <p:sp>
        <p:nvSpPr>
          <p:cNvPr id="23" name="flow-arrow-270"/>
          <p:cNvSpPr/>
          <p:nvPr/>
        </p:nvSpPr>
        <p:spPr>
          <a:xfrm>
            <a:off x="8878824" y="2514600"/>
            <a:ext cx="182880" cy="320040"/>
          </a:xfrm>
          <a:prstGeom prst="chevron">
            <a:avLst/>
          </a:prstGeom>
          <a:solidFill>
            <a:schemeClr val="accent3"/>
          </a:solidFill>
          <a:ln/>
        </p:spPr>
      </p:sp>
      <p:sp>
        <p:nvSpPr>
          <p:cNvPr id="24" name="card-271"/>
          <p:cNvSpPr/>
          <p:nvPr/>
        </p:nvSpPr>
        <p:spPr>
          <a:xfrm>
            <a:off x="9134856" y="1554480"/>
            <a:ext cx="2514600" cy="2240280"/>
          </a:xfrm>
          <a:prstGeom prst="roundRect">
            <a:avLst>
              <a:gd name="adj" fmla="val 4082"/>
            </a:avLst>
          </a:prstGeom>
          <a:solidFill>
            <a:schemeClr val="bg2"/>
          </a:solidFill>
          <a:ln/>
        </p:spPr>
      </p:sp>
      <p:sp>
        <p:nvSpPr>
          <p:cNvPr id="25" name="icon-circle-272"/>
          <p:cNvSpPr/>
          <p:nvPr/>
        </p:nvSpPr>
        <p:spPr>
          <a:xfrm>
            <a:off x="9409176" y="1828800"/>
            <a:ext cx="548640" cy="548640"/>
          </a:xfrm>
          <a:prstGeom prst="ellipse">
            <a:avLst/>
          </a:prstGeom>
          <a:solidFill>
            <a:schemeClr val="accent1"/>
          </a:solidFill>
          <a:ln/>
        </p:spPr>
      </p:sp>
      <p:sp>
        <p:nvSpPr>
          <p:cNvPr id="26" name="icon-rocket-273"/>
          <p:cNvSpPr/>
          <p:nvPr/>
        </p:nvSpPr>
        <p:spPr>
          <a:xfrm>
            <a:off x="9540850" y="1960474"/>
            <a:ext cx="285293" cy="285293"/>
          </a:xfrm>
          <a:custGeom>
            <a:avLst/>
            <a:gdLst/>
            <a:ahLst/>
            <a:cxnLst/>
            <a:rect l="l" t="t" r="r" b="b"/>
            <a:pathLst>
              <a:path w="285293" h="285293">
                <a:moveTo>
                  <a:pt x="53492" y="196139"/>
                </a:moveTo>
                <a:cubicBezTo>
                  <a:pt x="35662" y="211135"/>
                  <a:pt x="29718" y="255575"/>
                  <a:pt x="29718" y="255575"/>
                </a:cubicBezTo>
                <a:cubicBezTo>
                  <a:pt x="29718" y="255575"/>
                  <a:pt x="74158" y="249631"/>
                  <a:pt x="89154" y="231800"/>
                </a:cubicBezTo>
                <a:cubicBezTo>
                  <a:pt x="97566" y="221833"/>
                  <a:pt x="97475" y="206472"/>
                  <a:pt x="88057" y="197236"/>
                </a:cubicBezTo>
                <a:cubicBezTo>
                  <a:pt x="78547" y="188092"/>
                  <a:pt x="63642" y="187635"/>
                  <a:pt x="53492" y="196139"/>
                </a:cubicBezTo>
                <a:close/>
                <a:moveTo>
                  <a:pt x="142646" y="178308"/>
                </a:moveTo>
                <a:lnTo>
                  <a:pt x="106985" y="142646"/>
                </a:lnTo>
                <a:cubicBezTo>
                  <a:pt x="113294" y="126279"/>
                  <a:pt x="121249" y="110460"/>
                  <a:pt x="130759" y="95646"/>
                </a:cubicBezTo>
                <a:cubicBezTo>
                  <a:pt x="158923" y="50658"/>
                  <a:pt x="208392" y="23409"/>
                  <a:pt x="261518" y="23774"/>
                </a:cubicBezTo>
                <a:cubicBezTo>
                  <a:pt x="261518" y="56144"/>
                  <a:pt x="252283" y="112928"/>
                  <a:pt x="190195" y="154534"/>
                </a:cubicBezTo>
                <a:cubicBezTo>
                  <a:pt x="175199" y="164043"/>
                  <a:pt x="159288" y="171999"/>
                  <a:pt x="142646" y="178308"/>
                </a:cubicBezTo>
                <a:close/>
                <a:moveTo>
                  <a:pt x="106985" y="142646"/>
                </a:moveTo>
                <a:lnTo>
                  <a:pt x="47549" y="142646"/>
                </a:lnTo>
                <a:cubicBezTo>
                  <a:pt x="47549" y="142646"/>
                  <a:pt x="54041" y="106619"/>
                  <a:pt x="71323" y="95098"/>
                </a:cubicBezTo>
                <a:cubicBezTo>
                  <a:pt x="90617" y="82296"/>
                  <a:pt x="130759" y="95098"/>
                  <a:pt x="130759" y="95098"/>
                </a:cubicBezTo>
                <a:moveTo>
                  <a:pt x="142646" y="178308"/>
                </a:moveTo>
                <a:lnTo>
                  <a:pt x="142646" y="237744"/>
                </a:lnTo>
                <a:cubicBezTo>
                  <a:pt x="142646" y="237744"/>
                  <a:pt x="178674" y="231160"/>
                  <a:pt x="190195" y="213970"/>
                </a:cubicBezTo>
                <a:cubicBezTo>
                  <a:pt x="202997" y="194676"/>
                  <a:pt x="190195" y="154534"/>
                  <a:pt x="190195" y="154534"/>
                </a:cubicBezTo>
              </a:path>
            </a:pathLst>
          </a:custGeom>
          <a:noFill/>
          <a:ln w="23749" cap="rnd">
            <a:solidFill>
              <a:schemeClr val="bg1"/>
            </a:solidFill>
            <a:prstDash val="solid"/>
            <a:round/>
          </a:ln>
        </p:spPr>
      </p:sp>
      <p:sp>
        <p:nvSpPr>
          <p:cNvPr id="27" name="card-title-274"/>
          <p:cNvSpPr txBox="1"/>
          <p:nvPr/>
        </p:nvSpPr>
        <p:spPr>
          <a:xfrm>
            <a:off x="10140696" y="1828800"/>
            <a:ext cx="128016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Deploy</a:t>
            </a:r>
            <a:endParaRPr lang="en-US" sz="1700" dirty="0"/>
          </a:p>
        </p:txBody>
      </p:sp>
      <p:sp>
        <p:nvSpPr>
          <p:cNvPr id="28" name="card-body-275"/>
          <p:cNvSpPr txBox="1"/>
          <p:nvPr/>
        </p:nvSpPr>
        <p:spPr>
          <a:xfrm>
            <a:off x="9409176" y="2514600"/>
            <a:ext cx="2011680" cy="109728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16 platform stacks, then the Databricks connector</a:t>
            </a:r>
            <a:endParaRPr lang="en-US" sz="1400" dirty="0"/>
          </a:p>
        </p:txBody>
      </p:sp>
      <p:sp>
        <p:nvSpPr>
          <p:cNvPr id="29" name="code-bg-276"/>
          <p:cNvSpPr/>
          <p:nvPr/>
        </p:nvSpPr>
        <p:spPr>
          <a:xfrm>
            <a:off x="548640" y="4023360"/>
            <a:ext cx="7315200" cy="2148840"/>
          </a:xfrm>
          <a:prstGeom prst="roundRect">
            <a:avLst>
              <a:gd name="adj" fmla="val 3404"/>
            </a:avLst>
          </a:prstGeom>
          <a:solidFill>
            <a:schemeClr val="tx1"/>
          </a:solidFill>
          <a:ln/>
        </p:spPr>
      </p:sp>
      <p:sp>
        <p:nvSpPr>
          <p:cNvPr id="30" name="code-277"/>
          <p:cNvSpPr txBox="1"/>
          <p:nvPr/>
        </p:nvSpPr>
        <p:spPr>
          <a:xfrm>
            <a:off x="777240" y="4160520"/>
            <a:ext cx="6858000" cy="1874520"/>
          </a:xfrm>
          <a:prstGeom prst="rect">
            <a:avLst/>
          </a:prstGeom>
          <a:noFill/>
          <a:ln/>
        </p:spPr>
        <p:txBody>
          <a:bodyPr wrap="square" lIns="0" tIns="0" rIns="0" bIns="0" rtlCol="0" anchor="t"/>
          <a:lstStyle/>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export SCL_PREFIX=coa          </a:t>
            </a:r>
            <a:pPr indent="0" marL="0">
              <a:spcAft>
                <a:spcPts val="300"/>
              </a:spcAft>
              <a:buNone/>
            </a:pPr>
            <a:r>
              <a:rPr lang="en-US" sz="1300" dirty="0">
                <a:solidFill>
                  <a:schemeClr val="accent1"/>
                </a:solidFill>
                <a:latin typeface="Courier New" pitchFamily="34" charset="0"/>
                <a:ea typeface="Courier New" pitchFamily="34" charset="-122"/>
                <a:cs typeface="Courier New" pitchFamily="34" charset="-120"/>
              </a:rPr>
              <a:t># default</a:t>
            </a:r>
            <a:endParaRPr lang="en-US" sz="1300" dirty="0"/>
          </a:p>
          <a:p>
            <a:pPr indent="0" marL="0">
              <a:spcAft>
                <a:spcPts val="300"/>
              </a:spcAft>
              <a:buNone/>
            </a:pPr>
            <a:r>
              <a:rPr lang="en-US" sz="1300" dirty="0">
                <a:solidFill>
                  <a:schemeClr val="accent1"/>
                </a:solidFill>
                <a:latin typeface="Courier New" pitchFamily="34" charset="0"/>
                <a:ea typeface="Courier New" pitchFamily="34" charset="-122"/>
                <a:cs typeface="Courier New" pitchFamily="34" charset="-120"/>
              </a:rPr>
              <a:t># export SCL_VPC_ID=vpc-...     # reuse a VPC</a:t>
            </a:r>
            <a:endParaRPr lang="en-US" sz="1300" dirty="0"/>
          </a:p>
          <a:p>
            <a:pPr indent="0" marL="0">
              <a:spcAft>
                <a:spcPts val="300"/>
              </a:spcAft>
              <a:buNone/>
            </a:pPr>
            <a:r>
              <a:rPr lang="en-US" sz="1300" dirty="0">
                <a:solidFill>
                  <a:schemeClr val="accent1"/>
                </a:solidFill>
                <a:latin typeface="Courier New" pitchFamily="34" charset="0"/>
                <a:ea typeface="Courier New" pitchFamily="34" charset="-122"/>
                <a:cs typeface="Courier New" pitchFamily="34" charset="-120"/>
              </a:rPr>
              <a:t># export SCL_LAMBDA_RESERVED_CONCURRENCY=0</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 </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tmux new -s coa                </a:t>
            </a:r>
            <a:pPr indent="0" marL="0">
              <a:spcAft>
                <a:spcPts val="300"/>
              </a:spcAft>
              <a:buNone/>
            </a:pPr>
            <a:r>
              <a:rPr lang="en-US" sz="1300" dirty="0">
                <a:solidFill>
                  <a:schemeClr val="accent1"/>
                </a:solidFill>
                <a:latin typeface="Courier New" pitchFamily="34" charset="0"/>
                <a:ea typeface="Courier New" pitchFamily="34" charset="-122"/>
                <a:cs typeface="Courier New" pitchFamily="34" charset="-120"/>
              </a:rPr>
              <a:t># survive disconnects</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make deploy-dev 2&gt;&amp;1 | tee deploy.log</a:t>
            </a:r>
            <a:endParaRPr lang="en-US" sz="1300" dirty="0"/>
          </a:p>
        </p:txBody>
      </p:sp>
      <p:sp>
        <p:nvSpPr>
          <p:cNvPr id="31" name="stat-bg-278"/>
          <p:cNvSpPr/>
          <p:nvPr/>
        </p:nvSpPr>
        <p:spPr>
          <a:xfrm>
            <a:off x="8138160" y="4023360"/>
            <a:ext cx="3502152" cy="2148840"/>
          </a:xfrm>
          <a:prstGeom prst="roundRect">
            <a:avLst>
              <a:gd name="adj" fmla="val 4255"/>
            </a:avLst>
          </a:prstGeom>
          <a:solidFill>
            <a:schemeClr val="tx1"/>
          </a:solidFill>
          <a:ln/>
        </p:spPr>
      </p:sp>
      <p:sp>
        <p:nvSpPr>
          <p:cNvPr id="32" name="stat-279"/>
          <p:cNvSpPr txBox="1"/>
          <p:nvPr/>
        </p:nvSpPr>
        <p:spPr>
          <a:xfrm>
            <a:off x="8366760" y="4114800"/>
            <a:ext cx="3063240" cy="196596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~1.5 h</a:t>
            </a:r>
            <a:endParaRPr lang="en-US" sz="5400" dirty="0"/>
          </a:p>
          <a:p>
            <a:pPr indent="0" marL="0">
              <a:buNone/>
            </a:pPr>
            <a:r>
              <a:rPr lang="en-US" sz="1400" dirty="0">
                <a:solidFill>
                  <a:schemeClr val="bg2"/>
                </a:solidFill>
              </a:rPr>
              <a:t>CloudFormation time for a fresh deploy; keep the laptop awake</a:t>
            </a:r>
            <a:endParaRPr lang="en-US" sz="5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PHASE 3 · DEPLOY</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The 16 stacks it creates</a:t>
            </a:r>
            <a:endParaRPr lang="en-US" sz="3400" dirty="0"/>
          </a:p>
        </p:txBody>
      </p:sp>
      <p:sp>
        <p:nvSpPr>
          <p:cNvPr id="4" name="stack-280"/>
          <p:cNvSpPr/>
          <p:nvPr/>
        </p:nvSpPr>
        <p:spPr>
          <a:xfrm>
            <a:off x="548640" y="1554480"/>
            <a:ext cx="2651760" cy="960120"/>
          </a:xfrm>
          <a:prstGeom prst="roundRect">
            <a:avLst>
              <a:gd name="adj" fmla="val 7619"/>
            </a:avLst>
          </a:prstGeom>
          <a:solidFill>
            <a:schemeClr val="bg2"/>
          </a:solidFill>
          <a:ln/>
        </p:spPr>
      </p:sp>
      <p:sp>
        <p:nvSpPr>
          <p:cNvPr id="5" name="stack-text-281"/>
          <p:cNvSpPr txBox="1"/>
          <p:nvPr/>
        </p:nvSpPr>
        <p:spPr>
          <a:xfrm>
            <a:off x="731520" y="1554480"/>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2"/>
                </a:solidFill>
                <a:latin typeface="Courier New" pitchFamily="34" charset="0"/>
                <a:ea typeface="Courier New" pitchFamily="34" charset="-122"/>
                <a:cs typeface="Courier New" pitchFamily="34" charset="-120"/>
              </a:rPr>
              <a:t>coa-dev-network</a:t>
            </a:r>
            <a:endParaRPr lang="en-US" sz="1400" dirty="0"/>
          </a:p>
          <a:p>
            <a:pPr indent="0" marL="0">
              <a:spcAft>
                <a:spcPts val="200"/>
              </a:spcAft>
              <a:buNone/>
            </a:pPr>
            <a:r>
              <a:rPr lang="en-US" sz="1400" dirty="0">
                <a:solidFill>
                  <a:schemeClr val="tx2"/>
                </a:solidFill>
              </a:rPr>
              <a:t>VPC, subnets, security groups</a:t>
            </a:r>
            <a:endParaRPr lang="en-US" sz="1400" dirty="0"/>
          </a:p>
        </p:txBody>
      </p:sp>
      <p:sp>
        <p:nvSpPr>
          <p:cNvPr id="6" name="stack-282"/>
          <p:cNvSpPr/>
          <p:nvPr/>
        </p:nvSpPr>
        <p:spPr>
          <a:xfrm>
            <a:off x="3362249" y="1554480"/>
            <a:ext cx="2651760" cy="960120"/>
          </a:xfrm>
          <a:prstGeom prst="roundRect">
            <a:avLst>
              <a:gd name="adj" fmla="val 7619"/>
            </a:avLst>
          </a:prstGeom>
          <a:solidFill>
            <a:schemeClr val="bg2"/>
          </a:solidFill>
          <a:ln/>
        </p:spPr>
      </p:sp>
      <p:sp>
        <p:nvSpPr>
          <p:cNvPr id="7" name="stack-text-283"/>
          <p:cNvSpPr txBox="1"/>
          <p:nvPr/>
        </p:nvSpPr>
        <p:spPr>
          <a:xfrm>
            <a:off x="3545129" y="1554480"/>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2"/>
                </a:solidFill>
                <a:latin typeface="Courier New" pitchFamily="34" charset="0"/>
                <a:ea typeface="Courier New" pitchFamily="34" charset="-122"/>
                <a:cs typeface="Courier New" pitchFamily="34" charset="-120"/>
              </a:rPr>
              <a:t>coa-dev-auth</a:t>
            </a:r>
            <a:endParaRPr lang="en-US" sz="1400" dirty="0"/>
          </a:p>
          <a:p>
            <a:pPr indent="0" marL="0">
              <a:spcAft>
                <a:spcPts val="200"/>
              </a:spcAft>
              <a:buNone/>
            </a:pPr>
            <a:r>
              <a:rPr lang="en-US" sz="1400" dirty="0">
                <a:solidFill>
                  <a:schemeClr val="tx2"/>
                </a:solidFill>
              </a:rPr>
              <a:t>Cognito user pool, OIDC config</a:t>
            </a:r>
            <a:endParaRPr lang="en-US" sz="1400" dirty="0"/>
          </a:p>
        </p:txBody>
      </p:sp>
      <p:sp>
        <p:nvSpPr>
          <p:cNvPr id="8" name="stack-284"/>
          <p:cNvSpPr/>
          <p:nvPr/>
        </p:nvSpPr>
        <p:spPr>
          <a:xfrm>
            <a:off x="6175858" y="1554480"/>
            <a:ext cx="2651760" cy="960120"/>
          </a:xfrm>
          <a:prstGeom prst="roundRect">
            <a:avLst>
              <a:gd name="adj" fmla="val 7619"/>
            </a:avLst>
          </a:prstGeom>
          <a:solidFill>
            <a:schemeClr val="bg2"/>
          </a:solidFill>
          <a:ln/>
        </p:spPr>
      </p:sp>
      <p:sp>
        <p:nvSpPr>
          <p:cNvPr id="9" name="stack-text-285"/>
          <p:cNvSpPr txBox="1"/>
          <p:nvPr/>
        </p:nvSpPr>
        <p:spPr>
          <a:xfrm>
            <a:off x="6358738" y="1554480"/>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2"/>
                </a:solidFill>
                <a:latin typeface="Courier New" pitchFamily="34" charset="0"/>
                <a:ea typeface="Courier New" pitchFamily="34" charset="-122"/>
                <a:cs typeface="Courier New" pitchFamily="34" charset="-120"/>
              </a:rPr>
              <a:t>coa-dev-guardrail</a:t>
            </a:r>
            <a:endParaRPr lang="en-US" sz="1400" dirty="0"/>
          </a:p>
          <a:p>
            <a:pPr indent="0" marL="0">
              <a:spcAft>
                <a:spcPts val="200"/>
              </a:spcAft>
              <a:buNone/>
            </a:pPr>
            <a:r>
              <a:rPr lang="en-US" sz="1400" dirty="0">
                <a:solidFill>
                  <a:schemeClr val="tx2"/>
                </a:solidFill>
              </a:rPr>
              <a:t>Bedrock guardrails</a:t>
            </a:r>
            <a:endParaRPr lang="en-US" sz="1400" dirty="0"/>
          </a:p>
        </p:txBody>
      </p:sp>
      <p:sp>
        <p:nvSpPr>
          <p:cNvPr id="10" name="stack-286"/>
          <p:cNvSpPr/>
          <p:nvPr/>
        </p:nvSpPr>
        <p:spPr>
          <a:xfrm>
            <a:off x="8989466" y="1554480"/>
            <a:ext cx="2651760" cy="960120"/>
          </a:xfrm>
          <a:prstGeom prst="roundRect">
            <a:avLst>
              <a:gd name="adj" fmla="val 7619"/>
            </a:avLst>
          </a:prstGeom>
          <a:solidFill>
            <a:schemeClr val="tx1"/>
          </a:solidFill>
          <a:ln/>
        </p:spPr>
      </p:sp>
      <p:sp>
        <p:nvSpPr>
          <p:cNvPr id="11" name="stack-text-287"/>
          <p:cNvSpPr txBox="1"/>
          <p:nvPr/>
        </p:nvSpPr>
        <p:spPr>
          <a:xfrm>
            <a:off x="9172346" y="1554480"/>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1"/>
                </a:solidFill>
                <a:latin typeface="Courier New" pitchFamily="34" charset="0"/>
                <a:ea typeface="Courier New" pitchFamily="34" charset="-122"/>
                <a:cs typeface="Courier New" pitchFamily="34" charset="-120"/>
              </a:rPr>
              <a:t>coa-dev-storage</a:t>
            </a:r>
            <a:endParaRPr lang="en-US" sz="1400" dirty="0"/>
          </a:p>
          <a:p>
            <a:pPr indent="0" marL="0">
              <a:spcAft>
                <a:spcPts val="200"/>
              </a:spcAft>
              <a:buNone/>
            </a:pPr>
            <a:r>
              <a:rPr lang="en-US" sz="1400" dirty="0">
                <a:solidFill>
                  <a:schemeClr val="bg2"/>
                </a:solidFill>
              </a:rPr>
              <a:t>Neptune, OpenSearch Serverless</a:t>
            </a:r>
            <a:endParaRPr lang="en-US" sz="1400" dirty="0"/>
          </a:p>
        </p:txBody>
      </p:sp>
      <p:sp>
        <p:nvSpPr>
          <p:cNvPr id="12" name="stack-288"/>
          <p:cNvSpPr/>
          <p:nvPr/>
        </p:nvSpPr>
        <p:spPr>
          <a:xfrm>
            <a:off x="548640" y="2679192"/>
            <a:ext cx="2651760" cy="960120"/>
          </a:xfrm>
          <a:prstGeom prst="roundRect">
            <a:avLst>
              <a:gd name="adj" fmla="val 7619"/>
            </a:avLst>
          </a:prstGeom>
          <a:solidFill>
            <a:schemeClr val="bg2"/>
          </a:solidFill>
          <a:ln/>
        </p:spPr>
      </p:sp>
      <p:sp>
        <p:nvSpPr>
          <p:cNvPr id="13" name="stack-text-289"/>
          <p:cNvSpPr txBox="1"/>
          <p:nvPr/>
        </p:nvSpPr>
        <p:spPr>
          <a:xfrm>
            <a:off x="731520" y="2679192"/>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2"/>
                </a:solidFill>
                <a:latin typeface="Courier New" pitchFamily="34" charset="0"/>
                <a:ea typeface="Courier New" pitchFamily="34" charset="-122"/>
                <a:cs typeface="Courier New" pitchFamily="34" charset="-120"/>
              </a:rPr>
              <a:t>coa-dev-authnz</a:t>
            </a:r>
            <a:endParaRPr lang="en-US" sz="1400" dirty="0"/>
          </a:p>
          <a:p>
            <a:pPr indent="0" marL="0">
              <a:spcAft>
                <a:spcPts val="200"/>
              </a:spcAft>
              <a:buNone/>
            </a:pPr>
            <a:r>
              <a:rPr lang="en-US" sz="1400" dirty="0">
                <a:solidFill>
                  <a:schemeClr val="tx2"/>
                </a:solidFill>
              </a:rPr>
              <a:t>DynamoDB: roles, grants, Cedar</a:t>
            </a:r>
            <a:endParaRPr lang="en-US" sz="1400" dirty="0"/>
          </a:p>
        </p:txBody>
      </p:sp>
      <p:sp>
        <p:nvSpPr>
          <p:cNvPr id="14" name="stack-290"/>
          <p:cNvSpPr/>
          <p:nvPr/>
        </p:nvSpPr>
        <p:spPr>
          <a:xfrm>
            <a:off x="3362249" y="2679192"/>
            <a:ext cx="2651760" cy="960120"/>
          </a:xfrm>
          <a:prstGeom prst="roundRect">
            <a:avLst>
              <a:gd name="adj" fmla="val 7619"/>
            </a:avLst>
          </a:prstGeom>
          <a:solidFill>
            <a:schemeClr val="bg2"/>
          </a:solidFill>
          <a:ln/>
        </p:spPr>
      </p:sp>
      <p:sp>
        <p:nvSpPr>
          <p:cNvPr id="15" name="stack-text-291"/>
          <p:cNvSpPr txBox="1"/>
          <p:nvPr/>
        </p:nvSpPr>
        <p:spPr>
          <a:xfrm>
            <a:off x="3545129" y="2679192"/>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2"/>
                </a:solidFill>
                <a:latin typeface="Courier New" pitchFamily="34" charset="0"/>
                <a:ea typeface="Courier New" pitchFamily="34" charset="-122"/>
                <a:cs typeface="Courier New" pitchFamily="34" charset="-120"/>
              </a:rPr>
              <a:t>coa-dev-vkg</a:t>
            </a:r>
            <a:endParaRPr lang="en-US" sz="1400" dirty="0"/>
          </a:p>
          <a:p>
            <a:pPr indent="0" marL="0">
              <a:spcAft>
                <a:spcPts val="200"/>
              </a:spcAft>
              <a:buNone/>
            </a:pPr>
            <a:r>
              <a:rPr lang="en-US" sz="1400" dirty="0">
                <a:solidFill>
                  <a:schemeClr val="tx2"/>
                </a:solidFill>
              </a:rPr>
              <a:t>Ontop virtual knowledge graph</a:t>
            </a:r>
            <a:endParaRPr lang="en-US" sz="1400" dirty="0"/>
          </a:p>
        </p:txBody>
      </p:sp>
      <p:sp>
        <p:nvSpPr>
          <p:cNvPr id="16" name="stack-292"/>
          <p:cNvSpPr/>
          <p:nvPr/>
        </p:nvSpPr>
        <p:spPr>
          <a:xfrm>
            <a:off x="6175858" y="2679192"/>
            <a:ext cx="2651760" cy="960120"/>
          </a:xfrm>
          <a:prstGeom prst="roundRect">
            <a:avLst>
              <a:gd name="adj" fmla="val 7619"/>
            </a:avLst>
          </a:prstGeom>
          <a:solidFill>
            <a:schemeClr val="bg2"/>
          </a:solidFill>
          <a:ln/>
        </p:spPr>
      </p:sp>
      <p:sp>
        <p:nvSpPr>
          <p:cNvPr id="17" name="stack-text-293"/>
          <p:cNvSpPr txBox="1"/>
          <p:nvPr/>
        </p:nvSpPr>
        <p:spPr>
          <a:xfrm>
            <a:off x="6358738" y="2679192"/>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2"/>
                </a:solidFill>
                <a:latin typeface="Courier New" pitchFamily="34" charset="0"/>
                <a:ea typeface="Courier New" pitchFamily="34" charset="-122"/>
                <a:cs typeface="Courier New" pitchFamily="34" charset="-120"/>
              </a:rPr>
              <a:t>coa-dev-namespace</a:t>
            </a:r>
            <a:endParaRPr lang="en-US" sz="1400" dirty="0"/>
          </a:p>
          <a:p>
            <a:pPr indent="0" marL="0">
              <a:spcAft>
                <a:spcPts val="200"/>
              </a:spcAft>
              <a:buNone/>
            </a:pPr>
            <a:r>
              <a:rPr lang="en-US" sz="1400" dirty="0">
                <a:solidFill>
                  <a:schemeClr val="tx2"/>
                </a:solidFill>
              </a:rPr>
              <a:t>SMUS / DataZone domain</a:t>
            </a:r>
            <a:endParaRPr lang="en-US" sz="1400" dirty="0"/>
          </a:p>
        </p:txBody>
      </p:sp>
      <p:sp>
        <p:nvSpPr>
          <p:cNvPr id="18" name="stack-294"/>
          <p:cNvSpPr/>
          <p:nvPr/>
        </p:nvSpPr>
        <p:spPr>
          <a:xfrm>
            <a:off x="8989466" y="2679192"/>
            <a:ext cx="2651760" cy="960120"/>
          </a:xfrm>
          <a:prstGeom prst="roundRect">
            <a:avLst>
              <a:gd name="adj" fmla="val 7619"/>
            </a:avLst>
          </a:prstGeom>
          <a:solidFill>
            <a:schemeClr val="bg2"/>
          </a:solidFill>
          <a:ln/>
        </p:spPr>
      </p:sp>
      <p:sp>
        <p:nvSpPr>
          <p:cNvPr id="19" name="stack-text-295"/>
          <p:cNvSpPr txBox="1"/>
          <p:nvPr/>
        </p:nvSpPr>
        <p:spPr>
          <a:xfrm>
            <a:off x="9172346" y="2679192"/>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2"/>
                </a:solidFill>
                <a:latin typeface="Courier New" pitchFamily="34" charset="0"/>
                <a:ea typeface="Courier New" pitchFamily="34" charset="-122"/>
                <a:cs typeface="Courier New" pitchFamily="34" charset="-120"/>
              </a:rPr>
              <a:t>coa-dev-metric-service</a:t>
            </a:r>
            <a:endParaRPr lang="en-US" sz="1400" dirty="0"/>
          </a:p>
          <a:p>
            <a:pPr indent="0" marL="0">
              <a:spcAft>
                <a:spcPts val="200"/>
              </a:spcAft>
              <a:buNone/>
            </a:pPr>
            <a:r>
              <a:rPr lang="en-US" sz="1400" dirty="0">
                <a:solidFill>
                  <a:schemeClr val="tx2"/>
                </a:solidFill>
              </a:rPr>
              <a:t>Metric authoring, validation</a:t>
            </a:r>
            <a:endParaRPr lang="en-US" sz="1400" dirty="0"/>
          </a:p>
        </p:txBody>
      </p:sp>
      <p:sp>
        <p:nvSpPr>
          <p:cNvPr id="20" name="stack-296"/>
          <p:cNvSpPr/>
          <p:nvPr/>
        </p:nvSpPr>
        <p:spPr>
          <a:xfrm>
            <a:off x="548640" y="3803904"/>
            <a:ext cx="2651760" cy="960120"/>
          </a:xfrm>
          <a:prstGeom prst="roundRect">
            <a:avLst>
              <a:gd name="adj" fmla="val 7619"/>
            </a:avLst>
          </a:prstGeom>
          <a:solidFill>
            <a:schemeClr val="bg2"/>
          </a:solidFill>
          <a:ln/>
        </p:spPr>
      </p:sp>
      <p:sp>
        <p:nvSpPr>
          <p:cNvPr id="21" name="stack-text-297"/>
          <p:cNvSpPr txBox="1"/>
          <p:nvPr/>
        </p:nvSpPr>
        <p:spPr>
          <a:xfrm>
            <a:off x="731520" y="3803904"/>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2"/>
                </a:solidFill>
                <a:latin typeface="Courier New" pitchFamily="34" charset="0"/>
                <a:ea typeface="Courier New" pitchFamily="34" charset="-122"/>
                <a:cs typeface="Courier New" pitchFamily="34" charset="-120"/>
              </a:rPr>
              <a:t>coa-dev-api</a:t>
            </a:r>
            <a:endParaRPr lang="en-US" sz="1400" dirty="0"/>
          </a:p>
          <a:p>
            <a:pPr indent="0" marL="0">
              <a:spcAft>
                <a:spcPts val="200"/>
              </a:spcAft>
              <a:buNone/>
            </a:pPr>
            <a:r>
              <a:rPr lang="en-US" sz="1400" dirty="0">
                <a:solidFill>
                  <a:schemeClr val="tx2"/>
                </a:solidFill>
              </a:rPr>
              <a:t>API Gateway, authorizer</a:t>
            </a:r>
            <a:endParaRPr lang="en-US" sz="1400" dirty="0"/>
          </a:p>
        </p:txBody>
      </p:sp>
      <p:sp>
        <p:nvSpPr>
          <p:cNvPr id="22" name="stack-298"/>
          <p:cNvSpPr/>
          <p:nvPr/>
        </p:nvSpPr>
        <p:spPr>
          <a:xfrm>
            <a:off x="3362249" y="3803904"/>
            <a:ext cx="2651760" cy="960120"/>
          </a:xfrm>
          <a:prstGeom prst="roundRect">
            <a:avLst>
              <a:gd name="adj" fmla="val 7619"/>
            </a:avLst>
          </a:prstGeom>
          <a:solidFill>
            <a:schemeClr val="tx1"/>
          </a:solidFill>
          <a:ln/>
        </p:spPr>
      </p:sp>
      <p:sp>
        <p:nvSpPr>
          <p:cNvPr id="23" name="stack-text-299"/>
          <p:cNvSpPr txBox="1"/>
          <p:nvPr/>
        </p:nvSpPr>
        <p:spPr>
          <a:xfrm>
            <a:off x="3545129" y="3803904"/>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1"/>
                </a:solidFill>
                <a:latin typeface="Courier New" pitchFamily="34" charset="0"/>
                <a:ea typeface="Courier New" pitchFamily="34" charset="-122"/>
                <a:cs typeface="Courier New" pitchFamily="34" charset="-120"/>
              </a:rPr>
              <a:t>coa-dev-serve</a:t>
            </a:r>
            <a:endParaRPr lang="en-US" sz="1400" dirty="0"/>
          </a:p>
          <a:p>
            <a:pPr indent="0" marL="0">
              <a:spcAft>
                <a:spcPts val="200"/>
              </a:spcAft>
              <a:buNone/>
            </a:pPr>
            <a:r>
              <a:rPr lang="en-US" sz="1400" dirty="0">
                <a:solidFill>
                  <a:schemeClr val="bg2"/>
                </a:solidFill>
              </a:rPr>
              <a:t>Context Manager (queries)</a:t>
            </a:r>
            <a:endParaRPr lang="en-US" sz="1400" dirty="0"/>
          </a:p>
        </p:txBody>
      </p:sp>
      <p:sp>
        <p:nvSpPr>
          <p:cNvPr id="24" name="stack-300"/>
          <p:cNvSpPr/>
          <p:nvPr/>
        </p:nvSpPr>
        <p:spPr>
          <a:xfrm>
            <a:off x="6175858" y="3803904"/>
            <a:ext cx="2651760" cy="960120"/>
          </a:xfrm>
          <a:prstGeom prst="roundRect">
            <a:avLst>
              <a:gd name="adj" fmla="val 7619"/>
            </a:avLst>
          </a:prstGeom>
          <a:solidFill>
            <a:schemeClr val="bg2"/>
          </a:solidFill>
          <a:ln/>
        </p:spPr>
      </p:sp>
      <p:sp>
        <p:nvSpPr>
          <p:cNvPr id="25" name="stack-text-301"/>
          <p:cNvSpPr txBox="1"/>
          <p:nvPr/>
        </p:nvSpPr>
        <p:spPr>
          <a:xfrm>
            <a:off x="6358738" y="3803904"/>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2"/>
                </a:solidFill>
                <a:latin typeface="Courier New" pitchFamily="34" charset="0"/>
                <a:ea typeface="Courier New" pitchFamily="34" charset="-122"/>
                <a:cs typeface="Courier New" pitchFamily="34" charset="-120"/>
              </a:rPr>
              <a:t>coa-dev-sources</a:t>
            </a:r>
            <a:endParaRPr lang="en-US" sz="1400" dirty="0"/>
          </a:p>
          <a:p>
            <a:pPr indent="0" marL="0">
              <a:spcAft>
                <a:spcPts val="200"/>
              </a:spcAft>
              <a:buNone/>
            </a:pPr>
            <a:r>
              <a:rPr lang="en-US" sz="1400" dirty="0">
                <a:solidFill>
                  <a:schemeClr val="tx2"/>
                </a:solidFill>
              </a:rPr>
              <a:t>Glue / JDBC ingestion</a:t>
            </a:r>
            <a:endParaRPr lang="en-US" sz="1400" dirty="0"/>
          </a:p>
        </p:txBody>
      </p:sp>
      <p:sp>
        <p:nvSpPr>
          <p:cNvPr id="26" name="stack-302"/>
          <p:cNvSpPr/>
          <p:nvPr/>
        </p:nvSpPr>
        <p:spPr>
          <a:xfrm>
            <a:off x="8989466" y="3803904"/>
            <a:ext cx="2651760" cy="960120"/>
          </a:xfrm>
          <a:prstGeom prst="roundRect">
            <a:avLst>
              <a:gd name="adj" fmla="val 7619"/>
            </a:avLst>
          </a:prstGeom>
          <a:solidFill>
            <a:schemeClr val="bg2"/>
          </a:solidFill>
          <a:ln/>
        </p:spPr>
      </p:sp>
      <p:sp>
        <p:nvSpPr>
          <p:cNvPr id="27" name="stack-text-303"/>
          <p:cNvSpPr txBox="1"/>
          <p:nvPr/>
        </p:nvSpPr>
        <p:spPr>
          <a:xfrm>
            <a:off x="9172346" y="3803904"/>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2"/>
                </a:solidFill>
                <a:latin typeface="Courier New" pitchFamily="34" charset="0"/>
                <a:ea typeface="Courier New" pitchFamily="34" charset="-122"/>
                <a:cs typeface="Courier New" pitchFamily="34" charset="-120"/>
              </a:rPr>
              <a:t>coa-dev-data-layer</a:t>
            </a:r>
            <a:endParaRPr lang="en-US" sz="1400" dirty="0"/>
          </a:p>
          <a:p>
            <a:pPr indent="0" marL="0">
              <a:spcAft>
                <a:spcPts val="200"/>
              </a:spcAft>
              <a:buNone/>
            </a:pPr>
            <a:r>
              <a:rPr lang="en-US" sz="1400" dirty="0">
                <a:solidFill>
                  <a:schemeClr val="tx2"/>
                </a:solidFill>
              </a:rPr>
              <a:t>REST API for queries</a:t>
            </a:r>
            <a:endParaRPr lang="en-US" sz="1400" dirty="0"/>
          </a:p>
        </p:txBody>
      </p:sp>
      <p:sp>
        <p:nvSpPr>
          <p:cNvPr id="28" name="stack-304"/>
          <p:cNvSpPr/>
          <p:nvPr/>
        </p:nvSpPr>
        <p:spPr>
          <a:xfrm>
            <a:off x="548640" y="4928616"/>
            <a:ext cx="2651760" cy="960120"/>
          </a:xfrm>
          <a:prstGeom prst="roundRect">
            <a:avLst>
              <a:gd name="adj" fmla="val 7619"/>
            </a:avLst>
          </a:prstGeom>
          <a:solidFill>
            <a:schemeClr val="bg2"/>
          </a:solidFill>
          <a:ln/>
        </p:spPr>
      </p:sp>
      <p:sp>
        <p:nvSpPr>
          <p:cNvPr id="29" name="stack-text-305"/>
          <p:cNvSpPr txBox="1"/>
          <p:nvPr/>
        </p:nvSpPr>
        <p:spPr>
          <a:xfrm>
            <a:off x="731520" y="4928616"/>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2"/>
                </a:solidFill>
                <a:latin typeface="Courier New" pitchFamily="34" charset="0"/>
                <a:ea typeface="Courier New" pitchFamily="34" charset="-122"/>
                <a:cs typeface="Courier New" pitchFamily="34" charset="-120"/>
              </a:rPr>
              <a:t>coa-dev-edge-waf</a:t>
            </a:r>
            <a:endParaRPr lang="en-US" sz="1400" dirty="0"/>
          </a:p>
          <a:p>
            <a:pPr indent="0" marL="0">
              <a:spcAft>
                <a:spcPts val="200"/>
              </a:spcAft>
              <a:buNone/>
            </a:pPr>
            <a:r>
              <a:rPr lang="en-US" sz="1400" dirty="0">
                <a:solidFill>
                  <a:schemeClr val="tx2"/>
                </a:solidFill>
              </a:rPr>
              <a:t>CloudFront WAF web ACL</a:t>
            </a:r>
            <a:endParaRPr lang="en-US" sz="1400" dirty="0"/>
          </a:p>
        </p:txBody>
      </p:sp>
      <p:sp>
        <p:nvSpPr>
          <p:cNvPr id="30" name="stack-306"/>
          <p:cNvSpPr/>
          <p:nvPr/>
        </p:nvSpPr>
        <p:spPr>
          <a:xfrm>
            <a:off x="3362249" y="4928616"/>
            <a:ext cx="2651760" cy="960120"/>
          </a:xfrm>
          <a:prstGeom prst="roundRect">
            <a:avLst>
              <a:gd name="adj" fmla="val 7619"/>
            </a:avLst>
          </a:prstGeom>
          <a:solidFill>
            <a:schemeClr val="tx1"/>
          </a:solidFill>
          <a:ln/>
        </p:spPr>
      </p:sp>
      <p:sp>
        <p:nvSpPr>
          <p:cNvPr id="31" name="stack-text-307"/>
          <p:cNvSpPr txBox="1"/>
          <p:nvPr/>
        </p:nvSpPr>
        <p:spPr>
          <a:xfrm>
            <a:off x="3545129" y="4928616"/>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1"/>
                </a:solidFill>
                <a:latin typeface="Courier New" pitchFamily="34" charset="0"/>
                <a:ea typeface="Courier New" pitchFamily="34" charset="-122"/>
                <a:cs typeface="Courier New" pitchFamily="34" charset="-120"/>
              </a:rPr>
              <a:t>coa-dev-web</a:t>
            </a:r>
            <a:endParaRPr lang="en-US" sz="1400" dirty="0"/>
          </a:p>
          <a:p>
            <a:pPr indent="0" marL="0">
              <a:spcAft>
                <a:spcPts val="200"/>
              </a:spcAft>
              <a:buNone/>
            </a:pPr>
            <a:r>
              <a:rPr lang="en-US" sz="1400" dirty="0">
                <a:solidFill>
                  <a:schemeClr val="bg2"/>
                </a:solidFill>
              </a:rPr>
              <a:t>CloudFront + S3 React app</a:t>
            </a:r>
            <a:endParaRPr lang="en-US" sz="1400" dirty="0"/>
          </a:p>
        </p:txBody>
      </p:sp>
      <p:sp>
        <p:nvSpPr>
          <p:cNvPr id="32" name="stack-308"/>
          <p:cNvSpPr/>
          <p:nvPr/>
        </p:nvSpPr>
        <p:spPr>
          <a:xfrm>
            <a:off x="6175858" y="4928616"/>
            <a:ext cx="2651760" cy="960120"/>
          </a:xfrm>
          <a:prstGeom prst="roundRect">
            <a:avLst>
              <a:gd name="adj" fmla="val 7619"/>
            </a:avLst>
          </a:prstGeom>
          <a:solidFill>
            <a:schemeClr val="bg2"/>
          </a:solidFill>
          <a:ln/>
        </p:spPr>
      </p:sp>
      <p:sp>
        <p:nvSpPr>
          <p:cNvPr id="33" name="stack-text-309"/>
          <p:cNvSpPr txBox="1"/>
          <p:nvPr/>
        </p:nvSpPr>
        <p:spPr>
          <a:xfrm>
            <a:off x="6358738" y="4928616"/>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2"/>
                </a:solidFill>
                <a:latin typeface="Courier New" pitchFamily="34" charset="0"/>
                <a:ea typeface="Courier New" pitchFamily="34" charset="-122"/>
                <a:cs typeface="Courier New" pitchFamily="34" charset="-120"/>
              </a:rPr>
              <a:t>coa-dev-ontology</a:t>
            </a:r>
            <a:endParaRPr lang="en-US" sz="1400" dirty="0"/>
          </a:p>
          <a:p>
            <a:pPr indent="0" marL="0">
              <a:spcAft>
                <a:spcPts val="200"/>
              </a:spcAft>
              <a:buNone/>
            </a:pPr>
            <a:r>
              <a:rPr lang="en-US" sz="1400" dirty="0">
                <a:solidFill>
                  <a:schemeClr val="tx2"/>
                </a:solidFill>
              </a:rPr>
              <a:t>Induction, reasoning</a:t>
            </a:r>
            <a:endParaRPr lang="en-US" sz="1400" dirty="0"/>
          </a:p>
        </p:txBody>
      </p:sp>
      <p:sp>
        <p:nvSpPr>
          <p:cNvPr id="34" name="stack-310"/>
          <p:cNvSpPr/>
          <p:nvPr/>
        </p:nvSpPr>
        <p:spPr>
          <a:xfrm>
            <a:off x="8989466" y="4928616"/>
            <a:ext cx="2651760" cy="960120"/>
          </a:xfrm>
          <a:prstGeom prst="roundRect">
            <a:avLst>
              <a:gd name="adj" fmla="val 7619"/>
            </a:avLst>
          </a:prstGeom>
          <a:solidFill>
            <a:schemeClr val="tx1"/>
          </a:solidFill>
          <a:ln/>
        </p:spPr>
      </p:sp>
      <p:sp>
        <p:nvSpPr>
          <p:cNvPr id="35" name="stack-text-311"/>
          <p:cNvSpPr txBox="1"/>
          <p:nvPr/>
        </p:nvSpPr>
        <p:spPr>
          <a:xfrm>
            <a:off x="9172346" y="4928616"/>
            <a:ext cx="2331720" cy="960120"/>
          </a:xfrm>
          <a:prstGeom prst="rect">
            <a:avLst/>
          </a:prstGeom>
          <a:noFill/>
          <a:ln/>
        </p:spPr>
        <p:txBody>
          <a:bodyPr wrap="square" lIns="0" tIns="0" rIns="0" bIns="0" rtlCol="0" anchor="ctr"/>
          <a:lstStyle/>
          <a:p>
            <a:pPr indent="0" marL="0">
              <a:spcAft>
                <a:spcPts val="200"/>
              </a:spcAft>
              <a:buNone/>
            </a:pPr>
            <a:r>
              <a:rPr lang="en-US" sz="1400" b="1" dirty="0">
                <a:solidFill>
                  <a:schemeClr val="accent1"/>
                </a:solidFill>
                <a:latin typeface="Courier New" pitchFamily="34" charset="0"/>
                <a:ea typeface="Courier New" pitchFamily="34" charset="-122"/>
                <a:cs typeface="Courier New" pitchFamily="34" charset="-120"/>
              </a:rPr>
              <a:t>coa-dev-mcp</a:t>
            </a:r>
            <a:endParaRPr lang="en-US" sz="1400" dirty="0"/>
          </a:p>
          <a:p>
            <a:pPr indent="0" marL="0">
              <a:spcAft>
                <a:spcPts val="200"/>
              </a:spcAft>
              <a:buNone/>
            </a:pPr>
            <a:r>
              <a:rPr lang="en-US" sz="1400" dirty="0">
                <a:solidFill>
                  <a:schemeClr val="bg2"/>
                </a:solidFill>
              </a:rPr>
              <a:t>MCP server on AgentCore</a:t>
            </a:r>
            <a:endParaRPr lang="en-US" sz="1400" dirty="0"/>
          </a:p>
        </p:txBody>
      </p:sp>
      <p:sp>
        <p:nvSpPr>
          <p:cNvPr id="36" name="caption-312"/>
          <p:cNvSpPr txBox="1"/>
          <p:nvPr/>
        </p:nvSpPr>
        <p:spPr>
          <a:xfrm>
            <a:off x="548640" y="6016752"/>
            <a:ext cx="9144000" cy="320040"/>
          </a:xfrm>
          <a:prstGeom prst="rect">
            <a:avLst/>
          </a:prstGeom>
          <a:noFill/>
          <a:ln/>
        </p:spPr>
        <p:txBody>
          <a:bodyPr wrap="square" lIns="0" tIns="0" rIns="0" bIns="0" rtlCol="0" anchor="ctr"/>
          <a:lstStyle/>
          <a:p>
            <a:pPr indent="0" marL="0">
              <a:buNone/>
            </a:pPr>
            <a:r>
              <a:rPr lang="en-US" sz="1200" i="1" dirty="0">
                <a:solidFill>
                  <a:schemeClr val="accent3"/>
                </a:solidFill>
              </a:rPr>
              <a:t>Dark tiles: the stacks you'll look at most (outputs, cost, endpoints).</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141732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PHASE 4 · GO LIVE</a:t>
            </a:r>
            <a:endParaRPr lang="en-US" sz="1200" dirty="0"/>
          </a:p>
        </p:txBody>
      </p:sp>
      <p:sp>
        <p:nvSpPr>
          <p:cNvPr id="3" name="Text 0"/>
          <p:cNvSpPr/>
          <p:nvPr>
            <p:ph idx="101" type="title" hasCustomPrompt="1"/>
          </p:nvPr>
        </p:nvSpPr>
        <p:spPr>
          <a:xfrm>
            <a:off x="1417320" y="640080"/>
            <a:ext cx="10222992" cy="685800"/>
          </a:xfrm>
          <a:prstGeom prst="rect">
            <a:avLst/>
          </a:prstGeom>
          <a:noFill/>
          <a:ln/>
        </p:spPr>
        <p:txBody>
          <a:bodyPr wrap="square" lIns="0" tIns="0" rIns="0" bIns="0" rtlCol="0" anchor="ctr"/>
          <a:lstStyle/>
          <a:p>
            <a:pPr algn="l" indent="0" marL="0">
              <a:buNone/>
            </a:pPr>
            <a:r>
              <a:rPr lang="en-US" sz="3400" b="1" dirty="0">
                <a:solidFill>
                  <a:schemeClr val="tx1"/>
                </a:solidFill>
              </a:rPr>
              <a:t>Sign in and verify</a:t>
            </a:r>
            <a:endParaRPr lang="en-US" sz="3400" dirty="0"/>
          </a:p>
        </p:txBody>
      </p:sp>
      <p:sp>
        <p:nvSpPr>
          <p:cNvPr id="4" name="step-badge-313"/>
          <p:cNvSpPr/>
          <p:nvPr/>
        </p:nvSpPr>
        <p:spPr>
          <a:xfrm>
            <a:off x="548640" y="566928"/>
            <a:ext cx="713232" cy="713232"/>
          </a:xfrm>
          <a:prstGeom prst="ellipse">
            <a:avLst/>
          </a:prstGeom>
          <a:solidFill>
            <a:schemeClr val="accent1"/>
          </a:solidFill>
          <a:ln/>
        </p:spPr>
      </p:sp>
      <p:sp>
        <p:nvSpPr>
          <p:cNvPr id="5" name="step-number-314"/>
          <p:cNvSpPr txBox="1"/>
          <p:nvPr/>
        </p:nvSpPr>
        <p:spPr>
          <a:xfrm>
            <a:off x="548640" y="566928"/>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latin typeface="Arial" pitchFamily="34" charset="0"/>
                <a:ea typeface="Arial" pitchFamily="34" charset="-122"/>
                <a:cs typeface="Arial" pitchFamily="34" charset="-120"/>
              </a:rPr>
              <a:t>10</a:t>
            </a:r>
            <a:endParaRPr lang="en-US" sz="2600" dirty="0"/>
          </a:p>
        </p:txBody>
      </p:sp>
      <p:sp>
        <p:nvSpPr>
          <p:cNvPr id="6" name="code-bg-315"/>
          <p:cNvSpPr/>
          <p:nvPr/>
        </p:nvSpPr>
        <p:spPr>
          <a:xfrm>
            <a:off x="548640" y="1600200"/>
            <a:ext cx="11091672" cy="1417320"/>
          </a:xfrm>
          <a:prstGeom prst="roundRect">
            <a:avLst>
              <a:gd name="adj" fmla="val 5161"/>
            </a:avLst>
          </a:prstGeom>
          <a:solidFill>
            <a:schemeClr val="tx1"/>
          </a:solidFill>
          <a:ln/>
        </p:spPr>
      </p:sp>
      <p:sp>
        <p:nvSpPr>
          <p:cNvPr id="7" name="code-316"/>
          <p:cNvSpPr txBox="1"/>
          <p:nvPr/>
        </p:nvSpPr>
        <p:spPr>
          <a:xfrm>
            <a:off x="777240" y="1737360"/>
            <a:ext cx="10634472" cy="1143000"/>
          </a:xfrm>
          <a:prstGeom prst="rect">
            <a:avLst/>
          </a:prstGeom>
          <a:noFill/>
          <a:ln/>
        </p:spPr>
        <p:txBody>
          <a:bodyPr wrap="square" lIns="0" tIns="0" rIns="0" bIns="0" rtlCol="0" anchor="t"/>
          <a:lstStyle/>
          <a:p>
            <a:pPr indent="0" marL="0">
              <a:spcAft>
                <a:spcPts val="300"/>
              </a:spcAft>
              <a:buNone/>
            </a:pPr>
            <a:r>
              <a:rPr lang="en-US" sz="1200" dirty="0">
                <a:solidFill>
                  <a:schemeClr val="bg2"/>
                </a:solidFill>
                <a:latin typeface="Courier New" pitchFamily="34" charset="0"/>
                <a:ea typeface="Courier New" pitchFamily="34" charset="-122"/>
                <a:cs typeface="Courier New" pitchFamily="34" charset="-120"/>
              </a:rPr>
              <a:t>aws cloudformation describe-stacks --stack-name coa-dev-auth --query "Stacks[0].Outputs" --output table</a:t>
            </a:r>
            <a:endParaRPr lang="en-US" sz="1200" dirty="0"/>
          </a:p>
          <a:p>
            <a:pPr indent="0" marL="0">
              <a:spcAft>
                <a:spcPts val="300"/>
              </a:spcAft>
              <a:buNone/>
            </a:pPr>
            <a:r>
              <a:rPr lang="en-US" sz="1200" dirty="0">
                <a:solidFill>
                  <a:schemeClr val="bg2"/>
                </a:solidFill>
                <a:latin typeface="Courier New" pitchFamily="34" charset="0"/>
                <a:ea typeface="Courier New" pitchFamily="34" charset="-122"/>
                <a:cs typeface="Courier New" pitchFamily="34" charset="-120"/>
              </a:rPr>
              <a:t>aws cloudformation describe-stacks --stack-name coa-dev-web \</a:t>
            </a:r>
            <a:endParaRPr lang="en-US" sz="1200" dirty="0"/>
          </a:p>
          <a:p>
            <a:pPr indent="0" marL="0">
              <a:spcAft>
                <a:spcPts val="300"/>
              </a:spcAft>
              <a:buNone/>
            </a:pPr>
            <a:r>
              <a:rPr lang="en-US" sz="1200" dirty="0">
                <a:solidFill>
                  <a:schemeClr val="bg2"/>
                </a:solidFill>
                <a:latin typeface="Courier New" pitchFamily="34" charset="0"/>
                <a:ea typeface="Courier New" pitchFamily="34" charset="-122"/>
                <a:cs typeface="Courier New" pitchFamily="34" charset="-120"/>
              </a:rPr>
              <a:t>  --query "Stacks[0].Outputs[?OutputKey=='WebAppUrl'].OutputValue" --output text</a:t>
            </a:r>
            <a:endParaRPr lang="en-US" sz="1200" dirty="0"/>
          </a:p>
        </p:txBody>
      </p:sp>
      <p:sp>
        <p:nvSpPr>
          <p:cNvPr id="8" name="card-317"/>
          <p:cNvSpPr/>
          <p:nvPr/>
        </p:nvSpPr>
        <p:spPr>
          <a:xfrm>
            <a:off x="548640" y="3246120"/>
            <a:ext cx="3611880" cy="1965960"/>
          </a:xfrm>
          <a:prstGeom prst="roundRect">
            <a:avLst>
              <a:gd name="adj" fmla="val 4651"/>
            </a:avLst>
          </a:prstGeom>
          <a:solidFill>
            <a:schemeClr val="bg2"/>
          </a:solidFill>
          <a:ln/>
        </p:spPr>
      </p:sp>
      <p:sp>
        <p:nvSpPr>
          <p:cNvPr id="9" name="icon-circle-318"/>
          <p:cNvSpPr/>
          <p:nvPr/>
        </p:nvSpPr>
        <p:spPr>
          <a:xfrm>
            <a:off x="822960" y="3520440"/>
            <a:ext cx="548640" cy="548640"/>
          </a:xfrm>
          <a:prstGeom prst="ellipse">
            <a:avLst/>
          </a:prstGeom>
          <a:solidFill>
            <a:schemeClr val="accent1"/>
          </a:solidFill>
          <a:ln/>
        </p:spPr>
      </p:sp>
      <p:sp>
        <p:nvSpPr>
          <p:cNvPr id="10" name="icon-login-319"/>
          <p:cNvSpPr/>
          <p:nvPr/>
        </p:nvSpPr>
        <p:spPr>
          <a:xfrm>
            <a:off x="954634" y="3652114"/>
            <a:ext cx="285293" cy="285293"/>
          </a:xfrm>
          <a:custGeom>
            <a:avLst/>
            <a:gdLst/>
            <a:ahLst/>
            <a:cxnLst/>
            <a:rect l="l" t="t" r="r" b="b"/>
            <a:pathLst>
              <a:path w="285293" h="285293">
                <a:moveTo>
                  <a:pt x="178308" y="35662"/>
                </a:moveTo>
                <a:lnTo>
                  <a:pt x="225857" y="35662"/>
                </a:lnTo>
                <a:cubicBezTo>
                  <a:pt x="239024" y="35662"/>
                  <a:pt x="249631" y="46269"/>
                  <a:pt x="249631" y="59436"/>
                </a:cubicBezTo>
                <a:lnTo>
                  <a:pt x="249631" y="225857"/>
                </a:lnTo>
                <a:cubicBezTo>
                  <a:pt x="249631" y="239024"/>
                  <a:pt x="239024" y="249631"/>
                  <a:pt x="225857" y="249631"/>
                </a:cubicBezTo>
                <a:lnTo>
                  <a:pt x="178308" y="249631"/>
                </a:lnTo>
                <a:moveTo>
                  <a:pt x="118872" y="202082"/>
                </a:moveTo>
                <a:lnTo>
                  <a:pt x="178308" y="142646"/>
                </a:lnTo>
                <a:lnTo>
                  <a:pt x="118872" y="83210"/>
                </a:lnTo>
                <a:moveTo>
                  <a:pt x="178308" y="142646"/>
                </a:moveTo>
                <a:lnTo>
                  <a:pt x="35662" y="142646"/>
                </a:lnTo>
              </a:path>
            </a:pathLst>
          </a:custGeom>
          <a:noFill/>
          <a:ln w="23749" cap="rnd">
            <a:solidFill>
              <a:schemeClr val="bg1"/>
            </a:solidFill>
            <a:prstDash val="solid"/>
            <a:round/>
          </a:ln>
        </p:spPr>
      </p:sp>
      <p:sp>
        <p:nvSpPr>
          <p:cNvPr id="11" name="card-title-320"/>
          <p:cNvSpPr txBox="1"/>
          <p:nvPr/>
        </p:nvSpPr>
        <p:spPr>
          <a:xfrm>
            <a:off x="1554480" y="3520440"/>
            <a:ext cx="237744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Open WebAppUrl</a:t>
            </a:r>
            <a:endParaRPr lang="en-US" sz="1700" dirty="0"/>
          </a:p>
        </p:txBody>
      </p:sp>
      <p:sp>
        <p:nvSpPr>
          <p:cNvPr id="12" name="card-body-321"/>
          <p:cNvSpPr txBox="1"/>
          <p:nvPr/>
        </p:nvSpPr>
        <p:spPr>
          <a:xfrm>
            <a:off x="822960" y="4206240"/>
            <a:ext cx="3108960" cy="82296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Sign in as initialAdminEmail with the emailed temporary password; set a new one</a:t>
            </a:r>
            <a:endParaRPr lang="en-US" sz="1400" dirty="0"/>
          </a:p>
        </p:txBody>
      </p:sp>
      <p:sp>
        <p:nvSpPr>
          <p:cNvPr id="13" name="card-322"/>
          <p:cNvSpPr/>
          <p:nvPr/>
        </p:nvSpPr>
        <p:spPr>
          <a:xfrm>
            <a:off x="4288536" y="3246120"/>
            <a:ext cx="3611880" cy="1965960"/>
          </a:xfrm>
          <a:prstGeom prst="roundRect">
            <a:avLst>
              <a:gd name="adj" fmla="val 4651"/>
            </a:avLst>
          </a:prstGeom>
          <a:solidFill>
            <a:schemeClr val="bg2"/>
          </a:solidFill>
          <a:ln/>
        </p:spPr>
      </p:sp>
      <p:sp>
        <p:nvSpPr>
          <p:cNvPr id="14" name="icon-circle-323"/>
          <p:cNvSpPr/>
          <p:nvPr/>
        </p:nvSpPr>
        <p:spPr>
          <a:xfrm>
            <a:off x="4562856" y="3520440"/>
            <a:ext cx="548640" cy="548640"/>
          </a:xfrm>
          <a:prstGeom prst="ellipse">
            <a:avLst/>
          </a:prstGeom>
          <a:solidFill>
            <a:schemeClr val="accent2"/>
          </a:solidFill>
          <a:ln/>
        </p:spPr>
      </p:sp>
      <p:sp>
        <p:nvSpPr>
          <p:cNvPr id="15" name="icon-shieldcheck-324"/>
          <p:cNvSpPr/>
          <p:nvPr/>
        </p:nvSpPr>
        <p:spPr>
          <a:xfrm>
            <a:off x="4694530" y="3652114"/>
            <a:ext cx="285293" cy="285293"/>
          </a:xfrm>
          <a:custGeom>
            <a:avLst/>
            <a:gdLst/>
            <a:ahLst/>
            <a:cxnLst/>
            <a:rect l="l" t="t" r="r" b="b"/>
            <a:pathLst>
              <a:path w="285293" h="285293">
                <a:moveTo>
                  <a:pt x="237744" y="154534"/>
                </a:moveTo>
                <a:cubicBezTo>
                  <a:pt x="237744" y="213970"/>
                  <a:pt x="196139" y="243688"/>
                  <a:pt x="146670" y="260878"/>
                </a:cubicBezTo>
                <a:cubicBezTo>
                  <a:pt x="144109" y="261793"/>
                  <a:pt x="141275" y="261793"/>
                  <a:pt x="138714" y="260787"/>
                </a:cubicBezTo>
                <a:cubicBezTo>
                  <a:pt x="89154" y="243688"/>
                  <a:pt x="47549" y="213970"/>
                  <a:pt x="47549" y="154534"/>
                </a:cubicBezTo>
                <a:lnTo>
                  <a:pt x="47549" y="71323"/>
                </a:lnTo>
                <a:cubicBezTo>
                  <a:pt x="47549" y="64740"/>
                  <a:pt x="52852" y="59436"/>
                  <a:pt x="59436" y="59436"/>
                </a:cubicBezTo>
                <a:cubicBezTo>
                  <a:pt x="83210" y="59436"/>
                  <a:pt x="112928" y="45171"/>
                  <a:pt x="133594" y="27066"/>
                </a:cubicBezTo>
                <a:cubicBezTo>
                  <a:pt x="138806" y="22677"/>
                  <a:pt x="146487" y="22677"/>
                  <a:pt x="151699" y="27066"/>
                </a:cubicBezTo>
                <a:cubicBezTo>
                  <a:pt x="172456" y="45263"/>
                  <a:pt x="202082" y="59436"/>
                  <a:pt x="225857" y="59436"/>
                </a:cubicBezTo>
                <a:cubicBezTo>
                  <a:pt x="232440" y="59436"/>
                  <a:pt x="237744" y="64740"/>
                  <a:pt x="237744" y="71323"/>
                </a:cubicBezTo>
                <a:close/>
                <a:moveTo>
                  <a:pt x="106985" y="142646"/>
                </a:moveTo>
                <a:lnTo>
                  <a:pt x="130759" y="166421"/>
                </a:lnTo>
                <a:lnTo>
                  <a:pt x="178308" y="118872"/>
                </a:lnTo>
              </a:path>
            </a:pathLst>
          </a:custGeom>
          <a:noFill/>
          <a:ln w="23749" cap="rnd">
            <a:solidFill>
              <a:schemeClr val="bg1"/>
            </a:solidFill>
            <a:prstDash val="solid"/>
            <a:round/>
          </a:ln>
        </p:spPr>
      </p:sp>
      <p:sp>
        <p:nvSpPr>
          <p:cNvPr id="16" name="card-title-325"/>
          <p:cNvSpPr txBox="1"/>
          <p:nvPr/>
        </p:nvSpPr>
        <p:spPr>
          <a:xfrm>
            <a:off x="5294376" y="3520440"/>
            <a:ext cx="237744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Admin is automatic</a:t>
            </a:r>
            <a:endParaRPr lang="en-US" sz="1700" dirty="0"/>
          </a:p>
        </p:txBody>
      </p:sp>
      <p:sp>
        <p:nvSpPr>
          <p:cNvPr id="17" name="card-body-326"/>
          <p:cNvSpPr txBox="1"/>
          <p:nvPr/>
        </p:nvSpPr>
        <p:spPr>
          <a:xfrm>
            <a:off x="4562856" y="4206240"/>
            <a:ext cx="3108960" cy="82296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That user is in the Cognito Admin group, pre-mapped to platform-admin</a:t>
            </a:r>
            <a:endParaRPr lang="en-US" sz="1400" dirty="0"/>
          </a:p>
        </p:txBody>
      </p:sp>
      <p:sp>
        <p:nvSpPr>
          <p:cNvPr id="18" name="card-327"/>
          <p:cNvSpPr/>
          <p:nvPr/>
        </p:nvSpPr>
        <p:spPr>
          <a:xfrm>
            <a:off x="8028432" y="3246120"/>
            <a:ext cx="3611880" cy="1965960"/>
          </a:xfrm>
          <a:prstGeom prst="roundRect">
            <a:avLst>
              <a:gd name="adj" fmla="val 4651"/>
            </a:avLst>
          </a:prstGeom>
          <a:solidFill>
            <a:schemeClr val="bg2"/>
          </a:solidFill>
          <a:ln/>
        </p:spPr>
      </p:sp>
      <p:sp>
        <p:nvSpPr>
          <p:cNvPr id="19" name="icon-circle-328"/>
          <p:cNvSpPr/>
          <p:nvPr/>
        </p:nvSpPr>
        <p:spPr>
          <a:xfrm>
            <a:off x="8302752" y="3520440"/>
            <a:ext cx="548640" cy="548640"/>
          </a:xfrm>
          <a:prstGeom prst="ellipse">
            <a:avLst/>
          </a:prstGeom>
          <a:solidFill>
            <a:schemeClr val="accent2"/>
          </a:solidFill>
          <a:ln/>
        </p:spPr>
      </p:sp>
      <p:sp>
        <p:nvSpPr>
          <p:cNvPr id="20" name="icon-folderplus-329"/>
          <p:cNvSpPr/>
          <p:nvPr/>
        </p:nvSpPr>
        <p:spPr>
          <a:xfrm>
            <a:off x="8434426" y="3652114"/>
            <a:ext cx="285293" cy="285293"/>
          </a:xfrm>
          <a:custGeom>
            <a:avLst/>
            <a:gdLst/>
            <a:ahLst/>
            <a:cxnLst/>
            <a:rect l="l" t="t" r="r" b="b"/>
            <a:pathLst>
              <a:path w="285293" h="285293">
                <a:moveTo>
                  <a:pt x="142646" y="118872"/>
                </a:moveTo>
                <a:lnTo>
                  <a:pt x="142646" y="190195"/>
                </a:lnTo>
                <a:moveTo>
                  <a:pt x="106985" y="154534"/>
                </a:moveTo>
                <a:lnTo>
                  <a:pt x="178308" y="154534"/>
                </a:lnTo>
                <a:moveTo>
                  <a:pt x="237744" y="237744"/>
                </a:moveTo>
                <a:cubicBezTo>
                  <a:pt x="250911" y="237744"/>
                  <a:pt x="261518" y="227137"/>
                  <a:pt x="261518" y="213970"/>
                </a:cubicBezTo>
                <a:lnTo>
                  <a:pt x="261518" y="95098"/>
                </a:lnTo>
                <a:cubicBezTo>
                  <a:pt x="261518" y="81930"/>
                  <a:pt x="250911" y="71323"/>
                  <a:pt x="237744" y="71323"/>
                </a:cubicBezTo>
                <a:lnTo>
                  <a:pt x="143835" y="71323"/>
                </a:lnTo>
                <a:cubicBezTo>
                  <a:pt x="135788" y="71415"/>
                  <a:pt x="128199" y="67391"/>
                  <a:pt x="123718" y="60625"/>
                </a:cubicBezTo>
                <a:lnTo>
                  <a:pt x="114117" y="46360"/>
                </a:lnTo>
                <a:cubicBezTo>
                  <a:pt x="109728" y="39685"/>
                  <a:pt x="102230" y="35662"/>
                  <a:pt x="94275" y="35662"/>
                </a:cubicBezTo>
                <a:lnTo>
                  <a:pt x="47549" y="35662"/>
                </a:lnTo>
                <a:cubicBezTo>
                  <a:pt x="34381" y="35662"/>
                  <a:pt x="23774" y="46269"/>
                  <a:pt x="23774" y="59436"/>
                </a:cubicBezTo>
                <a:lnTo>
                  <a:pt x="23774" y="213970"/>
                </a:lnTo>
                <a:cubicBezTo>
                  <a:pt x="23774" y="227137"/>
                  <a:pt x="34381" y="237744"/>
                  <a:pt x="47549" y="237744"/>
                </a:cubicBezTo>
                <a:close/>
              </a:path>
            </a:pathLst>
          </a:custGeom>
          <a:noFill/>
          <a:ln w="23749" cap="rnd">
            <a:solidFill>
              <a:schemeClr val="bg1"/>
            </a:solidFill>
            <a:prstDash val="solid"/>
            <a:round/>
          </a:ln>
        </p:spPr>
      </p:sp>
      <p:sp>
        <p:nvSpPr>
          <p:cNvPr id="21" name="card-title-330"/>
          <p:cNvSpPr txBox="1"/>
          <p:nvPr/>
        </p:nvSpPr>
        <p:spPr>
          <a:xfrm>
            <a:off x="9034272" y="3520440"/>
            <a:ext cx="237744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Add teammates</a:t>
            </a:r>
            <a:endParaRPr lang="en-US" sz="1700" dirty="0"/>
          </a:p>
        </p:txBody>
      </p:sp>
      <p:sp>
        <p:nvSpPr>
          <p:cNvPr id="22" name="card-body-331"/>
          <p:cNvSpPr txBox="1"/>
          <p:nvPr/>
        </p:nvSpPr>
        <p:spPr>
          <a:xfrm>
            <a:off x="8302752" y="4206240"/>
            <a:ext cx="3108960" cy="82296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admin-create-user, then add them to a group and grant roles</a:t>
            </a:r>
            <a:endParaRPr lang="en-US" sz="1400" dirty="0"/>
          </a:p>
        </p:txBody>
      </p:sp>
      <p:sp>
        <p:nvSpPr>
          <p:cNvPr id="23" name="code-bg-332"/>
          <p:cNvSpPr/>
          <p:nvPr/>
        </p:nvSpPr>
        <p:spPr>
          <a:xfrm>
            <a:off x="548640" y="5394960"/>
            <a:ext cx="11091672" cy="822960"/>
          </a:xfrm>
          <a:prstGeom prst="roundRect">
            <a:avLst>
              <a:gd name="adj" fmla="val 8889"/>
            </a:avLst>
          </a:prstGeom>
          <a:solidFill>
            <a:schemeClr val="tx1"/>
          </a:solidFill>
          <a:ln/>
        </p:spPr>
      </p:sp>
      <p:sp>
        <p:nvSpPr>
          <p:cNvPr id="24" name="code-333"/>
          <p:cNvSpPr txBox="1"/>
          <p:nvPr/>
        </p:nvSpPr>
        <p:spPr>
          <a:xfrm>
            <a:off x="777240" y="5532120"/>
            <a:ext cx="10634472" cy="548640"/>
          </a:xfrm>
          <a:prstGeom prst="rect">
            <a:avLst/>
          </a:prstGeom>
          <a:noFill/>
          <a:ln/>
        </p:spPr>
        <p:txBody>
          <a:bodyPr wrap="square" lIns="0" tIns="0" rIns="0" bIns="0" rtlCol="0" anchor="t"/>
          <a:lstStyle/>
          <a:p>
            <a:pPr indent="0" marL="0">
              <a:spcAft>
                <a:spcPts val="300"/>
              </a:spcAft>
              <a:buNone/>
            </a:pPr>
            <a:r>
              <a:rPr lang="en-US" sz="1200" dirty="0">
                <a:solidFill>
                  <a:schemeClr val="bg2"/>
                </a:solidFill>
                <a:latin typeface="Courier New" pitchFamily="34" charset="0"/>
                <a:ea typeface="Courier New" pitchFamily="34" charset="-122"/>
                <a:cs typeface="Courier New" pitchFamily="34" charset="-120"/>
              </a:rPr>
              <a:t>aws cognito-idp admin-create-user --user-pool-id &lt;UserPoolId&gt; --username alice@co.com --user-attributes Name=email,Value=alice@co.com</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141732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PHASE 4 · GO LIVE</a:t>
            </a:r>
            <a:endParaRPr lang="en-US" sz="1200" dirty="0"/>
          </a:p>
        </p:txBody>
      </p:sp>
      <p:sp>
        <p:nvSpPr>
          <p:cNvPr id="3" name="Text 0"/>
          <p:cNvSpPr/>
          <p:nvPr>
            <p:ph idx="101" type="title" hasCustomPrompt="1"/>
          </p:nvPr>
        </p:nvSpPr>
        <p:spPr>
          <a:xfrm>
            <a:off x="1417320" y="640080"/>
            <a:ext cx="10222992" cy="685800"/>
          </a:xfrm>
          <a:prstGeom prst="rect">
            <a:avLst/>
          </a:prstGeom>
          <a:noFill/>
          <a:ln/>
        </p:spPr>
        <p:txBody>
          <a:bodyPr wrap="square" lIns="0" tIns="0" rIns="0" bIns="0" rtlCol="0" anchor="ctr"/>
          <a:lstStyle/>
          <a:p>
            <a:pPr algn="l" indent="0" marL="0">
              <a:buNone/>
            </a:pPr>
            <a:r>
              <a:rPr lang="en-US" sz="3400" b="1" dirty="0">
                <a:solidFill>
                  <a:schemeClr val="tx1"/>
                </a:solidFill>
              </a:rPr>
              <a:t>Onboard a first namespace and source</a:t>
            </a:r>
            <a:endParaRPr lang="en-US" sz="3400" dirty="0"/>
          </a:p>
        </p:txBody>
      </p:sp>
      <p:sp>
        <p:nvSpPr>
          <p:cNvPr id="4" name="step-badge-334"/>
          <p:cNvSpPr/>
          <p:nvPr/>
        </p:nvSpPr>
        <p:spPr>
          <a:xfrm>
            <a:off x="548640" y="566928"/>
            <a:ext cx="713232" cy="713232"/>
          </a:xfrm>
          <a:prstGeom prst="ellipse">
            <a:avLst/>
          </a:prstGeom>
          <a:solidFill>
            <a:schemeClr val="accent1"/>
          </a:solidFill>
          <a:ln/>
        </p:spPr>
      </p:sp>
      <p:sp>
        <p:nvSpPr>
          <p:cNvPr id="5" name="step-number-335"/>
          <p:cNvSpPr txBox="1"/>
          <p:nvPr/>
        </p:nvSpPr>
        <p:spPr>
          <a:xfrm>
            <a:off x="548640" y="566928"/>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latin typeface="Arial" pitchFamily="34" charset="0"/>
                <a:ea typeface="Arial" pitchFamily="34" charset="-122"/>
                <a:cs typeface="Arial" pitchFamily="34" charset="-120"/>
              </a:rPr>
              <a:t>11</a:t>
            </a:r>
            <a:endParaRPr lang="en-US" sz="2600" dirty="0"/>
          </a:p>
        </p:txBody>
      </p:sp>
      <p:sp>
        <p:nvSpPr>
          <p:cNvPr id="6" name="flow-card-336"/>
          <p:cNvSpPr/>
          <p:nvPr/>
        </p:nvSpPr>
        <p:spPr>
          <a:xfrm>
            <a:off x="548640" y="1600200"/>
            <a:ext cx="1719072" cy="2926080"/>
          </a:xfrm>
          <a:prstGeom prst="roundRect">
            <a:avLst>
              <a:gd name="adj" fmla="val 5319"/>
            </a:avLst>
          </a:prstGeom>
          <a:solidFill>
            <a:schemeClr val="bg2"/>
          </a:solidFill>
          <a:ln/>
        </p:spPr>
      </p:sp>
      <p:sp>
        <p:nvSpPr>
          <p:cNvPr id="7" name="icon-circle-337"/>
          <p:cNvSpPr/>
          <p:nvPr/>
        </p:nvSpPr>
        <p:spPr>
          <a:xfrm>
            <a:off x="1088136" y="1828800"/>
            <a:ext cx="640080" cy="640080"/>
          </a:xfrm>
          <a:prstGeom prst="ellipse">
            <a:avLst/>
          </a:prstGeom>
          <a:solidFill>
            <a:schemeClr val="accent2"/>
          </a:solidFill>
          <a:ln/>
        </p:spPr>
      </p:sp>
      <p:sp>
        <p:nvSpPr>
          <p:cNvPr id="8" name="icon-folderplus-338"/>
          <p:cNvSpPr/>
          <p:nvPr/>
        </p:nvSpPr>
        <p:spPr>
          <a:xfrm>
            <a:off x="1241755" y="1982419"/>
            <a:ext cx="332842" cy="332842"/>
          </a:xfrm>
          <a:custGeom>
            <a:avLst/>
            <a:gdLst/>
            <a:ahLst/>
            <a:cxnLst/>
            <a:rect l="l" t="t" r="r" b="b"/>
            <a:pathLst>
              <a:path w="332842" h="332842">
                <a:moveTo>
                  <a:pt x="166421" y="138714"/>
                </a:moveTo>
                <a:lnTo>
                  <a:pt x="166421" y="221925"/>
                </a:lnTo>
                <a:moveTo>
                  <a:pt x="124816" y="180320"/>
                </a:moveTo>
                <a:lnTo>
                  <a:pt x="208026" y="180320"/>
                </a:lnTo>
                <a:moveTo>
                  <a:pt x="277338" y="277338"/>
                </a:moveTo>
                <a:cubicBezTo>
                  <a:pt x="292699" y="277338"/>
                  <a:pt x="305135" y="264993"/>
                  <a:pt x="305135" y="249631"/>
                </a:cubicBezTo>
                <a:lnTo>
                  <a:pt x="305135" y="110917"/>
                </a:lnTo>
                <a:cubicBezTo>
                  <a:pt x="305135" y="95646"/>
                  <a:pt x="292699" y="83210"/>
                  <a:pt x="277338" y="83210"/>
                </a:cubicBezTo>
                <a:lnTo>
                  <a:pt x="167792" y="83210"/>
                </a:lnTo>
                <a:cubicBezTo>
                  <a:pt x="158374" y="83302"/>
                  <a:pt x="149596" y="78638"/>
                  <a:pt x="144384" y="70775"/>
                </a:cubicBezTo>
                <a:lnTo>
                  <a:pt x="133137" y="54132"/>
                </a:lnTo>
                <a:cubicBezTo>
                  <a:pt x="128016" y="46269"/>
                  <a:pt x="119329" y="41605"/>
                  <a:pt x="110002" y="41605"/>
                </a:cubicBezTo>
                <a:lnTo>
                  <a:pt x="55504" y="41605"/>
                </a:lnTo>
                <a:cubicBezTo>
                  <a:pt x="40142" y="41605"/>
                  <a:pt x="27706" y="54041"/>
                  <a:pt x="27706" y="69312"/>
                </a:cubicBezTo>
                <a:lnTo>
                  <a:pt x="27706" y="249631"/>
                </a:lnTo>
                <a:cubicBezTo>
                  <a:pt x="27706" y="264993"/>
                  <a:pt x="40142" y="277338"/>
                  <a:pt x="55504" y="277338"/>
                </a:cubicBezTo>
                <a:close/>
              </a:path>
            </a:pathLst>
          </a:custGeom>
          <a:noFill/>
          <a:ln w="27686" cap="rnd">
            <a:solidFill>
              <a:schemeClr val="bg1"/>
            </a:solidFill>
            <a:prstDash val="solid"/>
            <a:round/>
          </a:ln>
        </p:spPr>
      </p:sp>
      <p:sp>
        <p:nvSpPr>
          <p:cNvPr id="9" name="flow-title-339"/>
          <p:cNvSpPr txBox="1"/>
          <p:nvPr/>
        </p:nvSpPr>
        <p:spPr>
          <a:xfrm>
            <a:off x="658368" y="2560320"/>
            <a:ext cx="1499616"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Create namespace</a:t>
            </a:r>
            <a:endParaRPr lang="en-US" sz="1500" dirty="0"/>
          </a:p>
        </p:txBody>
      </p:sp>
      <p:sp>
        <p:nvSpPr>
          <p:cNvPr id="10" name="flow-body-340"/>
          <p:cNvSpPr txBox="1"/>
          <p:nvPr/>
        </p:nvSpPr>
        <p:spPr>
          <a:xfrm>
            <a:off x="685800" y="3154680"/>
            <a:ext cx="1444752" cy="1280160"/>
          </a:xfrm>
          <a:prstGeom prst="rect">
            <a:avLst/>
          </a:prstGeom>
          <a:noFill/>
          <a:ln/>
        </p:spPr>
        <p:txBody>
          <a:bodyPr wrap="square" lIns="0" tIns="0" rIns="0" bIns="0" rtlCol="0" anchor="t"/>
          <a:lstStyle/>
          <a:p>
            <a:pPr algn="ctr" indent="0" marL="0">
              <a:buNone/>
            </a:pPr>
            <a:r>
              <a:rPr lang="en-US" sz="1300" dirty="0">
                <a:solidFill>
                  <a:schemeClr val="tx2"/>
                </a:solidFill>
              </a:rPr>
              <a:t>Administration &gt; Namespaces. Creates DataZone project + Athena workgroup</a:t>
            </a:r>
            <a:endParaRPr lang="en-US" sz="1300" dirty="0"/>
          </a:p>
        </p:txBody>
      </p:sp>
      <p:sp>
        <p:nvSpPr>
          <p:cNvPr id="11" name="flow-card-341"/>
          <p:cNvSpPr/>
          <p:nvPr/>
        </p:nvSpPr>
        <p:spPr>
          <a:xfrm>
            <a:off x="2423160" y="1600200"/>
            <a:ext cx="1719072" cy="2926080"/>
          </a:xfrm>
          <a:prstGeom prst="roundRect">
            <a:avLst>
              <a:gd name="adj" fmla="val 5319"/>
            </a:avLst>
          </a:prstGeom>
          <a:solidFill>
            <a:schemeClr val="bg2"/>
          </a:solidFill>
          <a:ln/>
        </p:spPr>
      </p:sp>
      <p:sp>
        <p:nvSpPr>
          <p:cNvPr id="12" name="icon-circle-342"/>
          <p:cNvSpPr/>
          <p:nvPr/>
        </p:nvSpPr>
        <p:spPr>
          <a:xfrm>
            <a:off x="2962656" y="1828800"/>
            <a:ext cx="640080" cy="640080"/>
          </a:xfrm>
          <a:prstGeom prst="ellipse">
            <a:avLst/>
          </a:prstGeom>
          <a:solidFill>
            <a:schemeClr val="accent2"/>
          </a:solidFill>
          <a:ln/>
        </p:spPr>
      </p:sp>
      <p:sp>
        <p:nvSpPr>
          <p:cNvPr id="13" name="icon-tag-343"/>
          <p:cNvSpPr/>
          <p:nvPr/>
        </p:nvSpPr>
        <p:spPr>
          <a:xfrm>
            <a:off x="3116275" y="1982419"/>
            <a:ext cx="332842" cy="332842"/>
          </a:xfrm>
          <a:custGeom>
            <a:avLst/>
            <a:gdLst/>
            <a:ahLst/>
            <a:cxnLst/>
            <a:rect l="l" t="t" r="r" b="b"/>
            <a:pathLst>
              <a:path w="332842" h="332842">
                <a:moveTo>
                  <a:pt x="174559" y="35844"/>
                </a:moveTo>
                <a:cubicBezTo>
                  <a:pt x="169347" y="30632"/>
                  <a:pt x="162306" y="27706"/>
                  <a:pt x="154899" y="27706"/>
                </a:cubicBezTo>
                <a:lnTo>
                  <a:pt x="55504" y="27706"/>
                </a:lnTo>
                <a:cubicBezTo>
                  <a:pt x="40142" y="27706"/>
                  <a:pt x="27706" y="40142"/>
                  <a:pt x="27706" y="55504"/>
                </a:cubicBezTo>
                <a:lnTo>
                  <a:pt x="27706" y="154899"/>
                </a:lnTo>
                <a:cubicBezTo>
                  <a:pt x="27706" y="162306"/>
                  <a:pt x="30632" y="169347"/>
                  <a:pt x="35844" y="174559"/>
                </a:cubicBezTo>
                <a:lnTo>
                  <a:pt x="156545" y="295260"/>
                </a:lnTo>
                <a:cubicBezTo>
                  <a:pt x="169713" y="308336"/>
                  <a:pt x="190927" y="308336"/>
                  <a:pt x="204003" y="295260"/>
                </a:cubicBezTo>
                <a:lnTo>
                  <a:pt x="295260" y="204003"/>
                </a:lnTo>
                <a:cubicBezTo>
                  <a:pt x="308336" y="190927"/>
                  <a:pt x="308336" y="169713"/>
                  <a:pt x="295260" y="156545"/>
                </a:cubicBezTo>
                <a:close/>
                <a:moveTo>
                  <a:pt x="97109" y="104059"/>
                </a:moveTo>
                <a:cubicBezTo>
                  <a:pt x="97109" y="107808"/>
                  <a:pt x="100218" y="110917"/>
                  <a:pt x="104059" y="110917"/>
                </a:cubicBezTo>
                <a:cubicBezTo>
                  <a:pt x="107808" y="110917"/>
                  <a:pt x="110917" y="107808"/>
                  <a:pt x="110917" y="104059"/>
                </a:cubicBezTo>
                <a:cubicBezTo>
                  <a:pt x="110917" y="100218"/>
                  <a:pt x="107808" y="97109"/>
                  <a:pt x="104059" y="97109"/>
                </a:cubicBezTo>
                <a:cubicBezTo>
                  <a:pt x="100218" y="97109"/>
                  <a:pt x="97109" y="100218"/>
                  <a:pt x="97109" y="104059"/>
                </a:cubicBezTo>
                <a:close/>
              </a:path>
            </a:pathLst>
          </a:custGeom>
          <a:noFill/>
          <a:ln w="27686" cap="rnd">
            <a:solidFill>
              <a:schemeClr val="bg1"/>
            </a:solidFill>
            <a:prstDash val="solid"/>
            <a:round/>
          </a:ln>
        </p:spPr>
      </p:sp>
      <p:sp>
        <p:nvSpPr>
          <p:cNvPr id="14" name="flow-title-344"/>
          <p:cNvSpPr txBox="1"/>
          <p:nvPr/>
        </p:nvSpPr>
        <p:spPr>
          <a:xfrm>
            <a:off x="2532888" y="2560320"/>
            <a:ext cx="1499616"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Tag the data</a:t>
            </a:r>
            <a:endParaRPr lang="en-US" sz="1500" dirty="0"/>
          </a:p>
        </p:txBody>
      </p:sp>
      <p:sp>
        <p:nvSpPr>
          <p:cNvPr id="15" name="flow-body-345"/>
          <p:cNvSpPr txBox="1"/>
          <p:nvPr/>
        </p:nvSpPr>
        <p:spPr>
          <a:xfrm>
            <a:off x="2560320" y="3154680"/>
            <a:ext cx="1444752" cy="1280160"/>
          </a:xfrm>
          <a:prstGeom prst="rect">
            <a:avLst/>
          </a:prstGeom>
          <a:noFill/>
          <a:ln/>
        </p:spPr>
        <p:txBody>
          <a:bodyPr wrap="square" lIns="0" tIns="0" rIns="0" bIns="0" rtlCol="0" anchor="t"/>
          <a:lstStyle/>
          <a:p>
            <a:pPr algn="ctr" indent="0" marL="0">
              <a:buNone/>
            </a:pPr>
            <a:r>
              <a:rPr lang="en-US" sz="1300" dirty="0">
                <a:solidFill>
                  <a:schemeClr val="tx2"/>
                </a:solidFill>
              </a:rPr>
              <a:t>Tag the Glue DB (or JDBC secret) with coa:namespace</a:t>
            </a:r>
            <a:endParaRPr lang="en-US" sz="1300" dirty="0"/>
          </a:p>
        </p:txBody>
      </p:sp>
      <p:sp>
        <p:nvSpPr>
          <p:cNvPr id="16" name="flow-card-346"/>
          <p:cNvSpPr/>
          <p:nvPr/>
        </p:nvSpPr>
        <p:spPr>
          <a:xfrm>
            <a:off x="4297680" y="1600200"/>
            <a:ext cx="1719072" cy="2926080"/>
          </a:xfrm>
          <a:prstGeom prst="roundRect">
            <a:avLst>
              <a:gd name="adj" fmla="val 5319"/>
            </a:avLst>
          </a:prstGeom>
          <a:solidFill>
            <a:schemeClr val="bg2"/>
          </a:solidFill>
          <a:ln/>
        </p:spPr>
      </p:sp>
      <p:sp>
        <p:nvSpPr>
          <p:cNvPr id="17" name="icon-circle-347"/>
          <p:cNvSpPr/>
          <p:nvPr/>
        </p:nvSpPr>
        <p:spPr>
          <a:xfrm>
            <a:off x="4837176" y="1828800"/>
            <a:ext cx="640080" cy="640080"/>
          </a:xfrm>
          <a:prstGeom prst="ellipse">
            <a:avLst/>
          </a:prstGeom>
          <a:solidFill>
            <a:schemeClr val="accent2"/>
          </a:solidFill>
          <a:ln/>
        </p:spPr>
      </p:sp>
      <p:sp>
        <p:nvSpPr>
          <p:cNvPr id="18" name="icon-database-348"/>
          <p:cNvSpPr/>
          <p:nvPr/>
        </p:nvSpPr>
        <p:spPr>
          <a:xfrm>
            <a:off x="4990795" y="1982419"/>
            <a:ext cx="332842" cy="332842"/>
          </a:xfrm>
          <a:custGeom>
            <a:avLst/>
            <a:gdLst/>
            <a:ahLst/>
            <a:cxnLst/>
            <a:rect l="l" t="t" r="r" b="b"/>
            <a:pathLst>
              <a:path w="332842" h="332842">
                <a:moveTo>
                  <a:pt x="41605" y="69312"/>
                </a:moveTo>
                <a:cubicBezTo>
                  <a:pt x="41605" y="92354"/>
                  <a:pt x="97475" y="110917"/>
                  <a:pt x="166421" y="110917"/>
                </a:cubicBezTo>
                <a:cubicBezTo>
                  <a:pt x="235367" y="110917"/>
                  <a:pt x="291236" y="92354"/>
                  <a:pt x="291236" y="69312"/>
                </a:cubicBezTo>
                <a:cubicBezTo>
                  <a:pt x="291236" y="46360"/>
                  <a:pt x="235367" y="27706"/>
                  <a:pt x="166421" y="27706"/>
                </a:cubicBezTo>
                <a:cubicBezTo>
                  <a:pt x="97475" y="27706"/>
                  <a:pt x="41605" y="46360"/>
                  <a:pt x="41605" y="69312"/>
                </a:cubicBezTo>
                <a:close/>
                <a:moveTo>
                  <a:pt x="41605" y="69312"/>
                </a:moveTo>
                <a:lnTo>
                  <a:pt x="41605" y="263530"/>
                </a:lnTo>
                <a:cubicBezTo>
                  <a:pt x="41605" y="286482"/>
                  <a:pt x="97475" y="305135"/>
                  <a:pt x="166421" y="305135"/>
                </a:cubicBezTo>
                <a:cubicBezTo>
                  <a:pt x="235367" y="305135"/>
                  <a:pt x="291236" y="286482"/>
                  <a:pt x="291236" y="263530"/>
                </a:cubicBezTo>
                <a:lnTo>
                  <a:pt x="291236" y="69312"/>
                </a:lnTo>
                <a:moveTo>
                  <a:pt x="41605" y="166421"/>
                </a:moveTo>
                <a:cubicBezTo>
                  <a:pt x="41605" y="189372"/>
                  <a:pt x="97475" y="208026"/>
                  <a:pt x="166421" y="208026"/>
                </a:cubicBezTo>
                <a:cubicBezTo>
                  <a:pt x="235367" y="208026"/>
                  <a:pt x="291236" y="189372"/>
                  <a:pt x="291236" y="166421"/>
                </a:cubicBezTo>
              </a:path>
            </a:pathLst>
          </a:custGeom>
          <a:noFill/>
          <a:ln w="27686" cap="rnd">
            <a:solidFill>
              <a:schemeClr val="bg1"/>
            </a:solidFill>
            <a:prstDash val="solid"/>
            <a:round/>
          </a:ln>
        </p:spPr>
      </p:sp>
      <p:sp>
        <p:nvSpPr>
          <p:cNvPr id="19" name="flow-title-349"/>
          <p:cNvSpPr txBox="1"/>
          <p:nvPr/>
        </p:nvSpPr>
        <p:spPr>
          <a:xfrm>
            <a:off x="4407408" y="2560320"/>
            <a:ext cx="1499616"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Register source</a:t>
            </a:r>
            <a:endParaRPr lang="en-US" sz="1500" dirty="0"/>
          </a:p>
        </p:txBody>
      </p:sp>
      <p:sp>
        <p:nvSpPr>
          <p:cNvPr id="20" name="flow-body-350"/>
          <p:cNvSpPr txBox="1"/>
          <p:nvPr/>
        </p:nvSpPr>
        <p:spPr>
          <a:xfrm>
            <a:off x="4434840" y="3154680"/>
            <a:ext cx="1444752" cy="1280160"/>
          </a:xfrm>
          <a:prstGeom prst="rect">
            <a:avLst/>
          </a:prstGeom>
          <a:noFill/>
          <a:ln/>
        </p:spPr>
        <p:txBody>
          <a:bodyPr wrap="square" lIns="0" tIns="0" rIns="0" bIns="0" rtlCol="0" anchor="t"/>
          <a:lstStyle/>
          <a:p>
            <a:pPr algn="ctr" indent="0" marL="0">
              <a:buNone/>
            </a:pPr>
            <a:r>
              <a:rPr lang="en-US" sz="1300" dirty="0">
                <a:solidFill>
                  <a:schemeClr val="tx2"/>
                </a:solidFill>
              </a:rPr>
              <a:t>Glue, JDBC, Databricks or documents; scan + AI enrichment</a:t>
            </a:r>
            <a:endParaRPr lang="en-US" sz="1300" dirty="0"/>
          </a:p>
        </p:txBody>
      </p:sp>
      <p:sp>
        <p:nvSpPr>
          <p:cNvPr id="21" name="flow-card-351"/>
          <p:cNvSpPr/>
          <p:nvPr/>
        </p:nvSpPr>
        <p:spPr>
          <a:xfrm>
            <a:off x="6172200" y="1600200"/>
            <a:ext cx="1719072" cy="2926080"/>
          </a:xfrm>
          <a:prstGeom prst="roundRect">
            <a:avLst>
              <a:gd name="adj" fmla="val 5319"/>
            </a:avLst>
          </a:prstGeom>
          <a:solidFill>
            <a:schemeClr val="bg2"/>
          </a:solidFill>
          <a:ln/>
        </p:spPr>
      </p:sp>
      <p:sp>
        <p:nvSpPr>
          <p:cNvPr id="22" name="icon-circle-352"/>
          <p:cNvSpPr/>
          <p:nvPr/>
        </p:nvSpPr>
        <p:spPr>
          <a:xfrm>
            <a:off x="6711696" y="1828800"/>
            <a:ext cx="640080" cy="640080"/>
          </a:xfrm>
          <a:prstGeom prst="ellipse">
            <a:avLst/>
          </a:prstGeom>
          <a:solidFill>
            <a:schemeClr val="accent2"/>
          </a:solidFill>
          <a:ln/>
        </p:spPr>
      </p:sp>
      <p:sp>
        <p:nvSpPr>
          <p:cNvPr id="23" name="icon-checkcheck-353"/>
          <p:cNvSpPr/>
          <p:nvPr/>
        </p:nvSpPr>
        <p:spPr>
          <a:xfrm>
            <a:off x="6865315" y="1982419"/>
            <a:ext cx="332842" cy="332842"/>
          </a:xfrm>
          <a:custGeom>
            <a:avLst/>
            <a:gdLst/>
            <a:ahLst/>
            <a:cxnLst/>
            <a:rect l="l" t="t" r="r" b="b"/>
            <a:pathLst>
              <a:path w="332842" h="332842">
                <a:moveTo>
                  <a:pt x="249631" y="83210"/>
                </a:moveTo>
                <a:lnTo>
                  <a:pt x="97109" y="235732"/>
                </a:lnTo>
                <a:lnTo>
                  <a:pt x="27706" y="166421"/>
                </a:lnTo>
                <a:moveTo>
                  <a:pt x="305135" y="138714"/>
                </a:moveTo>
                <a:lnTo>
                  <a:pt x="201077" y="242682"/>
                </a:lnTo>
                <a:lnTo>
                  <a:pt x="180320" y="221925"/>
                </a:lnTo>
              </a:path>
            </a:pathLst>
          </a:custGeom>
          <a:noFill/>
          <a:ln w="27686" cap="rnd">
            <a:solidFill>
              <a:schemeClr val="bg1"/>
            </a:solidFill>
            <a:prstDash val="solid"/>
            <a:round/>
          </a:ln>
        </p:spPr>
      </p:sp>
      <p:sp>
        <p:nvSpPr>
          <p:cNvPr id="24" name="flow-title-354"/>
          <p:cNvSpPr txBox="1"/>
          <p:nvPr/>
        </p:nvSpPr>
        <p:spPr>
          <a:xfrm>
            <a:off x="6281928" y="2560320"/>
            <a:ext cx="1499616"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Review metadata</a:t>
            </a:r>
            <a:endParaRPr lang="en-US" sz="1500" dirty="0"/>
          </a:p>
        </p:txBody>
      </p:sp>
      <p:sp>
        <p:nvSpPr>
          <p:cNvPr id="25" name="flow-body-355"/>
          <p:cNvSpPr txBox="1"/>
          <p:nvPr/>
        </p:nvSpPr>
        <p:spPr>
          <a:xfrm>
            <a:off x="6309360" y="3154680"/>
            <a:ext cx="1444752" cy="1280160"/>
          </a:xfrm>
          <a:prstGeom prst="rect">
            <a:avLst/>
          </a:prstGeom>
          <a:noFill/>
          <a:ln/>
        </p:spPr>
        <p:txBody>
          <a:bodyPr wrap="square" lIns="0" tIns="0" rIns="0" bIns="0" rtlCol="0" anchor="t"/>
          <a:lstStyle/>
          <a:p>
            <a:pPr algn="ctr" indent="0" marL="0">
              <a:buNone/>
            </a:pPr>
            <a:r>
              <a:rPr lang="en-US" sz="1300" dirty="0">
                <a:solidFill>
                  <a:schemeClr val="tx2"/>
                </a:solidFill>
              </a:rPr>
              <a:t>Stewards approve tables, columns, keys</a:t>
            </a:r>
            <a:endParaRPr lang="en-US" sz="1300" dirty="0"/>
          </a:p>
        </p:txBody>
      </p:sp>
      <p:sp>
        <p:nvSpPr>
          <p:cNvPr id="26" name="flow-card-356"/>
          <p:cNvSpPr/>
          <p:nvPr/>
        </p:nvSpPr>
        <p:spPr>
          <a:xfrm>
            <a:off x="8046720" y="1600200"/>
            <a:ext cx="1719072" cy="2926080"/>
          </a:xfrm>
          <a:prstGeom prst="roundRect">
            <a:avLst>
              <a:gd name="adj" fmla="val 5319"/>
            </a:avLst>
          </a:prstGeom>
          <a:solidFill>
            <a:schemeClr val="bg2"/>
          </a:solidFill>
          <a:ln/>
        </p:spPr>
      </p:sp>
      <p:sp>
        <p:nvSpPr>
          <p:cNvPr id="27" name="icon-circle-357"/>
          <p:cNvSpPr/>
          <p:nvPr/>
        </p:nvSpPr>
        <p:spPr>
          <a:xfrm>
            <a:off x="8586216" y="1828800"/>
            <a:ext cx="640080" cy="640080"/>
          </a:xfrm>
          <a:prstGeom prst="ellipse">
            <a:avLst/>
          </a:prstGeom>
          <a:solidFill>
            <a:schemeClr val="accent2"/>
          </a:solidFill>
          <a:ln/>
        </p:spPr>
      </p:sp>
      <p:sp>
        <p:nvSpPr>
          <p:cNvPr id="28" name="icon-network-358"/>
          <p:cNvSpPr/>
          <p:nvPr/>
        </p:nvSpPr>
        <p:spPr>
          <a:xfrm>
            <a:off x="8739835" y="1982419"/>
            <a:ext cx="332842" cy="332842"/>
          </a:xfrm>
          <a:custGeom>
            <a:avLst/>
            <a:gdLst/>
            <a:ahLst/>
            <a:cxnLst/>
            <a:rect l="l" t="t" r="r" b="b"/>
            <a:pathLst>
              <a:path w="332842" h="332842">
                <a:moveTo>
                  <a:pt x="235732" y="221925"/>
                </a:moveTo>
                <a:lnTo>
                  <a:pt x="291236" y="221925"/>
                </a:lnTo>
                <a:cubicBezTo>
                  <a:pt x="298917" y="221925"/>
                  <a:pt x="305135" y="228143"/>
                  <a:pt x="305135" y="235732"/>
                </a:cubicBezTo>
                <a:lnTo>
                  <a:pt x="305135" y="291236"/>
                </a:lnTo>
                <a:cubicBezTo>
                  <a:pt x="305135" y="298917"/>
                  <a:pt x="298917" y="305135"/>
                  <a:pt x="291236" y="305135"/>
                </a:cubicBezTo>
                <a:lnTo>
                  <a:pt x="235732" y="305135"/>
                </a:lnTo>
                <a:cubicBezTo>
                  <a:pt x="228143" y="305135"/>
                  <a:pt x="221925" y="298917"/>
                  <a:pt x="221925" y="291236"/>
                </a:cubicBezTo>
                <a:lnTo>
                  <a:pt x="221925" y="235732"/>
                </a:lnTo>
                <a:cubicBezTo>
                  <a:pt x="221925" y="228143"/>
                  <a:pt x="228143" y="221925"/>
                  <a:pt x="235732" y="221925"/>
                </a:cubicBezTo>
                <a:close/>
                <a:moveTo>
                  <a:pt x="41605" y="221925"/>
                </a:moveTo>
                <a:lnTo>
                  <a:pt x="97109" y="221925"/>
                </a:lnTo>
                <a:cubicBezTo>
                  <a:pt x="104699" y="221925"/>
                  <a:pt x="110917" y="228143"/>
                  <a:pt x="110917" y="235732"/>
                </a:cubicBezTo>
                <a:lnTo>
                  <a:pt x="110917" y="291236"/>
                </a:lnTo>
                <a:cubicBezTo>
                  <a:pt x="110917" y="298917"/>
                  <a:pt x="104699" y="305135"/>
                  <a:pt x="97109" y="305135"/>
                </a:cubicBezTo>
                <a:lnTo>
                  <a:pt x="41605" y="305135"/>
                </a:lnTo>
                <a:cubicBezTo>
                  <a:pt x="33924" y="305135"/>
                  <a:pt x="27706" y="298917"/>
                  <a:pt x="27706" y="291236"/>
                </a:cubicBezTo>
                <a:lnTo>
                  <a:pt x="27706" y="235732"/>
                </a:lnTo>
                <a:cubicBezTo>
                  <a:pt x="27706" y="228143"/>
                  <a:pt x="33924" y="221925"/>
                  <a:pt x="41605" y="221925"/>
                </a:cubicBezTo>
                <a:close/>
                <a:moveTo>
                  <a:pt x="138714" y="27706"/>
                </a:moveTo>
                <a:lnTo>
                  <a:pt x="194127" y="27706"/>
                </a:lnTo>
                <a:cubicBezTo>
                  <a:pt x="201808" y="27706"/>
                  <a:pt x="208026" y="33924"/>
                  <a:pt x="208026" y="41605"/>
                </a:cubicBezTo>
                <a:lnTo>
                  <a:pt x="208026" y="97109"/>
                </a:lnTo>
                <a:cubicBezTo>
                  <a:pt x="208026" y="104699"/>
                  <a:pt x="201808" y="110917"/>
                  <a:pt x="194127" y="110917"/>
                </a:cubicBezTo>
                <a:lnTo>
                  <a:pt x="138714" y="110917"/>
                </a:lnTo>
                <a:cubicBezTo>
                  <a:pt x="131034" y="110917"/>
                  <a:pt x="124816" y="104699"/>
                  <a:pt x="124816" y="97109"/>
                </a:cubicBezTo>
                <a:lnTo>
                  <a:pt x="124816" y="41605"/>
                </a:lnTo>
                <a:cubicBezTo>
                  <a:pt x="124816" y="33924"/>
                  <a:pt x="131034" y="27706"/>
                  <a:pt x="138714" y="27706"/>
                </a:cubicBezTo>
                <a:close/>
                <a:moveTo>
                  <a:pt x="69312" y="221925"/>
                </a:moveTo>
                <a:lnTo>
                  <a:pt x="69312" y="180320"/>
                </a:lnTo>
                <a:cubicBezTo>
                  <a:pt x="69312" y="172639"/>
                  <a:pt x="75529" y="166421"/>
                  <a:pt x="83210" y="166421"/>
                </a:cubicBezTo>
                <a:lnTo>
                  <a:pt x="249631" y="166421"/>
                </a:lnTo>
                <a:cubicBezTo>
                  <a:pt x="257312" y="166421"/>
                  <a:pt x="263530" y="172639"/>
                  <a:pt x="263530" y="180320"/>
                </a:cubicBezTo>
                <a:lnTo>
                  <a:pt x="263530" y="221925"/>
                </a:lnTo>
                <a:moveTo>
                  <a:pt x="166421" y="166421"/>
                </a:moveTo>
                <a:lnTo>
                  <a:pt x="166421" y="110917"/>
                </a:lnTo>
              </a:path>
            </a:pathLst>
          </a:custGeom>
          <a:noFill/>
          <a:ln w="27686" cap="rnd">
            <a:solidFill>
              <a:schemeClr val="bg1"/>
            </a:solidFill>
            <a:prstDash val="solid"/>
            <a:round/>
          </a:ln>
        </p:spPr>
      </p:sp>
      <p:sp>
        <p:nvSpPr>
          <p:cNvPr id="29" name="flow-title-359"/>
          <p:cNvSpPr txBox="1"/>
          <p:nvPr/>
        </p:nvSpPr>
        <p:spPr>
          <a:xfrm>
            <a:off x="8156448" y="2560320"/>
            <a:ext cx="1499616"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Induce ontology</a:t>
            </a:r>
            <a:endParaRPr lang="en-US" sz="1500" dirty="0"/>
          </a:p>
        </p:txBody>
      </p:sp>
      <p:sp>
        <p:nvSpPr>
          <p:cNvPr id="30" name="flow-body-360"/>
          <p:cNvSpPr txBox="1"/>
          <p:nvPr/>
        </p:nvSpPr>
        <p:spPr>
          <a:xfrm>
            <a:off x="8183880" y="3154680"/>
            <a:ext cx="1444752" cy="1280160"/>
          </a:xfrm>
          <a:prstGeom prst="rect">
            <a:avLst/>
          </a:prstGeom>
          <a:noFill/>
          <a:ln/>
        </p:spPr>
        <p:txBody>
          <a:bodyPr wrap="square" lIns="0" tIns="0" rIns="0" bIns="0" rtlCol="0" anchor="t"/>
          <a:lstStyle/>
          <a:p>
            <a:pPr algn="ctr" indent="0" marL="0">
              <a:buNone/>
            </a:pPr>
            <a:r>
              <a:rPr lang="en-US" sz="1300" dirty="0">
                <a:solidFill>
                  <a:schemeClr val="tx2"/>
                </a:solidFill>
              </a:rPr>
              <a:t>Ontology &gt; Induction; grounding ENHANCED by default</a:t>
            </a:r>
            <a:endParaRPr lang="en-US" sz="1300" dirty="0"/>
          </a:p>
        </p:txBody>
      </p:sp>
      <p:sp>
        <p:nvSpPr>
          <p:cNvPr id="31" name="flow-card-361"/>
          <p:cNvSpPr/>
          <p:nvPr/>
        </p:nvSpPr>
        <p:spPr>
          <a:xfrm>
            <a:off x="9921240" y="1600200"/>
            <a:ext cx="1719072" cy="2926080"/>
          </a:xfrm>
          <a:prstGeom prst="roundRect">
            <a:avLst>
              <a:gd name="adj" fmla="val 5319"/>
            </a:avLst>
          </a:prstGeom>
          <a:solidFill>
            <a:schemeClr val="bg2"/>
          </a:solidFill>
          <a:ln/>
        </p:spPr>
      </p:sp>
      <p:sp>
        <p:nvSpPr>
          <p:cNvPr id="32" name="icon-circle-362"/>
          <p:cNvSpPr/>
          <p:nvPr/>
        </p:nvSpPr>
        <p:spPr>
          <a:xfrm>
            <a:off x="10460736" y="1828800"/>
            <a:ext cx="640080" cy="640080"/>
          </a:xfrm>
          <a:prstGeom prst="ellipse">
            <a:avLst/>
          </a:prstGeom>
          <a:solidFill>
            <a:schemeClr val="accent1"/>
          </a:solidFill>
          <a:ln/>
        </p:spPr>
      </p:sp>
      <p:sp>
        <p:nvSpPr>
          <p:cNvPr id="33" name="icon-messagessquare-363"/>
          <p:cNvSpPr/>
          <p:nvPr/>
        </p:nvSpPr>
        <p:spPr>
          <a:xfrm>
            <a:off x="10614355" y="1982419"/>
            <a:ext cx="332842" cy="332842"/>
          </a:xfrm>
          <a:custGeom>
            <a:avLst/>
            <a:gdLst/>
            <a:ahLst/>
            <a:cxnLst/>
            <a:rect l="l" t="t" r="r" b="b"/>
            <a:pathLst>
              <a:path w="332842" h="332842">
                <a:moveTo>
                  <a:pt x="194127" y="124816"/>
                </a:moveTo>
                <a:cubicBezTo>
                  <a:pt x="194127" y="140178"/>
                  <a:pt x="181783" y="152522"/>
                  <a:pt x="166421" y="152522"/>
                </a:cubicBezTo>
                <a:lnTo>
                  <a:pt x="83210" y="152522"/>
                </a:lnTo>
                <a:lnTo>
                  <a:pt x="27706" y="208026"/>
                </a:lnTo>
                <a:lnTo>
                  <a:pt x="27706" y="55504"/>
                </a:lnTo>
                <a:cubicBezTo>
                  <a:pt x="27706" y="40142"/>
                  <a:pt x="40142" y="27706"/>
                  <a:pt x="55504" y="27706"/>
                </a:cubicBezTo>
                <a:lnTo>
                  <a:pt x="166421" y="27706"/>
                </a:lnTo>
                <a:cubicBezTo>
                  <a:pt x="181783" y="27706"/>
                  <a:pt x="194127" y="40142"/>
                  <a:pt x="194127" y="55504"/>
                </a:cubicBezTo>
                <a:close/>
                <a:moveTo>
                  <a:pt x="249631" y="124816"/>
                </a:moveTo>
                <a:lnTo>
                  <a:pt x="277338" y="124816"/>
                </a:lnTo>
                <a:cubicBezTo>
                  <a:pt x="292699" y="124816"/>
                  <a:pt x="305135" y="137251"/>
                  <a:pt x="305135" y="152522"/>
                </a:cubicBezTo>
                <a:lnTo>
                  <a:pt x="305135" y="305135"/>
                </a:lnTo>
                <a:lnTo>
                  <a:pt x="249631" y="249631"/>
                </a:lnTo>
                <a:lnTo>
                  <a:pt x="166421" y="249631"/>
                </a:lnTo>
                <a:cubicBezTo>
                  <a:pt x="151059" y="249631"/>
                  <a:pt x="138714" y="237195"/>
                  <a:pt x="138714" y="221925"/>
                </a:cubicBezTo>
                <a:lnTo>
                  <a:pt x="138714" y="208026"/>
                </a:lnTo>
              </a:path>
            </a:pathLst>
          </a:custGeom>
          <a:noFill/>
          <a:ln w="27686" cap="rnd">
            <a:solidFill>
              <a:schemeClr val="bg1"/>
            </a:solidFill>
            <a:prstDash val="solid"/>
            <a:round/>
          </a:ln>
        </p:spPr>
      </p:sp>
      <p:sp>
        <p:nvSpPr>
          <p:cNvPr id="34" name="flow-title-364"/>
          <p:cNvSpPr txBox="1"/>
          <p:nvPr/>
        </p:nvSpPr>
        <p:spPr>
          <a:xfrm>
            <a:off x="10030968" y="2560320"/>
            <a:ext cx="1499616"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Query</a:t>
            </a:r>
            <a:endParaRPr lang="en-US" sz="1500" dirty="0"/>
          </a:p>
        </p:txBody>
      </p:sp>
      <p:sp>
        <p:nvSpPr>
          <p:cNvPr id="35" name="flow-body-365"/>
          <p:cNvSpPr txBox="1"/>
          <p:nvPr/>
        </p:nvSpPr>
        <p:spPr>
          <a:xfrm>
            <a:off x="10058400" y="3154680"/>
            <a:ext cx="1444752" cy="1280160"/>
          </a:xfrm>
          <a:prstGeom prst="rect">
            <a:avLst/>
          </a:prstGeom>
          <a:noFill/>
          <a:ln/>
        </p:spPr>
        <p:txBody>
          <a:bodyPr wrap="square" lIns="0" tIns="0" rIns="0" bIns="0" rtlCol="0" anchor="t"/>
          <a:lstStyle/>
          <a:p>
            <a:pPr algn="ctr" indent="0" marL="0">
              <a:buNone/>
            </a:pPr>
            <a:r>
              <a:rPr lang="en-US" sz="1300" dirty="0">
                <a:solidFill>
                  <a:schemeClr val="tx2"/>
                </a:solidFill>
              </a:rPr>
              <a:t>Web app, REST API or MCP clients</a:t>
            </a:r>
            <a:endParaRPr lang="en-US" sz="1300" dirty="0"/>
          </a:p>
        </p:txBody>
      </p:sp>
      <p:sp>
        <p:nvSpPr>
          <p:cNvPr id="36" name="code-bg-366"/>
          <p:cNvSpPr/>
          <p:nvPr/>
        </p:nvSpPr>
        <p:spPr>
          <a:xfrm>
            <a:off x="548640" y="4754880"/>
            <a:ext cx="11091672" cy="1417320"/>
          </a:xfrm>
          <a:prstGeom prst="roundRect">
            <a:avLst>
              <a:gd name="adj" fmla="val 5161"/>
            </a:avLst>
          </a:prstGeom>
          <a:solidFill>
            <a:schemeClr val="tx1"/>
          </a:solidFill>
          <a:ln/>
        </p:spPr>
      </p:sp>
      <p:sp>
        <p:nvSpPr>
          <p:cNvPr id="37" name="code-367"/>
          <p:cNvSpPr txBox="1"/>
          <p:nvPr/>
        </p:nvSpPr>
        <p:spPr>
          <a:xfrm>
            <a:off x="777240" y="4892040"/>
            <a:ext cx="10634472" cy="1143000"/>
          </a:xfrm>
          <a:prstGeom prst="rect">
            <a:avLst/>
          </a:prstGeom>
          <a:noFill/>
          <a:ln/>
        </p:spPr>
        <p:txBody>
          <a:bodyPr wrap="square" lIns="0" tIns="0" rIns="0" bIns="0" rtlCol="0" anchor="t"/>
          <a:lstStyle/>
          <a:p>
            <a:pPr indent="0" marL="0">
              <a:spcAft>
                <a:spcPts val="300"/>
              </a:spcAft>
              <a:buNone/>
            </a:pPr>
            <a:r>
              <a:rPr lang="en-US" sz="1200" dirty="0">
                <a:solidFill>
                  <a:schemeClr val="accent1"/>
                </a:solidFill>
                <a:latin typeface="Courier New" pitchFamily="34" charset="0"/>
                <a:ea typeface="Courier New" pitchFamily="34" charset="-122"/>
                <a:cs typeface="Courier New" pitchFamily="34" charset="-120"/>
              </a:rPr>
              <a:t># allow a namespace to catalog a Glue database (value: id, space-separated ids, or ALL)</a:t>
            </a:r>
            <a:endParaRPr lang="en-US" sz="1200" dirty="0"/>
          </a:p>
          <a:p>
            <a:pPr indent="0" marL="0">
              <a:spcAft>
                <a:spcPts val="300"/>
              </a:spcAft>
              <a:buNone/>
            </a:pPr>
            <a:r>
              <a:rPr lang="en-US" sz="1200" dirty="0">
                <a:solidFill>
                  <a:schemeClr val="bg2"/>
                </a:solidFill>
                <a:latin typeface="Courier New" pitchFamily="34" charset="0"/>
                <a:ea typeface="Courier New" pitchFamily="34" charset="-122"/>
                <a:cs typeface="Courier New" pitchFamily="34" charset="-120"/>
              </a:rPr>
              <a:t>aws glue tag-resource --resource-arn arn:aws:glue:us-east-1:&lt;acct&gt;:database/&lt;db&gt; \</a:t>
            </a:r>
            <a:endParaRPr lang="en-US" sz="1200" dirty="0"/>
          </a:p>
          <a:p>
            <a:pPr indent="0" marL="0">
              <a:spcAft>
                <a:spcPts val="300"/>
              </a:spcAft>
              <a:buNone/>
            </a:pPr>
            <a:r>
              <a:rPr lang="en-US" sz="1200" dirty="0">
                <a:solidFill>
                  <a:schemeClr val="bg2"/>
                </a:solidFill>
                <a:latin typeface="Courier New" pitchFamily="34" charset="0"/>
                <a:ea typeface="Courier New" pitchFamily="34" charset="-122"/>
                <a:cs typeface="Courier New" pitchFamily="34" charset="-120"/>
              </a:rPr>
              <a:t>  --tags-to-add '{"coa:namespace":"&lt;namespaceId&gt;"}'</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PHASE 4 · GO LIVE</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Optional add-ons and hardening</a:t>
            </a:r>
            <a:endParaRPr lang="en-US" sz="3400" dirty="0"/>
          </a:p>
        </p:txBody>
      </p:sp>
      <p:sp>
        <p:nvSpPr>
          <p:cNvPr id="4" name="card-368"/>
          <p:cNvSpPr/>
          <p:nvPr/>
        </p:nvSpPr>
        <p:spPr>
          <a:xfrm>
            <a:off x="548640" y="1554480"/>
            <a:ext cx="3611880" cy="3429000"/>
          </a:xfrm>
          <a:prstGeom prst="roundRect">
            <a:avLst>
              <a:gd name="adj" fmla="val 2667"/>
            </a:avLst>
          </a:prstGeom>
          <a:solidFill>
            <a:schemeClr val="bg2"/>
          </a:solidFill>
          <a:ln/>
        </p:spPr>
      </p:sp>
      <p:sp>
        <p:nvSpPr>
          <p:cNvPr id="5" name="icon-circle-369"/>
          <p:cNvSpPr/>
          <p:nvPr/>
        </p:nvSpPr>
        <p:spPr>
          <a:xfrm>
            <a:off x="822960" y="1828800"/>
            <a:ext cx="548640" cy="548640"/>
          </a:xfrm>
          <a:prstGeom prst="ellipse">
            <a:avLst/>
          </a:prstGeom>
          <a:solidFill>
            <a:schemeClr val="accent2"/>
          </a:solidFill>
          <a:ln/>
        </p:spPr>
      </p:sp>
      <p:sp>
        <p:nvSpPr>
          <p:cNvPr id="6" name="icon-plug-370"/>
          <p:cNvSpPr/>
          <p:nvPr/>
        </p:nvSpPr>
        <p:spPr>
          <a:xfrm>
            <a:off x="954634" y="1960474"/>
            <a:ext cx="285293" cy="285293"/>
          </a:xfrm>
          <a:custGeom>
            <a:avLst/>
            <a:gdLst/>
            <a:ahLst/>
            <a:cxnLst/>
            <a:rect l="l" t="t" r="r" b="b"/>
            <a:pathLst>
              <a:path w="285293" h="285293">
                <a:moveTo>
                  <a:pt x="142646" y="261518"/>
                </a:moveTo>
                <a:lnTo>
                  <a:pt x="142646" y="202082"/>
                </a:lnTo>
                <a:moveTo>
                  <a:pt x="106985" y="95098"/>
                </a:moveTo>
                <a:lnTo>
                  <a:pt x="106985" y="23774"/>
                </a:lnTo>
                <a:moveTo>
                  <a:pt x="178308" y="95098"/>
                </a:moveTo>
                <a:lnTo>
                  <a:pt x="178308" y="23774"/>
                </a:lnTo>
                <a:moveTo>
                  <a:pt x="213970" y="95098"/>
                </a:moveTo>
                <a:lnTo>
                  <a:pt x="213970" y="154534"/>
                </a:lnTo>
                <a:cubicBezTo>
                  <a:pt x="213970" y="180777"/>
                  <a:pt x="192664" y="202082"/>
                  <a:pt x="166421" y="202082"/>
                </a:cubicBezTo>
                <a:lnTo>
                  <a:pt x="118872" y="202082"/>
                </a:lnTo>
                <a:cubicBezTo>
                  <a:pt x="92629" y="202082"/>
                  <a:pt x="71323" y="180777"/>
                  <a:pt x="71323" y="154534"/>
                </a:cubicBezTo>
                <a:lnTo>
                  <a:pt x="71323" y="95098"/>
                </a:lnTo>
                <a:close/>
              </a:path>
            </a:pathLst>
          </a:custGeom>
          <a:noFill/>
          <a:ln w="23749" cap="rnd">
            <a:solidFill>
              <a:schemeClr val="bg1"/>
            </a:solidFill>
            <a:prstDash val="solid"/>
            <a:round/>
          </a:ln>
        </p:spPr>
      </p:sp>
      <p:sp>
        <p:nvSpPr>
          <p:cNvPr id="7" name="card-title-371"/>
          <p:cNvSpPr txBox="1"/>
          <p:nvPr/>
        </p:nvSpPr>
        <p:spPr>
          <a:xfrm>
            <a:off x="1554480" y="1828800"/>
            <a:ext cx="237744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Databricks connector</a:t>
            </a:r>
            <a:endParaRPr lang="en-US" sz="1700" dirty="0"/>
          </a:p>
        </p:txBody>
      </p:sp>
      <p:sp>
        <p:nvSpPr>
          <p:cNvPr id="8" name="card-body-372"/>
          <p:cNvSpPr txBox="1"/>
          <p:nvPr/>
        </p:nvSpPr>
        <p:spPr>
          <a:xfrm>
            <a:off x="822960" y="2514600"/>
            <a:ext cx="3108960"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Deployed automatically after the platform by make deploy-dev</a:t>
            </a:r>
            <a:endParaRPr lang="en-US" sz="1400" dirty="0"/>
          </a:p>
          <a:p>
            <a:pPr marL="177800" indent="-177800">
              <a:spcAft>
                <a:spcPts val="600"/>
              </a:spcAft>
              <a:buSzPct val="100000"/>
              <a:buChar char="•"/>
            </a:pPr>
            <a:r>
              <a:rPr lang="en-US" sz="1400" dirty="0">
                <a:solidFill>
                  <a:schemeClr val="tx2"/>
                </a:solidFill>
              </a:rPr>
              <a:t>Redeploy alone: make deploy-databricks-connector</a:t>
            </a:r>
            <a:endParaRPr lang="en-US" sz="1400" dirty="0"/>
          </a:p>
          <a:p>
            <a:pPr marL="177800" indent="-177800">
              <a:spcAft>
                <a:spcPts val="600"/>
              </a:spcAft>
              <a:buSzPct val="100000"/>
              <a:buChar char="•"/>
            </a:pPr>
            <a:r>
              <a:rPr lang="en-US" sz="1400" dirty="0">
                <a:solidFill>
                  <a:schemeClr val="tx2"/>
                </a:solidFill>
              </a:rPr>
              <a:t>Save the execution-role ARN it prints; source owners trust it</a:t>
            </a:r>
            <a:endParaRPr lang="en-US" sz="1400" dirty="0"/>
          </a:p>
        </p:txBody>
      </p:sp>
      <p:sp>
        <p:nvSpPr>
          <p:cNvPr id="9" name="card-373"/>
          <p:cNvSpPr/>
          <p:nvPr/>
        </p:nvSpPr>
        <p:spPr>
          <a:xfrm>
            <a:off x="4288536" y="1554480"/>
            <a:ext cx="3611880" cy="3429000"/>
          </a:xfrm>
          <a:prstGeom prst="roundRect">
            <a:avLst>
              <a:gd name="adj" fmla="val 2667"/>
            </a:avLst>
          </a:prstGeom>
          <a:solidFill>
            <a:schemeClr val="bg2"/>
          </a:solidFill>
          <a:ln/>
        </p:spPr>
      </p:sp>
      <p:sp>
        <p:nvSpPr>
          <p:cNvPr id="10" name="icon-circle-374"/>
          <p:cNvSpPr/>
          <p:nvPr/>
        </p:nvSpPr>
        <p:spPr>
          <a:xfrm>
            <a:off x="4562856" y="1828800"/>
            <a:ext cx="548640" cy="548640"/>
          </a:xfrm>
          <a:prstGeom prst="ellipse">
            <a:avLst/>
          </a:prstGeom>
          <a:solidFill>
            <a:schemeClr val="accent1"/>
          </a:solidFill>
          <a:ln/>
        </p:spPr>
      </p:sp>
      <p:sp>
        <p:nvSpPr>
          <p:cNvPr id="11" name="icon-bot-375"/>
          <p:cNvSpPr/>
          <p:nvPr/>
        </p:nvSpPr>
        <p:spPr>
          <a:xfrm>
            <a:off x="4694530" y="1960474"/>
            <a:ext cx="285293" cy="285293"/>
          </a:xfrm>
          <a:custGeom>
            <a:avLst/>
            <a:gdLst/>
            <a:ahLst/>
            <a:cxnLst/>
            <a:rect l="l" t="t" r="r" b="b"/>
            <a:pathLst>
              <a:path w="285293" h="285293">
                <a:moveTo>
                  <a:pt x="142646" y="95098"/>
                </a:moveTo>
                <a:lnTo>
                  <a:pt x="142646" y="47549"/>
                </a:lnTo>
                <a:lnTo>
                  <a:pt x="95098" y="47549"/>
                </a:lnTo>
                <a:moveTo>
                  <a:pt x="71323" y="95098"/>
                </a:moveTo>
                <a:lnTo>
                  <a:pt x="213970" y="95098"/>
                </a:lnTo>
                <a:cubicBezTo>
                  <a:pt x="227137" y="95098"/>
                  <a:pt x="237744" y="105705"/>
                  <a:pt x="237744" y="118872"/>
                </a:cubicBezTo>
                <a:lnTo>
                  <a:pt x="237744" y="213970"/>
                </a:lnTo>
                <a:cubicBezTo>
                  <a:pt x="237744" y="227137"/>
                  <a:pt x="227137" y="237744"/>
                  <a:pt x="213970" y="237744"/>
                </a:cubicBezTo>
                <a:lnTo>
                  <a:pt x="71323" y="237744"/>
                </a:lnTo>
                <a:cubicBezTo>
                  <a:pt x="58156" y="237744"/>
                  <a:pt x="47549" y="227137"/>
                  <a:pt x="47549" y="213970"/>
                </a:cubicBezTo>
                <a:lnTo>
                  <a:pt x="47549" y="118872"/>
                </a:lnTo>
                <a:cubicBezTo>
                  <a:pt x="47549" y="105705"/>
                  <a:pt x="58156" y="95098"/>
                  <a:pt x="71323" y="95098"/>
                </a:cubicBezTo>
                <a:close/>
                <a:moveTo>
                  <a:pt x="23774" y="166421"/>
                </a:moveTo>
                <a:lnTo>
                  <a:pt x="47549" y="166421"/>
                </a:lnTo>
                <a:moveTo>
                  <a:pt x="237744" y="166421"/>
                </a:moveTo>
                <a:lnTo>
                  <a:pt x="261518" y="166421"/>
                </a:lnTo>
                <a:moveTo>
                  <a:pt x="178308" y="154534"/>
                </a:moveTo>
                <a:lnTo>
                  <a:pt x="178308" y="178308"/>
                </a:lnTo>
                <a:moveTo>
                  <a:pt x="106985" y="154534"/>
                </a:moveTo>
                <a:lnTo>
                  <a:pt x="106985" y="178308"/>
                </a:lnTo>
              </a:path>
            </a:pathLst>
          </a:custGeom>
          <a:noFill/>
          <a:ln w="23749" cap="rnd">
            <a:solidFill>
              <a:schemeClr val="bg1"/>
            </a:solidFill>
            <a:prstDash val="solid"/>
            <a:round/>
          </a:ln>
        </p:spPr>
      </p:sp>
      <p:sp>
        <p:nvSpPr>
          <p:cNvPr id="12" name="card-title-376"/>
          <p:cNvSpPr txBox="1"/>
          <p:nvPr/>
        </p:nvSpPr>
        <p:spPr>
          <a:xfrm>
            <a:off x="5294376" y="1828800"/>
            <a:ext cx="237744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MCP for AI agents</a:t>
            </a:r>
            <a:endParaRPr lang="en-US" sz="1700" dirty="0"/>
          </a:p>
        </p:txBody>
      </p:sp>
      <p:sp>
        <p:nvSpPr>
          <p:cNvPr id="13" name="card-body-377"/>
          <p:cNvSpPr txBox="1"/>
          <p:nvPr/>
        </p:nvSpPr>
        <p:spPr>
          <a:xfrm>
            <a:off x="4562856" y="2514600"/>
            <a:ext cx="3108960"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6 tools: query, describe_schema, list_metrics, translate_sparql, rag_retrieval, graph_traversal</a:t>
            </a:r>
            <a:endParaRPr lang="en-US" sz="1400" dirty="0"/>
          </a:p>
          <a:p>
            <a:pPr marL="177800" indent="-177800">
              <a:spcAft>
                <a:spcPts val="600"/>
              </a:spcAft>
              <a:buSzPct val="100000"/>
              <a:buChar char="•"/>
            </a:pPr>
            <a:r>
              <a:rPr lang="en-US" sz="1400" dirty="0">
                <a:solidFill>
                  <a:schemeClr val="tx2"/>
                </a:solidFill>
              </a:rPr>
              <a:t>Endpoint from coa-dev-mcp outputs</a:t>
            </a:r>
            <a:endParaRPr lang="en-US" sz="1400" dirty="0"/>
          </a:p>
          <a:p>
            <a:pPr marL="177800" indent="-177800">
              <a:spcAft>
                <a:spcPts val="600"/>
              </a:spcAft>
              <a:buSzPct val="100000"/>
              <a:buChar char="•"/>
            </a:pPr>
            <a:r>
              <a:rPr lang="en-US" sz="1400" dirty="0">
                <a:solidFill>
                  <a:schemeClr val="tx2"/>
                </a:solidFill>
              </a:rPr>
              <a:t>Agents act with the signed-in user's grants</a:t>
            </a:r>
            <a:endParaRPr lang="en-US" sz="1400" dirty="0"/>
          </a:p>
        </p:txBody>
      </p:sp>
      <p:sp>
        <p:nvSpPr>
          <p:cNvPr id="14" name="card-378"/>
          <p:cNvSpPr/>
          <p:nvPr/>
        </p:nvSpPr>
        <p:spPr>
          <a:xfrm>
            <a:off x="8028432" y="1554480"/>
            <a:ext cx="3611880" cy="3429000"/>
          </a:xfrm>
          <a:prstGeom prst="roundRect">
            <a:avLst>
              <a:gd name="adj" fmla="val 2667"/>
            </a:avLst>
          </a:prstGeom>
          <a:solidFill>
            <a:schemeClr val="bg2"/>
          </a:solidFill>
          <a:ln/>
        </p:spPr>
      </p:sp>
      <p:sp>
        <p:nvSpPr>
          <p:cNvPr id="15" name="icon-circle-379"/>
          <p:cNvSpPr/>
          <p:nvPr/>
        </p:nvSpPr>
        <p:spPr>
          <a:xfrm>
            <a:off x="8302752" y="1828800"/>
            <a:ext cx="548640" cy="548640"/>
          </a:xfrm>
          <a:prstGeom prst="ellipse">
            <a:avLst/>
          </a:prstGeom>
          <a:solidFill>
            <a:schemeClr val="accent2"/>
          </a:solidFill>
          <a:ln/>
        </p:spPr>
      </p:sp>
      <p:sp>
        <p:nvSpPr>
          <p:cNvPr id="16" name="icon-bellring-380"/>
          <p:cNvSpPr/>
          <p:nvPr/>
        </p:nvSpPr>
        <p:spPr>
          <a:xfrm>
            <a:off x="8434426" y="1960474"/>
            <a:ext cx="285293" cy="285293"/>
          </a:xfrm>
          <a:custGeom>
            <a:avLst/>
            <a:gdLst/>
            <a:ahLst/>
            <a:cxnLst/>
            <a:rect l="l" t="t" r="r" b="b"/>
            <a:pathLst>
              <a:path w="285293" h="285293">
                <a:moveTo>
                  <a:pt x="71323" y="95098"/>
                </a:moveTo>
                <a:cubicBezTo>
                  <a:pt x="71323" y="55687"/>
                  <a:pt x="103236" y="23774"/>
                  <a:pt x="142646" y="23774"/>
                </a:cubicBezTo>
                <a:cubicBezTo>
                  <a:pt x="182057" y="23774"/>
                  <a:pt x="213970" y="55687"/>
                  <a:pt x="213970" y="95098"/>
                </a:cubicBezTo>
                <a:cubicBezTo>
                  <a:pt x="213970" y="178308"/>
                  <a:pt x="249631" y="202082"/>
                  <a:pt x="249631" y="202082"/>
                </a:cubicBezTo>
                <a:lnTo>
                  <a:pt x="35662" y="202082"/>
                </a:lnTo>
                <a:cubicBezTo>
                  <a:pt x="35662" y="202082"/>
                  <a:pt x="71323" y="178308"/>
                  <a:pt x="71323" y="95098"/>
                </a:cubicBezTo>
                <a:moveTo>
                  <a:pt x="122438" y="249631"/>
                </a:moveTo>
                <a:cubicBezTo>
                  <a:pt x="126462" y="257038"/>
                  <a:pt x="134234" y="261610"/>
                  <a:pt x="142646" y="261610"/>
                </a:cubicBezTo>
                <a:cubicBezTo>
                  <a:pt x="151059" y="261610"/>
                  <a:pt x="158831" y="257038"/>
                  <a:pt x="162855" y="249631"/>
                </a:cubicBezTo>
                <a:moveTo>
                  <a:pt x="47549" y="23774"/>
                </a:moveTo>
                <a:cubicBezTo>
                  <a:pt x="33284" y="43983"/>
                  <a:pt x="23774" y="67757"/>
                  <a:pt x="23774" y="95098"/>
                </a:cubicBezTo>
                <a:moveTo>
                  <a:pt x="261518" y="95098"/>
                </a:moveTo>
                <a:cubicBezTo>
                  <a:pt x="261518" y="67757"/>
                  <a:pt x="252009" y="43983"/>
                  <a:pt x="237744" y="23774"/>
                </a:cubicBezTo>
              </a:path>
            </a:pathLst>
          </a:custGeom>
          <a:noFill/>
          <a:ln w="23749" cap="rnd">
            <a:solidFill>
              <a:schemeClr val="bg1"/>
            </a:solidFill>
            <a:prstDash val="solid"/>
            <a:round/>
          </a:ln>
        </p:spPr>
      </p:sp>
      <p:sp>
        <p:nvSpPr>
          <p:cNvPr id="17" name="card-title-381"/>
          <p:cNvSpPr txBox="1"/>
          <p:nvPr/>
        </p:nvSpPr>
        <p:spPr>
          <a:xfrm>
            <a:off x="9034272" y="1828800"/>
            <a:ext cx="2377440" cy="5486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Monitoring</a:t>
            </a:r>
            <a:endParaRPr lang="en-US" sz="1700" dirty="0"/>
          </a:p>
        </p:txBody>
      </p:sp>
      <p:sp>
        <p:nvSpPr>
          <p:cNvPr id="18" name="card-body-382"/>
          <p:cNvSpPr txBox="1"/>
          <p:nvPr/>
        </p:nvSpPr>
        <p:spPr>
          <a:xfrm>
            <a:off x="8302752" y="2514600"/>
            <a:ext cx="3108960"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Alarm actions are unwired; connect SNS yourself</a:t>
            </a:r>
            <a:endParaRPr lang="en-US" sz="1400" dirty="0"/>
          </a:p>
          <a:p>
            <a:pPr marL="177800" indent="-177800">
              <a:spcAft>
                <a:spcPts val="600"/>
              </a:spcAft>
              <a:buSzPct val="100000"/>
              <a:buChar char="•"/>
            </a:pPr>
            <a:r>
              <a:rPr lang="en-US" sz="1400" dirty="0">
                <a:solidFill>
                  <a:schemeClr val="tx2"/>
                </a:solidFill>
              </a:rPr>
              <a:t>Parameter-integrity alarm needs a CloudTrail trail logging management events</a:t>
            </a:r>
            <a:endParaRPr lang="en-US" sz="1400" dirty="0"/>
          </a:p>
        </p:txBody>
      </p:sp>
      <p:sp>
        <p:nvSpPr>
          <p:cNvPr id="19" name="icon-circle-383"/>
          <p:cNvSpPr/>
          <p:nvPr/>
        </p:nvSpPr>
        <p:spPr>
          <a:xfrm>
            <a:off x="548640" y="5257800"/>
            <a:ext cx="548640" cy="548640"/>
          </a:xfrm>
          <a:prstGeom prst="ellipse">
            <a:avLst/>
          </a:prstGeom>
          <a:solidFill>
            <a:schemeClr val="accent1"/>
          </a:solidFill>
          <a:ln/>
        </p:spPr>
      </p:sp>
      <p:sp>
        <p:nvSpPr>
          <p:cNvPr id="20" name="icon-shieldcheck-384"/>
          <p:cNvSpPr/>
          <p:nvPr/>
        </p:nvSpPr>
        <p:spPr>
          <a:xfrm>
            <a:off x="680314" y="5389474"/>
            <a:ext cx="285293" cy="285293"/>
          </a:xfrm>
          <a:custGeom>
            <a:avLst/>
            <a:gdLst/>
            <a:ahLst/>
            <a:cxnLst/>
            <a:rect l="l" t="t" r="r" b="b"/>
            <a:pathLst>
              <a:path w="285293" h="285293">
                <a:moveTo>
                  <a:pt x="237744" y="154534"/>
                </a:moveTo>
                <a:cubicBezTo>
                  <a:pt x="237744" y="213970"/>
                  <a:pt x="196139" y="243688"/>
                  <a:pt x="146670" y="260878"/>
                </a:cubicBezTo>
                <a:cubicBezTo>
                  <a:pt x="144109" y="261793"/>
                  <a:pt x="141275" y="261793"/>
                  <a:pt x="138714" y="260787"/>
                </a:cubicBezTo>
                <a:cubicBezTo>
                  <a:pt x="89154" y="243688"/>
                  <a:pt x="47549" y="213970"/>
                  <a:pt x="47549" y="154534"/>
                </a:cubicBezTo>
                <a:lnTo>
                  <a:pt x="47549" y="71323"/>
                </a:lnTo>
                <a:cubicBezTo>
                  <a:pt x="47549" y="64740"/>
                  <a:pt x="52852" y="59436"/>
                  <a:pt x="59436" y="59436"/>
                </a:cubicBezTo>
                <a:cubicBezTo>
                  <a:pt x="83210" y="59436"/>
                  <a:pt x="112928" y="45171"/>
                  <a:pt x="133594" y="27066"/>
                </a:cubicBezTo>
                <a:cubicBezTo>
                  <a:pt x="138806" y="22677"/>
                  <a:pt x="146487" y="22677"/>
                  <a:pt x="151699" y="27066"/>
                </a:cubicBezTo>
                <a:cubicBezTo>
                  <a:pt x="172456" y="45263"/>
                  <a:pt x="202082" y="59436"/>
                  <a:pt x="225857" y="59436"/>
                </a:cubicBezTo>
                <a:cubicBezTo>
                  <a:pt x="232440" y="59436"/>
                  <a:pt x="237744" y="64740"/>
                  <a:pt x="237744" y="71323"/>
                </a:cubicBezTo>
                <a:close/>
                <a:moveTo>
                  <a:pt x="106985" y="142646"/>
                </a:moveTo>
                <a:lnTo>
                  <a:pt x="130759" y="166421"/>
                </a:lnTo>
                <a:lnTo>
                  <a:pt x="178308" y="118872"/>
                </a:lnTo>
              </a:path>
            </a:pathLst>
          </a:custGeom>
          <a:noFill/>
          <a:ln w="23749" cap="rnd">
            <a:solidFill>
              <a:schemeClr val="bg1"/>
            </a:solidFill>
            <a:prstDash val="solid"/>
            <a:round/>
          </a:ln>
        </p:spPr>
      </p:sp>
      <p:sp>
        <p:nvSpPr>
          <p:cNvPr id="21" name="prod-bg-385"/>
          <p:cNvSpPr/>
          <p:nvPr/>
        </p:nvSpPr>
        <p:spPr>
          <a:xfrm>
            <a:off x="1280160" y="5166360"/>
            <a:ext cx="10360152" cy="731520"/>
          </a:xfrm>
          <a:prstGeom prst="roundRect">
            <a:avLst>
              <a:gd name="adj" fmla="val 10000"/>
            </a:avLst>
          </a:prstGeom>
          <a:solidFill>
            <a:schemeClr val="tx1"/>
          </a:solidFill>
          <a:ln/>
        </p:spPr>
      </p:sp>
      <p:sp>
        <p:nvSpPr>
          <p:cNvPr id="22" name="prod-text-386"/>
          <p:cNvSpPr txBox="1"/>
          <p:nvPr/>
        </p:nvSpPr>
        <p:spPr>
          <a:xfrm>
            <a:off x="1508760" y="5166360"/>
            <a:ext cx="9966960" cy="731520"/>
          </a:xfrm>
          <a:prstGeom prst="rect">
            <a:avLst/>
          </a:prstGeom>
          <a:noFill/>
          <a:ln/>
        </p:spPr>
        <p:txBody>
          <a:bodyPr wrap="square" lIns="0" tIns="0" rIns="0" bIns="0" rtlCol="0" anchor="ctr"/>
          <a:lstStyle/>
          <a:p>
            <a:pPr indent="0" marL="0">
              <a:buNone/>
            </a:pPr>
            <a:r>
              <a:rPr lang="en-US" sz="1400" b="1" dirty="0">
                <a:solidFill>
                  <a:schemeClr val="accent1"/>
                </a:solidFill>
              </a:rPr>
              <a:t>Moving to production (env=prod):  </a:t>
            </a:r>
            <a:pPr indent="0" marL="0">
              <a:buNone/>
            </a:pPr>
            <a:r>
              <a:rPr lang="en-US" sz="1400" dirty="0">
                <a:solidFill>
                  <a:schemeClr val="bg2"/>
                </a:solidFill>
              </a:rPr>
              <a:t>UI custom domain + ACM certs become mandatory, S3/DynamoDB are retained, Neptune gets deletion protection.</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OA Setup">
  <a:themeElements>
    <a:clrScheme name="COA Setup">
      <a:dk1>
        <a:srgbClr val="18202E"/>
      </a:dk1>
      <a:lt1>
        <a:srgbClr val="FFFFFF"/>
      </a:lt1>
      <a:dk2>
        <a:srgbClr val="334155"/>
      </a:dk2>
      <a:lt2>
        <a:srgbClr val="F1F4F8"/>
      </a:lt2>
      <a:accent1>
        <a:srgbClr val="F28C28"/>
      </a:accent1>
      <a:accent2>
        <a:srgbClr val="0F766E"/>
      </a:accent2>
      <a:accent3>
        <a:srgbClr val="64748B"/>
      </a:accent3>
      <a:accent4>
        <a:srgbClr val="C2410C"/>
      </a:accent4>
      <a:accent5>
        <a:srgbClr val="15803D"/>
      </a:accent5>
      <a:accent6>
        <a:srgbClr val="1E3A5F"/>
      </a:accent6>
      <a:hlink>
        <a:srgbClr val="0F766E"/>
      </a:hlink>
      <a:folHlink>
        <a:srgbClr val="64748B"/>
      </a:folHlink>
    </a:clrScheme>
    <a:fontScheme name="COA Setu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Mactores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 Ontology Accelerator - AWS setup guide</dc:title>
  <dc:subject>PptxGenJS Presentation</dc:subject>
  <dc:creator>Mactores</dc:creator>
  <cp:lastModifiedBy>Mactores</cp:lastModifiedBy>
  <cp:revision>1</cp:revision>
  <dcterms:created xsi:type="dcterms:W3CDTF">2026-10-08T14:25:10Z</dcterms:created>
  <dcterms:modified xsi:type="dcterms:W3CDTF">2026-10-08T14:25:10Z</dcterms:modified>
</cp:coreProperties>
</file>